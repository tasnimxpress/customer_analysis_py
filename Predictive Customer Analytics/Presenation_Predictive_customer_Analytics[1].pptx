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3" r:id="rId2"/>
    <p:sldMasterId id="2147483686" r:id="rId3"/>
  </p:sldMasterIdLst>
  <p:notesMasterIdLst>
    <p:notesMasterId r:id="rId69"/>
  </p:notesMasterIdLst>
  <p:sldIdLst>
    <p:sldId id="374" r:id="rId4"/>
    <p:sldId id="431" r:id="rId5"/>
    <p:sldId id="316" r:id="rId6"/>
    <p:sldId id="377" r:id="rId7"/>
    <p:sldId id="379" r:id="rId8"/>
    <p:sldId id="380" r:id="rId9"/>
    <p:sldId id="381" r:id="rId10"/>
    <p:sldId id="271" r:id="rId11"/>
    <p:sldId id="383" r:id="rId12"/>
    <p:sldId id="384" r:id="rId13"/>
    <p:sldId id="385" r:id="rId14"/>
    <p:sldId id="386" r:id="rId15"/>
    <p:sldId id="387" r:id="rId16"/>
    <p:sldId id="388" r:id="rId17"/>
    <p:sldId id="389" r:id="rId18"/>
    <p:sldId id="390" r:id="rId19"/>
    <p:sldId id="392" r:id="rId20"/>
    <p:sldId id="401" r:id="rId21"/>
    <p:sldId id="402" r:id="rId22"/>
    <p:sldId id="391" r:id="rId23"/>
    <p:sldId id="399" r:id="rId24"/>
    <p:sldId id="393" r:id="rId25"/>
    <p:sldId id="394" r:id="rId26"/>
    <p:sldId id="395" r:id="rId27"/>
    <p:sldId id="396" r:id="rId28"/>
    <p:sldId id="397" r:id="rId29"/>
    <p:sldId id="398" r:id="rId30"/>
    <p:sldId id="400" r:id="rId31"/>
    <p:sldId id="326" r:id="rId32"/>
    <p:sldId id="327" r:id="rId33"/>
    <p:sldId id="325" r:id="rId34"/>
    <p:sldId id="331" r:id="rId35"/>
    <p:sldId id="332" r:id="rId36"/>
    <p:sldId id="333" r:id="rId37"/>
    <p:sldId id="334" r:id="rId38"/>
    <p:sldId id="338" r:id="rId39"/>
    <p:sldId id="339" r:id="rId40"/>
    <p:sldId id="340" r:id="rId41"/>
    <p:sldId id="341" r:id="rId42"/>
    <p:sldId id="345" r:id="rId43"/>
    <p:sldId id="428" r:id="rId44"/>
    <p:sldId id="429" r:id="rId45"/>
    <p:sldId id="430" r:id="rId46"/>
    <p:sldId id="403" r:id="rId47"/>
    <p:sldId id="404" r:id="rId48"/>
    <p:sldId id="405" r:id="rId49"/>
    <p:sldId id="407" r:id="rId50"/>
    <p:sldId id="408" r:id="rId51"/>
    <p:sldId id="409" r:id="rId52"/>
    <p:sldId id="410" r:id="rId53"/>
    <p:sldId id="411" r:id="rId54"/>
    <p:sldId id="412" r:id="rId55"/>
    <p:sldId id="413" r:id="rId56"/>
    <p:sldId id="414" r:id="rId57"/>
    <p:sldId id="416" r:id="rId58"/>
    <p:sldId id="419" r:id="rId59"/>
    <p:sldId id="418" r:id="rId60"/>
    <p:sldId id="420" r:id="rId61"/>
    <p:sldId id="421" r:id="rId62"/>
    <p:sldId id="422" r:id="rId63"/>
    <p:sldId id="423" r:id="rId64"/>
    <p:sldId id="424" r:id="rId65"/>
    <p:sldId id="425" r:id="rId66"/>
    <p:sldId id="427" r:id="rId67"/>
    <p:sldId id="426" r:id="rId68"/>
  </p:sldIdLst>
  <p:sldSz cx="12192000" cy="6858000"/>
  <p:notesSz cx="6858000" cy="9144000"/>
  <p:embeddedFontLst>
    <p:embeddedFont>
      <p:font typeface="Cambria Math" panose="02040503050406030204" pitchFamily="18" charset="0"/>
      <p:regular r:id="rId70"/>
    </p:embeddedFont>
    <p:embeddedFont>
      <p:font typeface="Century Gothic" panose="020B0502020202020204" pitchFamily="34" charset="0"/>
      <p:regular r:id="rId71"/>
      <p:bold r:id="rId72"/>
      <p:italic r:id="rId73"/>
      <p:boldItalic r:id="rId74"/>
    </p:embeddedFont>
    <p:embeddedFont>
      <p:font typeface="Georgia" panose="02040502050405020303" pitchFamily="18" charset="0"/>
      <p:regular r:id="rId75"/>
      <p:bold r:id="rId76"/>
      <p:italic r:id="rId77"/>
      <p:boldItalic r:id="rId78"/>
    </p:embeddedFont>
    <p:embeddedFont>
      <p:font typeface="Ubuntu" panose="020B0504030602030204" pitchFamily="34" charset="0"/>
      <p:regular r:id="rId79"/>
      <p:bold r:id="rId80"/>
      <p:italic r:id="rId81"/>
      <p:boldItalic r:id="rId8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C3C7"/>
    <a:srgbClr val="0070C0"/>
    <a:srgbClr val="1D4999"/>
    <a:srgbClr val="A6A6A6"/>
    <a:srgbClr val="374151"/>
    <a:srgbClr val="5B9BD5"/>
    <a:srgbClr val="009DD9"/>
    <a:srgbClr val="263393"/>
    <a:srgbClr val="135898"/>
    <a:srgbClr val="ECF0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7B59A6-6935-4C4C-9E2C-5E8EA79131C7}" v="725" dt="2024-06-07T09:39:15.8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91" autoAdjust="0"/>
    <p:restoredTop sz="96223" autoAdjust="0"/>
  </p:normalViewPr>
  <p:slideViewPr>
    <p:cSldViewPr snapToGrid="0" showGuides="1">
      <p:cViewPr varScale="1">
        <p:scale>
          <a:sx n="82" d="100"/>
          <a:sy n="82" d="100"/>
        </p:scale>
        <p:origin x="413" y="72"/>
      </p:cViewPr>
      <p:guideLst>
        <p:guide orient="horz" pos="2160"/>
        <p:guide pos="3840"/>
      </p:guideLst>
    </p:cSldViewPr>
  </p:slideViewPr>
  <p:outlineViewPr>
    <p:cViewPr>
      <p:scale>
        <a:sx n="33" d="100"/>
        <a:sy n="33" d="100"/>
      </p:scale>
      <p:origin x="0" y="-2827"/>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77"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86"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7.fntdata"/><Relationship Id="rId7" Type="http://schemas.openxmlformats.org/officeDocument/2006/relationships/slide" Target="slides/slide4.xml"/><Relationship Id="rId71" Type="http://schemas.openxmlformats.org/officeDocument/2006/relationships/font" Target="fonts/font2.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microsoft.com/office/2015/10/relationships/revisionInfo" Target="revisionInfo.xml"/><Relationship Id="rId61" Type="http://schemas.openxmlformats.org/officeDocument/2006/relationships/slide" Target="slides/slide58.xml"/><Relationship Id="rId82"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7E317-121C-4170-8F3F-C12FECEAA845}" type="datetimeFigureOut">
              <a:rPr lang="en-US" smtClean="0"/>
              <a:t>10/16/2024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68093-0156-40D3-844F-8D2A99469783}" type="slidenum">
              <a:rPr lang="en-US" smtClean="0"/>
              <a:t>‹#›</a:t>
            </a:fld>
            <a:endParaRPr lang="en-US"/>
          </a:p>
        </p:txBody>
      </p:sp>
    </p:spTree>
    <p:extLst>
      <p:ext uri="{BB962C8B-B14F-4D97-AF65-F5344CB8AC3E}">
        <p14:creationId xmlns:p14="http://schemas.microsoft.com/office/powerpoint/2010/main" val="4046895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568093-0156-40D3-844F-8D2A99469783}" type="slidenum">
              <a:rPr lang="en-US" smtClean="0"/>
              <a:t>35</a:t>
            </a:fld>
            <a:endParaRPr lang="en-US"/>
          </a:p>
        </p:txBody>
      </p:sp>
    </p:spTree>
    <p:extLst>
      <p:ext uri="{BB962C8B-B14F-4D97-AF65-F5344CB8AC3E}">
        <p14:creationId xmlns:p14="http://schemas.microsoft.com/office/powerpoint/2010/main" val="23685755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
        <p:nvSpPr>
          <p:cNvPr id="16" name="Freeform 15"/>
          <p:cNvSpPr/>
          <p:nvPr/>
        </p:nvSpPr>
        <p:spPr>
          <a:xfrm rot="-1500000">
            <a:off x="7062783" y="-1719461"/>
            <a:ext cx="6125957" cy="9072040"/>
          </a:xfrm>
          <a:custGeom>
            <a:avLst/>
            <a:gdLst>
              <a:gd name="connsiteX0" fmla="*/ 0 w 6125957"/>
              <a:gd name="connsiteY0" fmla="*/ 0 h 9072040"/>
              <a:gd name="connsiteX1" fmla="*/ 6125957 w 6125957"/>
              <a:gd name="connsiteY1" fmla="*/ 2856581 h 9072040"/>
              <a:gd name="connsiteX2" fmla="*/ 3227641 w 6125957"/>
              <a:gd name="connsiteY2" fmla="*/ 9072040 h 9072040"/>
              <a:gd name="connsiteX3" fmla="*/ 0 w 6125957"/>
              <a:gd name="connsiteY3" fmla="*/ 7566966 h 9072040"/>
            </a:gdLst>
            <a:ahLst/>
            <a:cxnLst>
              <a:cxn ang="0">
                <a:pos x="connsiteX0" y="connsiteY0"/>
              </a:cxn>
              <a:cxn ang="0">
                <a:pos x="connsiteX1" y="connsiteY1"/>
              </a:cxn>
              <a:cxn ang="0">
                <a:pos x="connsiteX2" y="connsiteY2"/>
              </a:cxn>
              <a:cxn ang="0">
                <a:pos x="connsiteX3" y="connsiteY3"/>
              </a:cxn>
            </a:cxnLst>
            <a:rect l="l" t="t" r="r" b="b"/>
            <a:pathLst>
              <a:path w="6125957" h="9072040">
                <a:moveTo>
                  <a:pt x="0" y="0"/>
                </a:moveTo>
                <a:lnTo>
                  <a:pt x="6125957" y="2856581"/>
                </a:lnTo>
                <a:lnTo>
                  <a:pt x="3227641" y="9072040"/>
                </a:lnTo>
                <a:lnTo>
                  <a:pt x="0" y="7566966"/>
                </a:lnTo>
                <a:close/>
              </a:path>
            </a:pathLst>
          </a:custGeom>
          <a:solidFill>
            <a:srgbClr val="0070C0">
              <a:alpha val="8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p:cNvSpPr/>
          <p:nvPr/>
        </p:nvSpPr>
        <p:spPr>
          <a:xfrm rot="-1500000">
            <a:off x="-909109" y="-889850"/>
            <a:ext cx="7821275" cy="9862580"/>
          </a:xfrm>
          <a:custGeom>
            <a:avLst/>
            <a:gdLst>
              <a:gd name="connsiteX0" fmla="*/ 2898317 w 7821275"/>
              <a:gd name="connsiteY0" fmla="*/ 0 h 9862580"/>
              <a:gd name="connsiteX1" fmla="*/ 7821275 w 7821275"/>
              <a:gd name="connsiteY1" fmla="*/ 2295614 h 9862580"/>
              <a:gd name="connsiteX2" fmla="*/ 7821275 w 7821275"/>
              <a:gd name="connsiteY2" fmla="*/ 9862580 h 9862580"/>
              <a:gd name="connsiteX3" fmla="*/ 0 w 7821275"/>
              <a:gd name="connsiteY3" fmla="*/ 6215460 h 9862580"/>
            </a:gdLst>
            <a:ahLst/>
            <a:cxnLst>
              <a:cxn ang="0">
                <a:pos x="connsiteX0" y="connsiteY0"/>
              </a:cxn>
              <a:cxn ang="0">
                <a:pos x="connsiteX1" y="connsiteY1"/>
              </a:cxn>
              <a:cxn ang="0">
                <a:pos x="connsiteX2" y="connsiteY2"/>
              </a:cxn>
              <a:cxn ang="0">
                <a:pos x="connsiteX3" y="connsiteY3"/>
              </a:cxn>
            </a:cxnLst>
            <a:rect l="l" t="t" r="r" b="b"/>
            <a:pathLst>
              <a:path w="7821275" h="9862580">
                <a:moveTo>
                  <a:pt x="2898317" y="0"/>
                </a:moveTo>
                <a:lnTo>
                  <a:pt x="7821275" y="2295614"/>
                </a:lnTo>
                <a:lnTo>
                  <a:pt x="7821275" y="9862580"/>
                </a:lnTo>
                <a:lnTo>
                  <a:pt x="0" y="6215460"/>
                </a:lnTo>
                <a:close/>
              </a:path>
            </a:pathLst>
          </a:custGeom>
          <a:solidFill>
            <a:schemeClr val="tx1">
              <a:lumMod val="85000"/>
              <a:lumOff val="15000"/>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7" name="Group 16"/>
          <p:cNvGrpSpPr/>
          <p:nvPr/>
        </p:nvGrpSpPr>
        <p:grpSpPr>
          <a:xfrm>
            <a:off x="1648725" y="5410199"/>
            <a:ext cx="10543275" cy="274322"/>
            <a:chOff x="1648725" y="5181599"/>
            <a:chExt cx="10543275" cy="274322"/>
          </a:xfrm>
        </p:grpSpPr>
        <p:sp>
          <p:nvSpPr>
            <p:cNvPr id="11" name="Rectangle 10"/>
            <p:cNvSpPr/>
            <p:nvPr userDrawn="1"/>
          </p:nvSpPr>
          <p:spPr>
            <a:xfrm>
              <a:off x="1778000" y="5181599"/>
              <a:ext cx="10414000" cy="2743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Isosceles Triangle 11"/>
            <p:cNvSpPr>
              <a:spLocks noChangeAspect="1"/>
            </p:cNvSpPr>
            <p:nvPr userDrawn="1"/>
          </p:nvSpPr>
          <p:spPr>
            <a:xfrm rot="16200000" flipH="1">
              <a:off x="1576203" y="5254123"/>
              <a:ext cx="274320" cy="129275"/>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Text Placeholder 20"/>
          <p:cNvSpPr>
            <a:spLocks noGrp="1"/>
          </p:cNvSpPr>
          <p:nvPr>
            <p:ph type="body" sz="quarter" idx="13"/>
          </p:nvPr>
        </p:nvSpPr>
        <p:spPr>
          <a:xfrm>
            <a:off x="1648725" y="3017674"/>
            <a:ext cx="4739375" cy="2256001"/>
          </a:xfrm>
        </p:spPr>
        <p:txBody>
          <a:bodyPr>
            <a:normAutofit/>
          </a:bodyPr>
          <a:lstStyle>
            <a:lvl1pPr>
              <a:defRPr sz="3200">
                <a:solidFill>
                  <a:schemeClr val="bg1"/>
                </a:solidFill>
                <a:latin typeface="Century Gothic" panose="020B0502020202020204" pitchFamily="34" charset="0"/>
              </a:defRPr>
            </a:lvl1pPr>
            <a:lvl2pPr>
              <a:defRPr sz="2800">
                <a:solidFill>
                  <a:schemeClr val="bg1"/>
                </a:solidFill>
                <a:latin typeface="Century Gothic" panose="020B0502020202020204" pitchFamily="34" charset="0"/>
              </a:defRPr>
            </a:lvl2pPr>
            <a:lvl3pPr>
              <a:defRPr sz="2400">
                <a:solidFill>
                  <a:schemeClr val="bg1"/>
                </a:solidFill>
                <a:latin typeface="Century Gothic" panose="020B0502020202020204" pitchFamily="34" charset="0"/>
              </a:defRPr>
            </a:lvl3pPr>
            <a:lvl4pPr>
              <a:defRPr sz="2000">
                <a:solidFill>
                  <a:schemeClr val="bg1"/>
                </a:solidFill>
                <a:latin typeface="Century Gothic" panose="020B0502020202020204" pitchFamily="34" charset="0"/>
              </a:defRPr>
            </a:lvl4pPr>
            <a:lvl5pPr>
              <a:defRPr sz="2000">
                <a:solidFill>
                  <a:schemeClr val="bg1"/>
                </a:solidFill>
                <a:latin typeface="Century Gothic" panose="020B0502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8896" y="0"/>
            <a:ext cx="3653104" cy="1108747"/>
          </a:xfrm>
          <a:prstGeom prst="rect">
            <a:avLst/>
          </a:prstGeom>
        </p:spPr>
      </p:pic>
    </p:spTree>
    <p:extLst>
      <p:ext uri="{BB962C8B-B14F-4D97-AF65-F5344CB8AC3E}">
        <p14:creationId xmlns:p14="http://schemas.microsoft.com/office/powerpoint/2010/main" val="1784204770"/>
      </p:ext>
    </p:extLst>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0" name="Group 29"/>
          <p:cNvGrpSpPr/>
          <p:nvPr/>
        </p:nvGrpSpPr>
        <p:grpSpPr>
          <a:xfrm>
            <a:off x="0" y="-1587"/>
            <a:ext cx="12211050" cy="1182120"/>
            <a:chOff x="0" y="-1587"/>
            <a:chExt cx="12211050" cy="1182120"/>
          </a:xfrm>
        </p:grpSpPr>
        <p:sp>
          <p:nvSpPr>
            <p:cNvPr id="20" name="Rectangle 19"/>
            <p:cNvSpPr/>
            <p:nvPr userDrawn="1"/>
          </p:nvSpPr>
          <p:spPr>
            <a:xfrm>
              <a:off x="9768770" y="265872"/>
              <a:ext cx="2442280" cy="914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p:cNvGrpSpPr/>
            <p:nvPr userDrawn="1"/>
          </p:nvGrpSpPr>
          <p:grpSpPr>
            <a:xfrm>
              <a:off x="313799" y="-1587"/>
              <a:ext cx="844992" cy="914400"/>
              <a:chOff x="909523" y="107281"/>
              <a:chExt cx="844992" cy="914400"/>
            </a:xfrm>
          </p:grpSpPr>
          <p:sp>
            <p:nvSpPr>
              <p:cNvPr id="13" name="Right Triangle 12"/>
              <p:cNvSpPr>
                <a:spLocks noChangeAspect="1"/>
              </p:cNvSpPr>
              <p:nvPr userDrawn="1"/>
            </p:nvSpPr>
            <p:spPr>
              <a:xfrm>
                <a:off x="1332019" y="107281"/>
                <a:ext cx="422496" cy="914400"/>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p:cNvSpPr>
                <a:spLocks noChangeAspect="1"/>
              </p:cNvSpPr>
              <p:nvPr userDrawn="1"/>
            </p:nvSpPr>
            <p:spPr>
              <a:xfrm flipH="1" flipV="1">
                <a:off x="909523" y="107281"/>
                <a:ext cx="422496" cy="914400"/>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p:cNvGrpSpPr/>
            <p:nvPr userDrawn="1"/>
          </p:nvGrpSpPr>
          <p:grpSpPr>
            <a:xfrm>
              <a:off x="0" y="0"/>
              <a:ext cx="872438" cy="914400"/>
              <a:chOff x="0" y="0"/>
              <a:chExt cx="872438" cy="914400"/>
            </a:xfrm>
          </p:grpSpPr>
          <p:sp>
            <p:nvSpPr>
              <p:cNvPr id="7" name="Rectangle 6"/>
              <p:cNvSpPr/>
              <p:nvPr userDrawn="1"/>
            </p:nvSpPr>
            <p:spPr>
              <a:xfrm>
                <a:off x="0" y="0"/>
                <a:ext cx="449943"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Triangle 8"/>
              <p:cNvSpPr>
                <a:spLocks noChangeAspect="1"/>
              </p:cNvSpPr>
              <p:nvPr userDrawn="1"/>
            </p:nvSpPr>
            <p:spPr>
              <a:xfrm>
                <a:off x="449942" y="0"/>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ight Triangle 16"/>
            <p:cNvSpPr>
              <a:spLocks noChangeAspect="1"/>
            </p:cNvSpPr>
            <p:nvPr userDrawn="1"/>
          </p:nvSpPr>
          <p:spPr>
            <a:xfrm flipH="1" flipV="1">
              <a:off x="859006" y="265872"/>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1281502" y="265872"/>
              <a:ext cx="9285912"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ight Triangle 18"/>
            <p:cNvSpPr>
              <a:spLocks noChangeAspect="1"/>
            </p:cNvSpPr>
            <p:nvPr userDrawn="1"/>
          </p:nvSpPr>
          <p:spPr>
            <a:xfrm>
              <a:off x="10567414" y="266133"/>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p:cNvGrpSpPr/>
          <p:nvPr/>
        </p:nvGrpSpPr>
        <p:grpSpPr>
          <a:xfrm>
            <a:off x="3701608" y="6356349"/>
            <a:ext cx="8509442" cy="365762"/>
            <a:chOff x="3701608" y="6356349"/>
            <a:chExt cx="8509442" cy="365762"/>
          </a:xfrm>
        </p:grpSpPr>
        <p:sp>
          <p:nvSpPr>
            <p:cNvPr id="22" name="Rectangle 21"/>
            <p:cNvSpPr/>
            <p:nvPr userDrawn="1"/>
          </p:nvSpPr>
          <p:spPr>
            <a:xfrm>
              <a:off x="3873976" y="6356349"/>
              <a:ext cx="8337074" cy="3651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Isosceles Triangle 22"/>
            <p:cNvSpPr>
              <a:spLocks noChangeAspect="1"/>
            </p:cNvSpPr>
            <p:nvPr userDrawn="1"/>
          </p:nvSpPr>
          <p:spPr>
            <a:xfrm rot="16200000" flipH="1">
              <a:off x="3604912" y="6453047"/>
              <a:ext cx="365760" cy="172367"/>
            </a:xfrm>
            <a:prstGeom prst="triangle">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p:cNvSpPr>
            <a:spLocks noGrp="1"/>
          </p:cNvSpPr>
          <p:nvPr>
            <p:ph type="title"/>
          </p:nvPr>
        </p:nvSpPr>
        <p:spPr>
          <a:xfrm>
            <a:off x="1289669" y="60290"/>
            <a:ext cx="9276401" cy="1325563"/>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645255" y="1532811"/>
            <a:ext cx="10515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407062" y="6368411"/>
            <a:ext cx="2743200" cy="365125"/>
          </a:xfrm>
        </p:spPr>
        <p:txBody>
          <a:bodyPr/>
          <a:lstStyle>
            <a:lvl1pPr algn="r">
              <a:defRPr sz="1400">
                <a:solidFill>
                  <a:schemeClr val="bg1"/>
                </a:solidFill>
              </a:defRPr>
            </a:lvl1p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35857" y="68997"/>
            <a:ext cx="569560" cy="844609"/>
          </a:xfrm>
        </p:spPr>
        <p:txBody>
          <a:bodyPr/>
          <a:lstStyle>
            <a:lvl1pPr>
              <a:defRPr sz="2000">
                <a:solidFill>
                  <a:schemeClr val="bg1"/>
                </a:solidFill>
              </a:defRPr>
            </a:lvl1pPr>
          </a:lstStyle>
          <a:p>
            <a:fld id="{4524C5A2-83A4-4277-B7AD-359262251B42}" type="slidenum">
              <a:rPr lang="en-US" smtClean="0"/>
              <a:t>‹#›</a:t>
            </a:fld>
            <a:endParaRPr lang="en-US" dirty="0"/>
          </a:p>
        </p:txBody>
      </p:sp>
    </p:spTree>
    <p:extLst>
      <p:ext uri="{BB962C8B-B14F-4D97-AF65-F5344CB8AC3E}">
        <p14:creationId xmlns:p14="http://schemas.microsoft.com/office/powerpoint/2010/main" val="693587448"/>
      </p:ext>
    </p:extLst>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546388480"/>
      </p:ext>
    </p:extLst>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2324892196"/>
      </p:ext>
    </p:extLst>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1740528872"/>
      </p:ext>
    </p:extLst>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909737713"/>
      </p:ext>
    </p:extLst>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322890570"/>
      </p:ext>
    </p:extLst>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1188772663"/>
      </p:ext>
    </p:extLst>
  </p:cSld>
  <p:clrMapOvr>
    <a:masterClrMapping/>
  </p:clrMapOvr>
  <p:transition spd="med">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1129658739"/>
      </p:ext>
    </p:extLst>
  </p:cSld>
  <p:clrMapOvr>
    <a:masterClrMapping/>
  </p:clrMapOvr>
  <p:transition spd="med">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3319570252"/>
      </p:ext>
    </p:extLst>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4206593889"/>
      </p:ext>
    </p:extLst>
  </p:cSld>
  <p:clrMapOvr>
    <a:masterClrMapping/>
  </p:clrMapOvr>
  <p:transition spd="med">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4236151898"/>
      </p:ext>
    </p:extLst>
  </p:cSld>
  <p:clrMapOvr>
    <a:masterClrMapping/>
  </p:clrMapOvr>
  <p:transition spd="med">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grpSp>
        <p:nvGrpSpPr>
          <p:cNvPr id="30" name="Group 29"/>
          <p:cNvGrpSpPr/>
          <p:nvPr userDrawn="1"/>
        </p:nvGrpSpPr>
        <p:grpSpPr>
          <a:xfrm>
            <a:off x="0" y="-1587"/>
            <a:ext cx="12211050" cy="1182120"/>
            <a:chOff x="0" y="-1587"/>
            <a:chExt cx="12211050" cy="1182120"/>
          </a:xfrm>
        </p:grpSpPr>
        <p:sp>
          <p:nvSpPr>
            <p:cNvPr id="20" name="Rectangle 19"/>
            <p:cNvSpPr/>
            <p:nvPr userDrawn="1"/>
          </p:nvSpPr>
          <p:spPr>
            <a:xfrm>
              <a:off x="9768770" y="265872"/>
              <a:ext cx="2442280" cy="914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p:cNvGrpSpPr/>
            <p:nvPr userDrawn="1"/>
          </p:nvGrpSpPr>
          <p:grpSpPr>
            <a:xfrm>
              <a:off x="313799" y="-1587"/>
              <a:ext cx="844992" cy="914400"/>
              <a:chOff x="909523" y="107281"/>
              <a:chExt cx="844992" cy="914400"/>
            </a:xfrm>
          </p:grpSpPr>
          <p:sp>
            <p:nvSpPr>
              <p:cNvPr id="13" name="Right Triangle 12"/>
              <p:cNvSpPr>
                <a:spLocks noChangeAspect="1"/>
              </p:cNvSpPr>
              <p:nvPr userDrawn="1"/>
            </p:nvSpPr>
            <p:spPr>
              <a:xfrm>
                <a:off x="1332019" y="107281"/>
                <a:ext cx="422496" cy="914400"/>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p:cNvSpPr>
                <a:spLocks noChangeAspect="1"/>
              </p:cNvSpPr>
              <p:nvPr userDrawn="1"/>
            </p:nvSpPr>
            <p:spPr>
              <a:xfrm flipH="1" flipV="1">
                <a:off x="909523" y="107281"/>
                <a:ext cx="422496" cy="914400"/>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p:cNvGrpSpPr/>
            <p:nvPr userDrawn="1"/>
          </p:nvGrpSpPr>
          <p:grpSpPr>
            <a:xfrm>
              <a:off x="0" y="0"/>
              <a:ext cx="872438" cy="914400"/>
              <a:chOff x="0" y="0"/>
              <a:chExt cx="872438" cy="914400"/>
            </a:xfrm>
          </p:grpSpPr>
          <p:sp>
            <p:nvSpPr>
              <p:cNvPr id="7" name="Rectangle 6"/>
              <p:cNvSpPr/>
              <p:nvPr userDrawn="1"/>
            </p:nvSpPr>
            <p:spPr>
              <a:xfrm>
                <a:off x="0" y="0"/>
                <a:ext cx="449943"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Triangle 8"/>
              <p:cNvSpPr>
                <a:spLocks noChangeAspect="1"/>
              </p:cNvSpPr>
              <p:nvPr userDrawn="1"/>
            </p:nvSpPr>
            <p:spPr>
              <a:xfrm>
                <a:off x="449942" y="0"/>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ight Triangle 16"/>
            <p:cNvSpPr>
              <a:spLocks noChangeAspect="1"/>
            </p:cNvSpPr>
            <p:nvPr userDrawn="1"/>
          </p:nvSpPr>
          <p:spPr>
            <a:xfrm flipH="1" flipV="1">
              <a:off x="859006" y="265872"/>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1282846" y="265872"/>
              <a:ext cx="9284568"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ight Triangle 18"/>
            <p:cNvSpPr>
              <a:spLocks noChangeAspect="1"/>
            </p:cNvSpPr>
            <p:nvPr userDrawn="1"/>
          </p:nvSpPr>
          <p:spPr>
            <a:xfrm>
              <a:off x="10567414" y="266133"/>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p:cNvGrpSpPr/>
          <p:nvPr userDrawn="1"/>
        </p:nvGrpSpPr>
        <p:grpSpPr>
          <a:xfrm>
            <a:off x="3701608" y="6356349"/>
            <a:ext cx="8509442" cy="365762"/>
            <a:chOff x="3701608" y="6356349"/>
            <a:chExt cx="8509442" cy="365762"/>
          </a:xfrm>
        </p:grpSpPr>
        <p:sp>
          <p:nvSpPr>
            <p:cNvPr id="22" name="Rectangle 21"/>
            <p:cNvSpPr/>
            <p:nvPr userDrawn="1"/>
          </p:nvSpPr>
          <p:spPr>
            <a:xfrm>
              <a:off x="3873976" y="6356349"/>
              <a:ext cx="8337074" cy="3651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Isosceles Triangle 22"/>
            <p:cNvSpPr>
              <a:spLocks noChangeAspect="1"/>
            </p:cNvSpPr>
            <p:nvPr userDrawn="1"/>
          </p:nvSpPr>
          <p:spPr>
            <a:xfrm rot="16200000" flipH="1">
              <a:off x="3604912" y="6453047"/>
              <a:ext cx="365760" cy="172367"/>
            </a:xfrm>
            <a:prstGeom prst="triangle">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p:cNvSpPr>
            <a:spLocks noGrp="1"/>
          </p:cNvSpPr>
          <p:nvPr>
            <p:ph type="title"/>
          </p:nvPr>
        </p:nvSpPr>
        <p:spPr>
          <a:xfrm>
            <a:off x="1289669" y="60290"/>
            <a:ext cx="9276401" cy="1325563"/>
          </a:xfrm>
        </p:spPr>
        <p:txBody>
          <a:bodyPr/>
          <a:lstStyle>
            <a:lvl1pPr>
              <a:defRPr>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645255" y="1532811"/>
            <a:ext cx="10515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407062" y="6368411"/>
            <a:ext cx="2743200" cy="365125"/>
          </a:xfrm>
        </p:spPr>
        <p:txBody>
          <a:bodyPr/>
          <a:lstStyle>
            <a:lvl1pPr algn="r">
              <a:defRPr sz="1400">
                <a:solidFill>
                  <a:schemeClr val="bg1"/>
                </a:solidFill>
              </a:defRPr>
            </a:lvl1pPr>
          </a:lstStyle>
          <a:p>
            <a:fld id="{5D7E96DA-080B-4784-B9B5-EC4CB0FAE680}"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35857" y="68997"/>
            <a:ext cx="569560" cy="844609"/>
          </a:xfrm>
        </p:spPr>
        <p:txBody>
          <a:bodyPr/>
          <a:lstStyle>
            <a:lvl1pPr>
              <a:defRPr sz="2000">
                <a:solidFill>
                  <a:schemeClr val="bg1"/>
                </a:solidFill>
              </a:defRPr>
            </a:lvl1pPr>
          </a:lstStyle>
          <a:p>
            <a:fld id="{F5751902-701A-4BB3-B7D1-D78D2680F43A}" type="slidenum">
              <a:rPr lang="en-US" smtClean="0"/>
              <a:pPr/>
              <a:t>‹#›</a:t>
            </a:fld>
            <a:endParaRPr lang="en-US" dirty="0"/>
          </a:p>
        </p:txBody>
      </p:sp>
      <p:pic>
        <p:nvPicPr>
          <p:cNvPr id="32" name="Picture 3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857" y="6236689"/>
            <a:ext cx="1991521" cy="604443"/>
          </a:xfrm>
          <a:prstGeom prst="rect">
            <a:avLst/>
          </a:prstGeom>
        </p:spPr>
      </p:pic>
    </p:spTree>
    <p:extLst>
      <p:ext uri="{BB962C8B-B14F-4D97-AF65-F5344CB8AC3E}">
        <p14:creationId xmlns:p14="http://schemas.microsoft.com/office/powerpoint/2010/main" val="3682656857"/>
      </p:ext>
    </p:extLst>
  </p:cSld>
  <p:clrMapOvr>
    <a:masterClrMapping/>
  </p:clrMapOvr>
  <p:transition spd="med">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2979997161"/>
      </p:ext>
    </p:extLst>
  </p:cSld>
  <p:clrMapOvr>
    <a:masterClrMapping/>
  </p:clrMapOvr>
  <p:transition spd="med">
    <p:pull/>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3967516092"/>
      </p:ext>
    </p:extLst>
  </p:cSld>
  <p:clrMapOvr>
    <a:masterClrMapping/>
  </p:clrMapOvr>
  <p:transition spd="med">
    <p:pull/>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84906563"/>
      </p:ext>
    </p:extLst>
  </p:cSld>
  <p:clrMapOvr>
    <a:masterClrMapping/>
  </p:clrMapOvr>
  <p:transition spd="med">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2180783190"/>
      </p:ext>
    </p:extLst>
  </p:cSld>
  <p:clrMapOvr>
    <a:masterClrMapping/>
  </p:clrMapOvr>
  <p:transition spd="med">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1885420836"/>
      </p:ext>
    </p:extLst>
  </p:cSld>
  <p:clrMapOvr>
    <a:masterClrMapping/>
  </p:clrMapOvr>
  <p:transition spd="med">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828270370"/>
      </p:ext>
    </p:extLst>
  </p:cSld>
  <p:clrMapOvr>
    <a:masterClrMapping/>
  </p:clrMapOvr>
  <p:transition spd="med">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2005994547"/>
      </p:ext>
    </p:extLst>
  </p:cSld>
  <p:clrMapOvr>
    <a:masterClrMapping/>
  </p:clrMapOvr>
  <p:transition spd="med">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3410012859"/>
      </p:ext>
    </p:extLst>
  </p:cSld>
  <p:clrMapOvr>
    <a:masterClrMapping/>
  </p:clrMapOvr>
  <p:transition spd="med">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700675806"/>
      </p:ext>
    </p:extLst>
  </p:cSld>
  <p:clrMapOvr>
    <a:masterClrMapping/>
  </p:clrMapOvr>
  <p:transition spd="med">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1141109672"/>
      </p:ext>
    </p:extLst>
  </p:cSld>
  <p:clrMapOvr>
    <a:masterClrMapping/>
  </p:clrMapOvr>
  <p:transition spd="med">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B7316A-020E-43DE-865D-5DED88EE0544}"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F07727-9762-420A-8041-A1473EA41C1E}" type="slidenum">
              <a:rPr lang="en-US" smtClean="0"/>
              <a:t>‹#›</a:t>
            </a:fld>
            <a:endParaRPr lang="en-US" dirty="0"/>
          </a:p>
        </p:txBody>
      </p:sp>
    </p:spTree>
    <p:extLst>
      <p:ext uri="{BB962C8B-B14F-4D97-AF65-F5344CB8AC3E}">
        <p14:creationId xmlns:p14="http://schemas.microsoft.com/office/powerpoint/2010/main" val="3076038576"/>
      </p:ext>
    </p:extLst>
  </p:cSld>
  <p:clrMapOvr>
    <a:masterClrMapping/>
  </p:clrMapOvr>
  <p:transition spd="med">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
        <p:nvSpPr>
          <p:cNvPr id="16" name="Freeform 15"/>
          <p:cNvSpPr/>
          <p:nvPr/>
        </p:nvSpPr>
        <p:spPr>
          <a:xfrm rot="-1500000">
            <a:off x="7062783" y="-1719461"/>
            <a:ext cx="6125957" cy="9072040"/>
          </a:xfrm>
          <a:custGeom>
            <a:avLst/>
            <a:gdLst>
              <a:gd name="connsiteX0" fmla="*/ 0 w 6125957"/>
              <a:gd name="connsiteY0" fmla="*/ 0 h 9072040"/>
              <a:gd name="connsiteX1" fmla="*/ 6125957 w 6125957"/>
              <a:gd name="connsiteY1" fmla="*/ 2856581 h 9072040"/>
              <a:gd name="connsiteX2" fmla="*/ 3227641 w 6125957"/>
              <a:gd name="connsiteY2" fmla="*/ 9072040 h 9072040"/>
              <a:gd name="connsiteX3" fmla="*/ 0 w 6125957"/>
              <a:gd name="connsiteY3" fmla="*/ 7566966 h 9072040"/>
            </a:gdLst>
            <a:ahLst/>
            <a:cxnLst>
              <a:cxn ang="0">
                <a:pos x="connsiteX0" y="connsiteY0"/>
              </a:cxn>
              <a:cxn ang="0">
                <a:pos x="connsiteX1" y="connsiteY1"/>
              </a:cxn>
              <a:cxn ang="0">
                <a:pos x="connsiteX2" y="connsiteY2"/>
              </a:cxn>
              <a:cxn ang="0">
                <a:pos x="connsiteX3" y="connsiteY3"/>
              </a:cxn>
            </a:cxnLst>
            <a:rect l="l" t="t" r="r" b="b"/>
            <a:pathLst>
              <a:path w="6125957" h="9072040">
                <a:moveTo>
                  <a:pt x="0" y="0"/>
                </a:moveTo>
                <a:lnTo>
                  <a:pt x="6125957" y="2856581"/>
                </a:lnTo>
                <a:lnTo>
                  <a:pt x="3227641" y="9072040"/>
                </a:lnTo>
                <a:lnTo>
                  <a:pt x="0" y="7566966"/>
                </a:lnTo>
                <a:close/>
              </a:path>
            </a:pathLst>
          </a:custGeom>
          <a:solidFill>
            <a:srgbClr val="0070C0">
              <a:alpha val="8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p:cNvSpPr/>
          <p:nvPr/>
        </p:nvSpPr>
        <p:spPr>
          <a:xfrm rot="-1500000">
            <a:off x="-909109" y="-889850"/>
            <a:ext cx="7821275" cy="9862580"/>
          </a:xfrm>
          <a:custGeom>
            <a:avLst/>
            <a:gdLst>
              <a:gd name="connsiteX0" fmla="*/ 2898317 w 7821275"/>
              <a:gd name="connsiteY0" fmla="*/ 0 h 9862580"/>
              <a:gd name="connsiteX1" fmla="*/ 7821275 w 7821275"/>
              <a:gd name="connsiteY1" fmla="*/ 2295614 h 9862580"/>
              <a:gd name="connsiteX2" fmla="*/ 7821275 w 7821275"/>
              <a:gd name="connsiteY2" fmla="*/ 9862580 h 9862580"/>
              <a:gd name="connsiteX3" fmla="*/ 0 w 7821275"/>
              <a:gd name="connsiteY3" fmla="*/ 6215460 h 9862580"/>
            </a:gdLst>
            <a:ahLst/>
            <a:cxnLst>
              <a:cxn ang="0">
                <a:pos x="connsiteX0" y="connsiteY0"/>
              </a:cxn>
              <a:cxn ang="0">
                <a:pos x="connsiteX1" y="connsiteY1"/>
              </a:cxn>
              <a:cxn ang="0">
                <a:pos x="connsiteX2" y="connsiteY2"/>
              </a:cxn>
              <a:cxn ang="0">
                <a:pos x="connsiteX3" y="connsiteY3"/>
              </a:cxn>
            </a:cxnLst>
            <a:rect l="l" t="t" r="r" b="b"/>
            <a:pathLst>
              <a:path w="7821275" h="9862580">
                <a:moveTo>
                  <a:pt x="2898317" y="0"/>
                </a:moveTo>
                <a:lnTo>
                  <a:pt x="7821275" y="2295614"/>
                </a:lnTo>
                <a:lnTo>
                  <a:pt x="7821275" y="9862580"/>
                </a:lnTo>
                <a:lnTo>
                  <a:pt x="0" y="6215460"/>
                </a:lnTo>
                <a:close/>
              </a:path>
            </a:pathLst>
          </a:custGeom>
          <a:solidFill>
            <a:schemeClr val="tx1">
              <a:lumMod val="85000"/>
              <a:lumOff val="15000"/>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7" name="Group 16"/>
          <p:cNvGrpSpPr/>
          <p:nvPr/>
        </p:nvGrpSpPr>
        <p:grpSpPr>
          <a:xfrm>
            <a:off x="1648725" y="5410199"/>
            <a:ext cx="10543275" cy="274322"/>
            <a:chOff x="1648725" y="5181599"/>
            <a:chExt cx="10543275" cy="274322"/>
          </a:xfrm>
        </p:grpSpPr>
        <p:sp>
          <p:nvSpPr>
            <p:cNvPr id="11" name="Rectangle 10"/>
            <p:cNvSpPr/>
            <p:nvPr userDrawn="1"/>
          </p:nvSpPr>
          <p:spPr>
            <a:xfrm>
              <a:off x="1778000" y="5181599"/>
              <a:ext cx="10414000" cy="2743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Isosceles Triangle 11"/>
            <p:cNvSpPr>
              <a:spLocks noChangeAspect="1"/>
            </p:cNvSpPr>
            <p:nvPr userDrawn="1"/>
          </p:nvSpPr>
          <p:spPr>
            <a:xfrm rot="16200000" flipH="1">
              <a:off x="1576203" y="5254123"/>
              <a:ext cx="274320" cy="129275"/>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Text Placeholder 20"/>
          <p:cNvSpPr>
            <a:spLocks noGrp="1"/>
          </p:cNvSpPr>
          <p:nvPr>
            <p:ph type="body" sz="quarter" idx="13"/>
          </p:nvPr>
        </p:nvSpPr>
        <p:spPr>
          <a:xfrm>
            <a:off x="1648725" y="3017674"/>
            <a:ext cx="4739375" cy="2256001"/>
          </a:xfrm>
        </p:spPr>
        <p:txBody>
          <a:bodyPr>
            <a:normAutofit/>
          </a:bodyPr>
          <a:lstStyle>
            <a:lvl1pPr>
              <a:defRPr sz="3200">
                <a:solidFill>
                  <a:schemeClr val="bg1"/>
                </a:solidFill>
                <a:latin typeface="Century Gothic" panose="020B0502020202020204" pitchFamily="34" charset="0"/>
              </a:defRPr>
            </a:lvl1pPr>
            <a:lvl2pPr>
              <a:defRPr sz="2800">
                <a:solidFill>
                  <a:schemeClr val="bg1"/>
                </a:solidFill>
                <a:latin typeface="Century Gothic" panose="020B0502020202020204" pitchFamily="34" charset="0"/>
              </a:defRPr>
            </a:lvl2pPr>
            <a:lvl3pPr>
              <a:defRPr sz="2400">
                <a:solidFill>
                  <a:schemeClr val="bg1"/>
                </a:solidFill>
                <a:latin typeface="Century Gothic" panose="020B0502020202020204" pitchFamily="34" charset="0"/>
              </a:defRPr>
            </a:lvl3pPr>
            <a:lvl4pPr>
              <a:defRPr sz="2000">
                <a:solidFill>
                  <a:schemeClr val="bg1"/>
                </a:solidFill>
                <a:latin typeface="Century Gothic" panose="020B0502020202020204" pitchFamily="34" charset="0"/>
              </a:defRPr>
            </a:lvl4pPr>
            <a:lvl5pPr>
              <a:defRPr sz="2000">
                <a:solidFill>
                  <a:schemeClr val="bg1"/>
                </a:solidFill>
                <a:latin typeface="Century Gothic" panose="020B0502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8896" y="0"/>
            <a:ext cx="3653104" cy="1108747"/>
          </a:xfrm>
          <a:prstGeom prst="rect">
            <a:avLst/>
          </a:prstGeom>
        </p:spPr>
      </p:pic>
    </p:spTree>
    <p:extLst>
      <p:ext uri="{BB962C8B-B14F-4D97-AF65-F5344CB8AC3E}">
        <p14:creationId xmlns:p14="http://schemas.microsoft.com/office/powerpoint/2010/main" val="3448621336"/>
      </p:ext>
    </p:extLst>
  </p:cSld>
  <p:clrMapOvr>
    <a:masterClrMapping/>
  </p:clrMapOvr>
  <p:transition spd="med">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0" name="Group 29"/>
          <p:cNvGrpSpPr/>
          <p:nvPr/>
        </p:nvGrpSpPr>
        <p:grpSpPr>
          <a:xfrm>
            <a:off x="0" y="-1587"/>
            <a:ext cx="12211050" cy="1182120"/>
            <a:chOff x="0" y="-1587"/>
            <a:chExt cx="12211050" cy="1182120"/>
          </a:xfrm>
        </p:grpSpPr>
        <p:sp>
          <p:nvSpPr>
            <p:cNvPr id="20" name="Rectangle 19"/>
            <p:cNvSpPr/>
            <p:nvPr userDrawn="1"/>
          </p:nvSpPr>
          <p:spPr>
            <a:xfrm>
              <a:off x="9768770" y="265872"/>
              <a:ext cx="2442280" cy="914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p:cNvGrpSpPr/>
            <p:nvPr userDrawn="1"/>
          </p:nvGrpSpPr>
          <p:grpSpPr>
            <a:xfrm>
              <a:off x="313799" y="-1587"/>
              <a:ext cx="844992" cy="914400"/>
              <a:chOff x="909523" y="107281"/>
              <a:chExt cx="844992" cy="914400"/>
            </a:xfrm>
          </p:grpSpPr>
          <p:sp>
            <p:nvSpPr>
              <p:cNvPr id="13" name="Right Triangle 12"/>
              <p:cNvSpPr>
                <a:spLocks noChangeAspect="1"/>
              </p:cNvSpPr>
              <p:nvPr userDrawn="1"/>
            </p:nvSpPr>
            <p:spPr>
              <a:xfrm>
                <a:off x="1332019" y="107281"/>
                <a:ext cx="422496" cy="914400"/>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p:cNvSpPr>
                <a:spLocks noChangeAspect="1"/>
              </p:cNvSpPr>
              <p:nvPr userDrawn="1"/>
            </p:nvSpPr>
            <p:spPr>
              <a:xfrm flipH="1" flipV="1">
                <a:off x="909523" y="107281"/>
                <a:ext cx="422496" cy="914400"/>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p:cNvGrpSpPr/>
            <p:nvPr userDrawn="1"/>
          </p:nvGrpSpPr>
          <p:grpSpPr>
            <a:xfrm>
              <a:off x="0" y="0"/>
              <a:ext cx="872438" cy="914400"/>
              <a:chOff x="0" y="0"/>
              <a:chExt cx="872438" cy="914400"/>
            </a:xfrm>
          </p:grpSpPr>
          <p:sp>
            <p:nvSpPr>
              <p:cNvPr id="7" name="Rectangle 6"/>
              <p:cNvSpPr/>
              <p:nvPr userDrawn="1"/>
            </p:nvSpPr>
            <p:spPr>
              <a:xfrm>
                <a:off x="0" y="0"/>
                <a:ext cx="449943"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Triangle 8"/>
              <p:cNvSpPr>
                <a:spLocks noChangeAspect="1"/>
              </p:cNvSpPr>
              <p:nvPr userDrawn="1"/>
            </p:nvSpPr>
            <p:spPr>
              <a:xfrm>
                <a:off x="449942" y="0"/>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ight Triangle 16"/>
            <p:cNvSpPr>
              <a:spLocks noChangeAspect="1"/>
            </p:cNvSpPr>
            <p:nvPr userDrawn="1"/>
          </p:nvSpPr>
          <p:spPr>
            <a:xfrm flipH="1" flipV="1">
              <a:off x="859006" y="265872"/>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1281502" y="265872"/>
              <a:ext cx="9285912" cy="914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ight Triangle 18"/>
            <p:cNvSpPr>
              <a:spLocks noChangeAspect="1"/>
            </p:cNvSpPr>
            <p:nvPr userDrawn="1"/>
          </p:nvSpPr>
          <p:spPr>
            <a:xfrm>
              <a:off x="10567414" y="266133"/>
              <a:ext cx="422496" cy="914400"/>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p:cNvGrpSpPr/>
          <p:nvPr/>
        </p:nvGrpSpPr>
        <p:grpSpPr>
          <a:xfrm>
            <a:off x="3701608" y="6356349"/>
            <a:ext cx="8509442" cy="365762"/>
            <a:chOff x="3701608" y="6356349"/>
            <a:chExt cx="8509442" cy="365762"/>
          </a:xfrm>
        </p:grpSpPr>
        <p:sp>
          <p:nvSpPr>
            <p:cNvPr id="22" name="Rectangle 21"/>
            <p:cNvSpPr/>
            <p:nvPr userDrawn="1"/>
          </p:nvSpPr>
          <p:spPr>
            <a:xfrm>
              <a:off x="3873976" y="6356349"/>
              <a:ext cx="8337074" cy="3651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Isosceles Triangle 22"/>
            <p:cNvSpPr>
              <a:spLocks noChangeAspect="1"/>
            </p:cNvSpPr>
            <p:nvPr userDrawn="1"/>
          </p:nvSpPr>
          <p:spPr>
            <a:xfrm rot="16200000" flipH="1">
              <a:off x="3604912" y="6453047"/>
              <a:ext cx="365760" cy="172367"/>
            </a:xfrm>
            <a:prstGeom prst="triangle">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p:cNvSpPr>
            <a:spLocks noGrp="1"/>
          </p:cNvSpPr>
          <p:nvPr>
            <p:ph type="title"/>
          </p:nvPr>
        </p:nvSpPr>
        <p:spPr>
          <a:xfrm>
            <a:off x="1289669" y="60290"/>
            <a:ext cx="9276401" cy="1325563"/>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645255" y="1532811"/>
            <a:ext cx="10515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407062" y="6368411"/>
            <a:ext cx="2743200" cy="365125"/>
          </a:xfrm>
        </p:spPr>
        <p:txBody>
          <a:bodyPr/>
          <a:lstStyle>
            <a:lvl1pPr algn="r">
              <a:defRPr sz="1400">
                <a:solidFill>
                  <a:schemeClr val="bg1"/>
                </a:solidFill>
              </a:defRPr>
            </a:lvl1pPr>
          </a:lstStyle>
          <a:p>
            <a:fld id="{1E887E74-4B98-4586-A5A4-DCBB654A020F}" type="datetimeFigureOut">
              <a:rPr lang="en-US" smtClean="0"/>
              <a:t>10/16/2024</a:t>
            </a:fld>
            <a:endParaRPr lang="en-US" dirty="0"/>
          </a:p>
        </p:txBody>
      </p:sp>
      <p:sp>
        <p:nvSpPr>
          <p:cNvPr id="6" name="Slide Number Placeholder 5"/>
          <p:cNvSpPr>
            <a:spLocks noGrp="1"/>
          </p:cNvSpPr>
          <p:nvPr>
            <p:ph type="sldNum" sz="quarter" idx="12"/>
          </p:nvPr>
        </p:nvSpPr>
        <p:spPr>
          <a:xfrm>
            <a:off x="35857" y="68997"/>
            <a:ext cx="569560" cy="844609"/>
          </a:xfrm>
        </p:spPr>
        <p:txBody>
          <a:bodyPr/>
          <a:lstStyle>
            <a:lvl1pPr>
              <a:defRPr sz="2000">
                <a:solidFill>
                  <a:schemeClr val="bg1"/>
                </a:solidFill>
              </a:defRPr>
            </a:lvl1pPr>
          </a:lstStyle>
          <a:p>
            <a:fld id="{4524C5A2-83A4-4277-B7AD-359262251B42}" type="slidenum">
              <a:rPr lang="en-US" smtClean="0"/>
              <a:t>‹#›</a:t>
            </a:fld>
            <a:endParaRPr lang="en-US" dirty="0"/>
          </a:p>
        </p:txBody>
      </p:sp>
    </p:spTree>
    <p:extLst>
      <p:ext uri="{BB962C8B-B14F-4D97-AF65-F5344CB8AC3E}">
        <p14:creationId xmlns:p14="http://schemas.microsoft.com/office/powerpoint/2010/main" val="1408597648"/>
      </p:ext>
    </p:extLst>
  </p:cSld>
  <p:clrMapOvr>
    <a:masterClrMapping/>
  </p:clrMapOvr>
  <p:transition spd="med">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342907486"/>
      </p:ext>
    </p:extLst>
  </p:cSld>
  <p:clrMapOvr>
    <a:masterClrMapping/>
  </p:clrMapOvr>
  <p:transition spd="med">
    <p:pull/>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661370843"/>
      </p:ext>
    </p:extLst>
  </p:cSld>
  <p:clrMapOvr>
    <a:masterClrMapping/>
  </p:clrMapOvr>
  <p:transition spd="med">
    <p:pull/>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845724297"/>
      </p:ext>
    </p:extLst>
  </p:cSld>
  <p:clrMapOvr>
    <a:masterClrMapping/>
  </p:clrMapOvr>
  <p:transition spd="med">
    <p:pull/>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1720445051"/>
      </p:ext>
    </p:extLst>
  </p:cSld>
  <p:clrMapOvr>
    <a:masterClrMapping/>
  </p:clrMapOvr>
  <p:transition spd="med">
    <p:pull/>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2541990561"/>
      </p:ext>
    </p:extLst>
  </p:cSld>
  <p:clrMapOvr>
    <a:masterClrMapping/>
  </p:clrMapOvr>
  <p:transition spd="med">
    <p:pull/>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3489126949"/>
      </p:ext>
    </p:extLst>
  </p:cSld>
  <p:clrMapOvr>
    <a:masterClrMapping/>
  </p:clrMapOvr>
  <p:transition spd="med">
    <p:pull/>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1338566383"/>
      </p:ext>
    </p:extLst>
  </p:cSld>
  <p:clrMapOvr>
    <a:masterClrMapping/>
  </p:clrMapOvr>
  <p:transition spd="med">
    <p:pull/>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166997175"/>
      </p:ext>
    </p:extLst>
  </p:cSld>
  <p:clrMapOvr>
    <a:masterClrMapping/>
  </p:clrMapOvr>
  <p:transition spd="med">
    <p:pull/>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2146714329"/>
      </p:ext>
    </p:extLst>
  </p:cSld>
  <p:clrMapOvr>
    <a:masterClrMapping/>
  </p:clrMapOvr>
  <p:transition spd="med">
    <p:pull/>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887E74-4B98-4586-A5A4-DCBB654A020F}" type="datetimeFigureOut">
              <a:rPr lang="en-US" smtClean="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24C5A2-83A4-4277-B7AD-359262251B42}" type="slidenum">
              <a:rPr lang="en-US" smtClean="0"/>
              <a:t>‹#›</a:t>
            </a:fld>
            <a:endParaRPr lang="en-US" dirty="0"/>
          </a:p>
        </p:txBody>
      </p:sp>
    </p:spTree>
    <p:extLst>
      <p:ext uri="{BB962C8B-B14F-4D97-AF65-F5344CB8AC3E}">
        <p14:creationId xmlns:p14="http://schemas.microsoft.com/office/powerpoint/2010/main" val="1824287717"/>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887E74-4B98-4586-A5A4-DCBB654A020F}" type="datetimeFigureOut">
              <a:rPr lang="en-US" smtClean="0"/>
              <a:t>10/16/2024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24C5A2-83A4-4277-B7AD-359262251B42}" type="slidenum">
              <a:rPr lang="en-US" smtClean="0"/>
              <a:t>‹#›</a:t>
            </a:fld>
            <a:endParaRPr lang="en-US" dirty="0"/>
          </a:p>
        </p:txBody>
      </p:sp>
    </p:spTree>
    <p:extLst>
      <p:ext uri="{BB962C8B-B14F-4D97-AF65-F5344CB8AC3E}">
        <p14:creationId xmlns:p14="http://schemas.microsoft.com/office/powerpoint/2010/main" val="22269059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B7316A-020E-43DE-865D-5DED88EE0544}" type="datetimeFigureOut">
              <a:rPr lang="en-US" smtClean="0"/>
              <a:t>10/16/2024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F07727-9762-420A-8041-A1473EA41C1E}" type="slidenum">
              <a:rPr lang="en-US" smtClean="0"/>
              <a:t>‹#›</a:t>
            </a:fld>
            <a:endParaRPr lang="en-US" dirty="0"/>
          </a:p>
        </p:txBody>
      </p:sp>
    </p:spTree>
    <p:extLst>
      <p:ext uri="{BB962C8B-B14F-4D97-AF65-F5344CB8AC3E}">
        <p14:creationId xmlns:p14="http://schemas.microsoft.com/office/powerpoint/2010/main" val="363864323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887E74-4B98-4586-A5A4-DCBB654A020F}" type="datetimeFigureOut">
              <a:rPr lang="en-US" smtClean="0"/>
              <a:t>10/16/2024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24C5A2-83A4-4277-B7AD-359262251B42}" type="slidenum">
              <a:rPr lang="en-US" smtClean="0"/>
              <a:t>‹#›</a:t>
            </a:fld>
            <a:endParaRPr lang="en-US" dirty="0"/>
          </a:p>
        </p:txBody>
      </p:sp>
    </p:spTree>
    <p:extLst>
      <p:ext uri="{BB962C8B-B14F-4D97-AF65-F5344CB8AC3E}">
        <p14:creationId xmlns:p14="http://schemas.microsoft.com/office/powerpoint/2010/main" val="119339763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media/image36.png"/><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26.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Customer Analytics</a:t>
            </a:r>
            <a:endParaRPr lang="en-IN" dirty="0"/>
          </a:p>
        </p:txBody>
      </p:sp>
      <p:sp>
        <p:nvSpPr>
          <p:cNvPr id="14" name="Rectangle 13"/>
          <p:cNvSpPr/>
          <p:nvPr/>
        </p:nvSpPr>
        <p:spPr>
          <a:xfrm>
            <a:off x="5444359" y="1762884"/>
            <a:ext cx="6315775" cy="3046988"/>
          </a:xfrm>
          <a:prstGeom prst="rect">
            <a:avLst/>
          </a:prstGeom>
        </p:spPr>
        <p:txBody>
          <a:bodyPr wrap="square" anchor="ctr">
            <a:spAutoFit/>
          </a:bodyPr>
          <a:lstStyle/>
          <a:p>
            <a:r>
              <a:rPr lang="en-US" sz="2400" b="1" dirty="0"/>
              <a:t>Customer analytics</a:t>
            </a:r>
            <a:r>
              <a:rPr lang="en-US" sz="2400" dirty="0"/>
              <a:t> is the process of collecting, analyzing, and interpreting customer data to gain insights into customer behavior, preferences, and interactions. Businesses use these insights to understand their customers better, predict future behavior, and improve decision-making to enhance customer satisfaction, increase retention, and drive growth.</a:t>
            </a:r>
            <a:endParaRPr lang="en-IN" sz="2400" b="1" dirty="0">
              <a:solidFill>
                <a:srgbClr val="1D4999"/>
              </a:solidFill>
            </a:endParaRPr>
          </a:p>
        </p:txBody>
      </p:sp>
      <p:pic>
        <p:nvPicPr>
          <p:cNvPr id="10" name="Picture 9" descr="A group of people working on a graph&#10;&#10;Description automatically generated">
            <a:extLst>
              <a:ext uri="{FF2B5EF4-FFF2-40B4-BE49-F238E27FC236}">
                <a16:creationId xmlns:a16="http://schemas.microsoft.com/office/drawing/2014/main" id="{E36BF9DC-93AF-6C4E-5295-7A7B27F10E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1866" y="2021779"/>
            <a:ext cx="4737452" cy="2529199"/>
          </a:xfrm>
          <a:prstGeom prst="rect">
            <a:avLst/>
          </a:prstGeom>
        </p:spPr>
      </p:pic>
    </p:spTree>
    <p:extLst>
      <p:ext uri="{BB962C8B-B14F-4D97-AF65-F5344CB8AC3E}">
        <p14:creationId xmlns:p14="http://schemas.microsoft.com/office/powerpoint/2010/main" val="966285582"/>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Four Stages of Data Analytics</a:t>
            </a:r>
            <a:endParaRPr lang="en-IN" dirty="0"/>
          </a:p>
        </p:txBody>
      </p:sp>
      <p:grpSp>
        <p:nvGrpSpPr>
          <p:cNvPr id="4" name="Group 3"/>
          <p:cNvGrpSpPr/>
          <p:nvPr/>
        </p:nvGrpSpPr>
        <p:grpSpPr>
          <a:xfrm>
            <a:off x="1915475" y="1892098"/>
            <a:ext cx="9354928" cy="2560090"/>
            <a:chOff x="3644538" y="667613"/>
            <a:chExt cx="5687467" cy="1883171"/>
          </a:xfrm>
        </p:grpSpPr>
        <p:sp>
          <p:nvSpPr>
            <p:cNvPr id="5" name="Rectangle 4"/>
            <p:cNvSpPr/>
            <p:nvPr/>
          </p:nvSpPr>
          <p:spPr>
            <a:xfrm>
              <a:off x="3644538" y="668288"/>
              <a:ext cx="424654" cy="401700"/>
            </a:xfrm>
            <a:prstGeom prst="rect">
              <a:avLst/>
            </a:prstGeom>
            <a:solidFill>
              <a:srgbClr val="1D4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1</a:t>
              </a:r>
            </a:p>
          </p:txBody>
        </p:sp>
        <p:sp>
          <p:nvSpPr>
            <p:cNvPr id="6" name="Rectangle 5"/>
            <p:cNvSpPr/>
            <p:nvPr/>
          </p:nvSpPr>
          <p:spPr>
            <a:xfrm>
              <a:off x="3644538" y="1161887"/>
              <a:ext cx="424654" cy="401700"/>
            </a:xfrm>
            <a:prstGeom prst="rect">
              <a:avLst/>
            </a:prstGeom>
            <a:solidFill>
              <a:srgbClr val="1D4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2</a:t>
              </a:r>
            </a:p>
          </p:txBody>
        </p:sp>
        <p:sp>
          <p:nvSpPr>
            <p:cNvPr id="7" name="Rectangle 6"/>
            <p:cNvSpPr/>
            <p:nvPr/>
          </p:nvSpPr>
          <p:spPr>
            <a:xfrm>
              <a:off x="3644538" y="1655485"/>
              <a:ext cx="424654" cy="401700"/>
            </a:xfrm>
            <a:prstGeom prst="rect">
              <a:avLst/>
            </a:prstGeom>
            <a:solidFill>
              <a:srgbClr val="1D4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3</a:t>
              </a:r>
            </a:p>
          </p:txBody>
        </p:sp>
        <p:sp>
          <p:nvSpPr>
            <p:cNvPr id="8" name="Rectangle 7"/>
            <p:cNvSpPr/>
            <p:nvPr/>
          </p:nvSpPr>
          <p:spPr>
            <a:xfrm>
              <a:off x="3644538" y="2149084"/>
              <a:ext cx="424654" cy="401700"/>
            </a:xfrm>
            <a:prstGeom prst="rect">
              <a:avLst/>
            </a:prstGeom>
            <a:solidFill>
              <a:srgbClr val="1D4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rPr>
                <a:t>4</a:t>
              </a:r>
            </a:p>
          </p:txBody>
        </p:sp>
        <p:sp>
          <p:nvSpPr>
            <p:cNvPr id="12" name="Rectangle 11"/>
            <p:cNvSpPr/>
            <p:nvPr/>
          </p:nvSpPr>
          <p:spPr>
            <a:xfrm>
              <a:off x="4235007" y="667613"/>
              <a:ext cx="3671437" cy="384874"/>
            </a:xfrm>
            <a:prstGeom prst="rect">
              <a:avLst/>
            </a:prstGeom>
          </p:spPr>
          <p:txBody>
            <a:bodyPr wrap="none" anchor="ctr">
              <a:spAutoFit/>
            </a:bodyPr>
            <a:lstStyle/>
            <a:p>
              <a:r>
                <a:rPr lang="en-IN" sz="2800" b="1" dirty="0">
                  <a:solidFill>
                    <a:srgbClr val="1D4999"/>
                  </a:solidFill>
                </a:rPr>
                <a:t>Descriptive Analytics: What happened?</a:t>
              </a:r>
            </a:p>
          </p:txBody>
        </p:sp>
        <p:sp>
          <p:nvSpPr>
            <p:cNvPr id="13" name="Rectangle 12"/>
            <p:cNvSpPr/>
            <p:nvPr/>
          </p:nvSpPr>
          <p:spPr>
            <a:xfrm>
              <a:off x="4235007" y="1162494"/>
              <a:ext cx="3805421" cy="384874"/>
            </a:xfrm>
            <a:prstGeom prst="rect">
              <a:avLst/>
            </a:prstGeom>
          </p:spPr>
          <p:txBody>
            <a:bodyPr wrap="none" anchor="ctr">
              <a:spAutoFit/>
            </a:bodyPr>
            <a:lstStyle/>
            <a:p>
              <a:r>
                <a:rPr lang="en-US" sz="2800" b="1" dirty="0">
                  <a:solidFill>
                    <a:srgbClr val="1D4999"/>
                  </a:solidFill>
                </a:rPr>
                <a:t>Diagnostic Analytics: Why did it happen?</a:t>
              </a:r>
              <a:endParaRPr lang="en-IN" sz="2800" b="1" dirty="0">
                <a:solidFill>
                  <a:srgbClr val="1D4999"/>
                </a:solidFill>
              </a:endParaRPr>
            </a:p>
          </p:txBody>
        </p:sp>
        <p:sp>
          <p:nvSpPr>
            <p:cNvPr id="14" name="Rectangle 13"/>
            <p:cNvSpPr/>
            <p:nvPr/>
          </p:nvSpPr>
          <p:spPr>
            <a:xfrm>
              <a:off x="4235008" y="1657374"/>
              <a:ext cx="5096997" cy="384874"/>
            </a:xfrm>
            <a:prstGeom prst="rect">
              <a:avLst/>
            </a:prstGeom>
          </p:spPr>
          <p:txBody>
            <a:bodyPr wrap="none" anchor="ctr">
              <a:spAutoFit/>
            </a:bodyPr>
            <a:lstStyle/>
            <a:p>
              <a:r>
                <a:rPr lang="en-US" sz="2800" b="1" dirty="0">
                  <a:solidFill>
                    <a:srgbClr val="1D4999"/>
                  </a:solidFill>
                </a:rPr>
                <a:t>Predictive Analytics: What might happen in the future?</a:t>
              </a:r>
              <a:endParaRPr lang="en-IN" sz="2800" b="1" dirty="0">
                <a:solidFill>
                  <a:srgbClr val="1D4999"/>
                </a:solidFill>
              </a:endParaRPr>
            </a:p>
          </p:txBody>
        </p:sp>
        <p:sp>
          <p:nvSpPr>
            <p:cNvPr id="15" name="Rectangle 14"/>
            <p:cNvSpPr/>
            <p:nvPr/>
          </p:nvSpPr>
          <p:spPr>
            <a:xfrm>
              <a:off x="4235008" y="2152252"/>
              <a:ext cx="4788995" cy="384874"/>
            </a:xfrm>
            <a:prstGeom prst="rect">
              <a:avLst/>
            </a:prstGeom>
          </p:spPr>
          <p:txBody>
            <a:bodyPr wrap="none" anchor="ctr">
              <a:spAutoFit/>
            </a:bodyPr>
            <a:lstStyle/>
            <a:p>
              <a:r>
                <a:rPr lang="en-US" sz="2800" b="1" dirty="0">
                  <a:solidFill>
                    <a:srgbClr val="1D4999"/>
                  </a:solidFill>
                </a:rPr>
                <a:t>Prescriptive Analytics: What should we do about it?</a:t>
              </a:r>
              <a:endParaRPr lang="en-IN" sz="2800" b="1" dirty="0">
                <a:solidFill>
                  <a:srgbClr val="1D4999"/>
                </a:solidFill>
              </a:endParaRPr>
            </a:p>
          </p:txBody>
        </p:sp>
      </p:grpSp>
      <p:grpSp>
        <p:nvGrpSpPr>
          <p:cNvPr id="25" name="Group 24">
            <a:extLst>
              <a:ext uri="{FF2B5EF4-FFF2-40B4-BE49-F238E27FC236}">
                <a16:creationId xmlns:a16="http://schemas.microsoft.com/office/drawing/2014/main" id="{53D83590-F8F0-682A-88E1-A516E7514E15}"/>
              </a:ext>
            </a:extLst>
          </p:cNvPr>
          <p:cNvGrpSpPr/>
          <p:nvPr/>
        </p:nvGrpSpPr>
        <p:grpSpPr>
          <a:xfrm>
            <a:off x="1598836" y="4939870"/>
            <a:ext cx="8994328" cy="461665"/>
            <a:chOff x="1440081" y="1474165"/>
            <a:chExt cx="8994328" cy="461665"/>
          </a:xfrm>
          <a:solidFill>
            <a:schemeClr val="tx1">
              <a:lumMod val="65000"/>
              <a:lumOff val="35000"/>
            </a:schemeClr>
          </a:solidFill>
        </p:grpSpPr>
        <p:sp>
          <p:nvSpPr>
            <p:cNvPr id="3" name="TextBox 2">
              <a:extLst>
                <a:ext uri="{FF2B5EF4-FFF2-40B4-BE49-F238E27FC236}">
                  <a16:creationId xmlns:a16="http://schemas.microsoft.com/office/drawing/2014/main" id="{BE443F50-2F6A-E1A9-5997-4A6CB2BA1F4A}"/>
                </a:ext>
              </a:extLst>
            </p:cNvPr>
            <p:cNvSpPr txBox="1"/>
            <p:nvPr/>
          </p:nvSpPr>
          <p:spPr>
            <a:xfrm>
              <a:off x="1440081" y="1474165"/>
              <a:ext cx="1980000" cy="461665"/>
            </a:xfrm>
            <a:prstGeom prst="rect">
              <a:avLst/>
            </a:prstGeom>
            <a:grp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Descriptive</a:t>
              </a:r>
              <a:endParaRPr lang="en-US" dirty="0"/>
            </a:p>
          </p:txBody>
        </p:sp>
        <p:sp>
          <p:nvSpPr>
            <p:cNvPr id="19" name="TextBox 18">
              <a:extLst>
                <a:ext uri="{FF2B5EF4-FFF2-40B4-BE49-F238E27FC236}">
                  <a16:creationId xmlns:a16="http://schemas.microsoft.com/office/drawing/2014/main" id="{4635A16E-2C52-F6E5-3679-B0CE908BA98E}"/>
                </a:ext>
              </a:extLst>
            </p:cNvPr>
            <p:cNvSpPr txBox="1"/>
            <p:nvPr/>
          </p:nvSpPr>
          <p:spPr>
            <a:xfrm>
              <a:off x="8454409" y="1474165"/>
              <a:ext cx="1980000" cy="461665"/>
            </a:xfrm>
            <a:prstGeom prst="rect">
              <a:avLst/>
            </a:prstGeom>
            <a:grp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Prescriptive</a:t>
              </a:r>
              <a:endParaRPr lang="en-US" dirty="0"/>
            </a:p>
          </p:txBody>
        </p:sp>
        <p:sp>
          <p:nvSpPr>
            <p:cNvPr id="20" name="TextBox 19">
              <a:extLst>
                <a:ext uri="{FF2B5EF4-FFF2-40B4-BE49-F238E27FC236}">
                  <a16:creationId xmlns:a16="http://schemas.microsoft.com/office/drawing/2014/main" id="{1DE39234-F0CE-4236-F409-B2FA3D2A6973}"/>
                </a:ext>
              </a:extLst>
            </p:cNvPr>
            <p:cNvSpPr txBox="1"/>
            <p:nvPr/>
          </p:nvSpPr>
          <p:spPr>
            <a:xfrm>
              <a:off x="6116301" y="1474165"/>
              <a:ext cx="1980000" cy="461665"/>
            </a:xfrm>
            <a:prstGeom prst="rect">
              <a:avLst/>
            </a:prstGeom>
            <a:grp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Predictive</a:t>
              </a:r>
              <a:endParaRPr lang="en-US" dirty="0"/>
            </a:p>
          </p:txBody>
        </p:sp>
        <p:sp>
          <p:nvSpPr>
            <p:cNvPr id="21" name="TextBox 20">
              <a:extLst>
                <a:ext uri="{FF2B5EF4-FFF2-40B4-BE49-F238E27FC236}">
                  <a16:creationId xmlns:a16="http://schemas.microsoft.com/office/drawing/2014/main" id="{3D9AE1EF-E5DB-1710-827C-04E060AB3FF7}"/>
                </a:ext>
              </a:extLst>
            </p:cNvPr>
            <p:cNvSpPr txBox="1"/>
            <p:nvPr/>
          </p:nvSpPr>
          <p:spPr>
            <a:xfrm>
              <a:off x="3778191" y="1474165"/>
              <a:ext cx="1980000" cy="461665"/>
            </a:xfrm>
            <a:prstGeom prst="rect">
              <a:avLst/>
            </a:prstGeom>
            <a:grp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Diagnostic</a:t>
              </a:r>
              <a:endParaRPr lang="en-US" dirty="0"/>
            </a:p>
          </p:txBody>
        </p:sp>
        <p:sp>
          <p:nvSpPr>
            <p:cNvPr id="22" name="Arrow: Right 21">
              <a:extLst>
                <a:ext uri="{FF2B5EF4-FFF2-40B4-BE49-F238E27FC236}">
                  <a16:creationId xmlns:a16="http://schemas.microsoft.com/office/drawing/2014/main" id="{DAFA42B5-186A-05E6-2EBA-81C2BCD71D55}"/>
                </a:ext>
              </a:extLst>
            </p:cNvPr>
            <p:cNvSpPr/>
            <p:nvPr/>
          </p:nvSpPr>
          <p:spPr>
            <a:xfrm>
              <a:off x="3500751" y="1589581"/>
              <a:ext cx="196770" cy="230833"/>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E3646AA8-8EBB-13FF-BF50-6F5F28F71DB1}"/>
                </a:ext>
              </a:extLst>
            </p:cNvPr>
            <p:cNvSpPr/>
            <p:nvPr/>
          </p:nvSpPr>
          <p:spPr>
            <a:xfrm>
              <a:off x="5838861" y="1589581"/>
              <a:ext cx="196770" cy="230833"/>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830EA6F3-944D-6196-BECA-0C697201037B}"/>
                </a:ext>
              </a:extLst>
            </p:cNvPr>
            <p:cNvSpPr/>
            <p:nvPr/>
          </p:nvSpPr>
          <p:spPr>
            <a:xfrm>
              <a:off x="8176971" y="1589581"/>
              <a:ext cx="196770" cy="230833"/>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14881991"/>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Analytics</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201746" y="2451014"/>
            <a:ext cx="8061630" cy="2814617"/>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Examination of data to answer "What happened?"</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Summarizing raw data with dashboards, graphs, and tables.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b="1" dirty="0">
                <a:solidFill>
                  <a:prstClr val="black"/>
                </a:solidFill>
                <a:latin typeface="Calibri" panose="020F0502020204030204"/>
              </a:rPr>
              <a:t>Examples</a:t>
            </a:r>
            <a:r>
              <a:rPr lang="en-US" sz="2000" dirty="0">
                <a:solidFill>
                  <a:prstClr val="black"/>
                </a:solidFill>
                <a:latin typeface="Calibri" panose="020F0502020204030204"/>
              </a:rPr>
              <a:t>: Football match scorecard, stock market trends.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Customer Analytics Example: Dashboard with Customer metrics (Customer churn </a:t>
            </a:r>
            <a:r>
              <a:rPr lang="en-IN" sz="2000" dirty="0"/>
              <a:t>Rate</a:t>
            </a:r>
            <a:r>
              <a:rPr lang="en-US" sz="2000" dirty="0">
                <a:solidFill>
                  <a:prstClr val="black"/>
                </a:solidFill>
                <a:latin typeface="Calibri" panose="020F0502020204030204"/>
              </a:rPr>
              <a:t>, Customer </a:t>
            </a:r>
            <a:r>
              <a:rPr lang="en-IN" sz="2000" dirty="0"/>
              <a:t>Lifetime</a:t>
            </a:r>
            <a:r>
              <a:rPr lang="en-US" sz="2000" dirty="0">
                <a:solidFill>
                  <a:prstClr val="black"/>
                </a:solidFill>
                <a:latin typeface="Calibri" panose="020F0502020204030204"/>
              </a:rPr>
              <a:t> value).</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Descriptive</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Prescriptive</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Predictive</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Diagnostic</a:t>
              </a:r>
              <a:endParaRPr lang="en-US" dirty="0"/>
            </a:p>
          </p:txBody>
        </p:sp>
        <p:sp>
          <p:nvSpPr>
            <p:cNvPr id="18" name="Arrow: Right 17">
              <a:extLst>
                <a:ext uri="{FF2B5EF4-FFF2-40B4-BE49-F238E27FC236}">
                  <a16:creationId xmlns:a16="http://schemas.microsoft.com/office/drawing/2014/main" id="{786EDCA1-DDCC-4A2E-101D-6C8CC5DFE1AC}"/>
                </a:ext>
              </a:extLst>
            </p:cNvPr>
            <p:cNvSpPr/>
            <p:nvPr/>
          </p:nvSpPr>
          <p:spPr>
            <a:xfrm>
              <a:off x="350075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F5E080C9-397A-0B28-DF2C-31CE2122198C}"/>
                </a:ext>
              </a:extLst>
            </p:cNvPr>
            <p:cNvSpPr/>
            <p:nvPr/>
          </p:nvSpPr>
          <p:spPr>
            <a:xfrm>
              <a:off x="583886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74397DB6-CE55-94FC-DFA0-08F1C831F5D5}"/>
                </a:ext>
              </a:extLst>
            </p:cNvPr>
            <p:cNvSpPr/>
            <p:nvPr/>
          </p:nvSpPr>
          <p:spPr>
            <a:xfrm>
              <a:off x="817697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8" name="Picture 4" descr="Stock market data go up and down creative image_picture free download  500926688_lovepik.com">
            <a:extLst>
              <a:ext uri="{FF2B5EF4-FFF2-40B4-BE49-F238E27FC236}">
                <a16:creationId xmlns:a16="http://schemas.microsoft.com/office/drawing/2014/main" id="{CCAB0494-C5C1-7819-2571-9D9F035368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9753" y="2726806"/>
            <a:ext cx="3396523" cy="2263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051061"/>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Diagnostic Analytics</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177942" y="2720705"/>
            <a:ext cx="8061630" cy="2352952"/>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Answering "Why did it happen?"</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Uncovering root causes and relationships.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Importance in understanding variables influencing outcomes.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Example: Analyzing the reasons behind stock market trends.</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Descriptive</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Prescriptive</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Predictive</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accent1"/>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Diagnostic</a:t>
              </a:r>
              <a:endParaRPr lang="en-US" dirty="0"/>
            </a:p>
          </p:txBody>
        </p:sp>
        <p:sp>
          <p:nvSpPr>
            <p:cNvPr id="18" name="Arrow: Right 17">
              <a:extLst>
                <a:ext uri="{FF2B5EF4-FFF2-40B4-BE49-F238E27FC236}">
                  <a16:creationId xmlns:a16="http://schemas.microsoft.com/office/drawing/2014/main" id="{786EDCA1-DDCC-4A2E-101D-6C8CC5DFE1AC}"/>
                </a:ext>
              </a:extLst>
            </p:cNvPr>
            <p:cNvSpPr/>
            <p:nvPr/>
          </p:nvSpPr>
          <p:spPr>
            <a:xfrm>
              <a:off x="350075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F5E080C9-397A-0B28-DF2C-31CE2122198C}"/>
                </a:ext>
              </a:extLst>
            </p:cNvPr>
            <p:cNvSpPr/>
            <p:nvPr/>
          </p:nvSpPr>
          <p:spPr>
            <a:xfrm>
              <a:off x="583886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74397DB6-CE55-94FC-DFA0-08F1C831F5D5}"/>
                </a:ext>
              </a:extLst>
            </p:cNvPr>
            <p:cNvSpPr/>
            <p:nvPr/>
          </p:nvSpPr>
          <p:spPr>
            <a:xfrm>
              <a:off x="817697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E166F9E7-709A-5EA7-3508-7464CAB7ABFC}"/>
              </a:ext>
            </a:extLst>
          </p:cNvPr>
          <p:cNvPicPr>
            <a:picLocks noChangeAspect="1"/>
          </p:cNvPicPr>
          <p:nvPr/>
        </p:nvPicPr>
        <p:blipFill>
          <a:blip r:embed="rId2">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343359" y="2451014"/>
            <a:ext cx="3142527" cy="3142527"/>
          </a:xfrm>
          <a:prstGeom prst="rect">
            <a:avLst/>
          </a:prstGeom>
        </p:spPr>
      </p:pic>
    </p:spTree>
    <p:extLst>
      <p:ext uri="{BB962C8B-B14F-4D97-AF65-F5344CB8AC3E}">
        <p14:creationId xmlns:p14="http://schemas.microsoft.com/office/powerpoint/2010/main" val="260768043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Predictive</a:t>
            </a:r>
            <a:r>
              <a:rPr lang="en-US" dirty="0"/>
              <a:t> Analytics</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177942" y="2720705"/>
            <a:ext cx="8014058" cy="2660728"/>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Using historical data and machine learning to forecast future outcomes.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Applications: Predicting customer churn, employee attrition, sales forecasts.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Customer Analytics Example: Predicting customer satisfaction for better sales.</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Descriptive</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Prescriptive</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accent1"/>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Predictive</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Diagnostic</a:t>
              </a:r>
              <a:endParaRPr lang="en-US" dirty="0"/>
            </a:p>
          </p:txBody>
        </p:sp>
        <p:sp>
          <p:nvSpPr>
            <p:cNvPr id="18" name="Arrow: Right 17">
              <a:extLst>
                <a:ext uri="{FF2B5EF4-FFF2-40B4-BE49-F238E27FC236}">
                  <a16:creationId xmlns:a16="http://schemas.microsoft.com/office/drawing/2014/main" id="{786EDCA1-DDCC-4A2E-101D-6C8CC5DFE1AC}"/>
                </a:ext>
              </a:extLst>
            </p:cNvPr>
            <p:cNvSpPr/>
            <p:nvPr/>
          </p:nvSpPr>
          <p:spPr>
            <a:xfrm>
              <a:off x="350075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F5E080C9-397A-0B28-DF2C-31CE2122198C}"/>
                </a:ext>
              </a:extLst>
            </p:cNvPr>
            <p:cNvSpPr/>
            <p:nvPr/>
          </p:nvSpPr>
          <p:spPr>
            <a:xfrm>
              <a:off x="583886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74397DB6-CE55-94FC-DFA0-08F1C831F5D5}"/>
                </a:ext>
              </a:extLst>
            </p:cNvPr>
            <p:cNvSpPr/>
            <p:nvPr/>
          </p:nvSpPr>
          <p:spPr>
            <a:xfrm>
              <a:off x="817697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76" name="Picture 4" descr="Linear Regression (An Overview). What is Linear Regression? | by Yahya  Ansari | Medium">
            <a:extLst>
              <a:ext uri="{FF2B5EF4-FFF2-40B4-BE49-F238E27FC236}">
                <a16:creationId xmlns:a16="http://schemas.microsoft.com/office/drawing/2014/main" id="{D2432792-EE84-34E1-FC1A-E1288F9995EB}"/>
              </a:ext>
            </a:extLst>
          </p:cNvPr>
          <p:cNvPicPr>
            <a:picLocks noChangeAspect="1" noChangeArrowheads="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l="15592" r="18069"/>
          <a:stretch/>
        </p:blipFill>
        <p:spPr bwMode="auto">
          <a:xfrm>
            <a:off x="397823" y="2642261"/>
            <a:ext cx="2974769" cy="2522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700085"/>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Predictive</a:t>
            </a:r>
            <a:r>
              <a:rPr lang="en-US" dirty="0"/>
              <a:t> Analytics</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177942" y="2720705"/>
            <a:ext cx="7558787" cy="2199064"/>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Advanced tools: Python, R, SAS, Excel add-ons.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Application: Time series forecasting, regression models, machine learning</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Example: Customer churn Prediction, Customer segmentation, CLV.</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Descriptive</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Prescriptive</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accent1"/>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Predictive</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Diagnostic</a:t>
              </a:r>
              <a:endParaRPr lang="en-US" dirty="0"/>
            </a:p>
          </p:txBody>
        </p:sp>
        <p:sp>
          <p:nvSpPr>
            <p:cNvPr id="18" name="Arrow: Right 17">
              <a:extLst>
                <a:ext uri="{FF2B5EF4-FFF2-40B4-BE49-F238E27FC236}">
                  <a16:creationId xmlns:a16="http://schemas.microsoft.com/office/drawing/2014/main" id="{786EDCA1-DDCC-4A2E-101D-6C8CC5DFE1AC}"/>
                </a:ext>
              </a:extLst>
            </p:cNvPr>
            <p:cNvSpPr/>
            <p:nvPr/>
          </p:nvSpPr>
          <p:spPr>
            <a:xfrm>
              <a:off x="350075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F5E080C9-397A-0B28-DF2C-31CE2122198C}"/>
                </a:ext>
              </a:extLst>
            </p:cNvPr>
            <p:cNvSpPr/>
            <p:nvPr/>
          </p:nvSpPr>
          <p:spPr>
            <a:xfrm>
              <a:off x="583886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74397DB6-CE55-94FC-DFA0-08F1C831F5D5}"/>
                </a:ext>
              </a:extLst>
            </p:cNvPr>
            <p:cNvSpPr/>
            <p:nvPr/>
          </p:nvSpPr>
          <p:spPr>
            <a:xfrm>
              <a:off x="817697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76" name="Picture 4" descr="Linear Regression (An Overview). What is Linear Regression? | by Yahya  Ansari | Medium">
            <a:extLst>
              <a:ext uri="{FF2B5EF4-FFF2-40B4-BE49-F238E27FC236}">
                <a16:creationId xmlns:a16="http://schemas.microsoft.com/office/drawing/2014/main" id="{D2432792-EE84-34E1-FC1A-E1288F9995EB}"/>
              </a:ext>
            </a:extLst>
          </p:cNvPr>
          <p:cNvPicPr>
            <a:picLocks noChangeAspect="1" noChangeArrowheads="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l="15592" r="18069"/>
          <a:stretch/>
        </p:blipFill>
        <p:spPr bwMode="auto">
          <a:xfrm>
            <a:off x="397823" y="2642261"/>
            <a:ext cx="2974769" cy="2522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797712"/>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Prescriptive</a:t>
            </a:r>
            <a:r>
              <a:rPr lang="en-US" dirty="0"/>
              <a:t> Analytics</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177942" y="2853814"/>
            <a:ext cx="8061630" cy="2352952"/>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Suggesting actions based on predictions.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Using machine learning, business rules, and algorithms.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Providing recommendations for decision-making.</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Example: Advising on stock purchases.</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Descriptive</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accent1"/>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Prescriptive</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Predictive</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Diagnostic</a:t>
              </a:r>
              <a:endParaRPr lang="en-US" dirty="0"/>
            </a:p>
          </p:txBody>
        </p:sp>
        <p:sp>
          <p:nvSpPr>
            <p:cNvPr id="18" name="Arrow: Right 17">
              <a:extLst>
                <a:ext uri="{FF2B5EF4-FFF2-40B4-BE49-F238E27FC236}">
                  <a16:creationId xmlns:a16="http://schemas.microsoft.com/office/drawing/2014/main" id="{786EDCA1-DDCC-4A2E-101D-6C8CC5DFE1AC}"/>
                </a:ext>
              </a:extLst>
            </p:cNvPr>
            <p:cNvSpPr/>
            <p:nvPr/>
          </p:nvSpPr>
          <p:spPr>
            <a:xfrm>
              <a:off x="350075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F5E080C9-397A-0B28-DF2C-31CE2122198C}"/>
                </a:ext>
              </a:extLst>
            </p:cNvPr>
            <p:cNvSpPr/>
            <p:nvPr/>
          </p:nvSpPr>
          <p:spPr>
            <a:xfrm>
              <a:off x="583886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74397DB6-CE55-94FC-DFA0-08F1C831F5D5}"/>
                </a:ext>
              </a:extLst>
            </p:cNvPr>
            <p:cNvSpPr/>
            <p:nvPr/>
          </p:nvSpPr>
          <p:spPr>
            <a:xfrm>
              <a:off x="8176971" y="1589581"/>
              <a:ext cx="196770" cy="230833"/>
            </a:xfrm>
            <a:prstGeom prst="rightArrow">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9502AE9E-70EE-6976-9336-95E30B4863D9}"/>
              </a:ext>
            </a:extLst>
          </p:cNvPr>
          <p:cNvPicPr>
            <a:picLocks noChangeAspect="1"/>
          </p:cNvPicPr>
          <p:nvPr/>
        </p:nvPicPr>
        <p:blipFill>
          <a:blip r:embed="rId2"/>
          <a:stretch>
            <a:fillRect/>
          </a:stretch>
        </p:blipFill>
        <p:spPr>
          <a:xfrm>
            <a:off x="482256" y="2482770"/>
            <a:ext cx="3374020" cy="3374020"/>
          </a:xfrm>
          <a:prstGeom prst="rect">
            <a:avLst/>
          </a:prstGeom>
        </p:spPr>
      </p:pic>
    </p:spTree>
    <p:extLst>
      <p:ext uri="{BB962C8B-B14F-4D97-AF65-F5344CB8AC3E}">
        <p14:creationId xmlns:p14="http://schemas.microsoft.com/office/powerpoint/2010/main" val="3781549107"/>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Pyramid of Data analytics</a:t>
            </a:r>
          </a:p>
        </p:txBody>
      </p:sp>
      <p:grpSp>
        <p:nvGrpSpPr>
          <p:cNvPr id="4" name="Group 3"/>
          <p:cNvGrpSpPr/>
          <p:nvPr/>
        </p:nvGrpSpPr>
        <p:grpSpPr>
          <a:xfrm>
            <a:off x="362394" y="1417431"/>
            <a:ext cx="11533391" cy="4818165"/>
            <a:chOff x="291204" y="1125420"/>
            <a:chExt cx="11533391" cy="4818165"/>
          </a:xfrm>
        </p:grpSpPr>
        <p:grpSp>
          <p:nvGrpSpPr>
            <p:cNvPr id="5" name="Group 4"/>
            <p:cNvGrpSpPr>
              <a:grpSpLocks noChangeAspect="1"/>
            </p:cNvGrpSpPr>
            <p:nvPr/>
          </p:nvGrpSpPr>
          <p:grpSpPr>
            <a:xfrm>
              <a:off x="291204" y="1125420"/>
              <a:ext cx="11533391" cy="4818165"/>
              <a:chOff x="0" y="1684706"/>
              <a:chExt cx="9143999" cy="3819982"/>
            </a:xfrm>
          </p:grpSpPr>
          <p:sp>
            <p:nvSpPr>
              <p:cNvPr id="10" name="object 3"/>
              <p:cNvSpPr/>
              <p:nvPr/>
            </p:nvSpPr>
            <p:spPr>
              <a:xfrm>
                <a:off x="0" y="2023872"/>
                <a:ext cx="9143999" cy="3480816"/>
              </a:xfrm>
              <a:prstGeom prst="rect">
                <a:avLst/>
              </a:prstGeom>
              <a:blipFill>
                <a:blip r:embed="rId2" cstate="print"/>
                <a:stretch>
                  <a:fillRect/>
                </a:stretch>
              </a:blipFill>
            </p:spPr>
            <p:txBody>
              <a:bodyPr wrap="square" lIns="0" tIns="0" rIns="0" bIns="0" rtlCol="0"/>
              <a:lstStyle/>
              <a:p>
                <a:endParaRPr dirty="0">
                  <a:solidFill>
                    <a:srgbClr val="263393"/>
                  </a:solidFill>
                </a:endParaRPr>
              </a:p>
            </p:txBody>
          </p:sp>
          <p:sp>
            <p:nvSpPr>
              <p:cNvPr id="12" name="object 5"/>
              <p:cNvSpPr txBox="1"/>
              <p:nvPr/>
            </p:nvSpPr>
            <p:spPr>
              <a:xfrm>
                <a:off x="177495" y="2420874"/>
                <a:ext cx="2322195" cy="169285"/>
              </a:xfrm>
              <a:prstGeom prst="rect">
                <a:avLst/>
              </a:prstGeom>
            </p:spPr>
            <p:txBody>
              <a:bodyPr vert="horz" wrap="square" lIns="0" tIns="13335" rIns="0" bIns="0" rtlCol="0">
                <a:spAutoFit/>
              </a:bodyPr>
              <a:lstStyle/>
              <a:p>
                <a:pPr marL="12700">
                  <a:lnSpc>
                    <a:spcPct val="100000"/>
                  </a:lnSpc>
                  <a:spcBef>
                    <a:spcPts val="105"/>
                  </a:spcBef>
                </a:pPr>
                <a:r>
                  <a:rPr sz="1300" dirty="0">
                    <a:solidFill>
                      <a:srgbClr val="263393"/>
                    </a:solidFill>
                    <a:latin typeface="Georgia"/>
                    <a:cs typeface="Georgia"/>
                  </a:rPr>
                  <a:t>What should I </a:t>
                </a:r>
                <a:r>
                  <a:rPr sz="1300" spc="-5" dirty="0">
                    <a:solidFill>
                      <a:srgbClr val="263393"/>
                    </a:solidFill>
                    <a:latin typeface="Georgia"/>
                    <a:cs typeface="Georgia"/>
                  </a:rPr>
                  <a:t>do to </a:t>
                </a:r>
                <a:r>
                  <a:rPr sz="1300" dirty="0">
                    <a:solidFill>
                      <a:srgbClr val="263393"/>
                    </a:solidFill>
                    <a:latin typeface="Georgia"/>
                    <a:cs typeface="Georgia"/>
                  </a:rPr>
                  <a:t>achieve my</a:t>
                </a:r>
                <a:r>
                  <a:rPr sz="1300" spc="-130" dirty="0">
                    <a:solidFill>
                      <a:srgbClr val="263393"/>
                    </a:solidFill>
                    <a:latin typeface="Georgia"/>
                    <a:cs typeface="Georgia"/>
                  </a:rPr>
                  <a:t> </a:t>
                </a:r>
                <a:r>
                  <a:rPr sz="1300" spc="-5" dirty="0">
                    <a:solidFill>
                      <a:srgbClr val="263393"/>
                    </a:solidFill>
                    <a:latin typeface="Georgia"/>
                    <a:cs typeface="Georgia"/>
                  </a:rPr>
                  <a:t>goal?</a:t>
                </a:r>
                <a:endParaRPr sz="1300" dirty="0">
                  <a:solidFill>
                    <a:srgbClr val="263393"/>
                  </a:solidFill>
                  <a:latin typeface="Georgia"/>
                  <a:cs typeface="Georgia"/>
                </a:endParaRPr>
              </a:p>
            </p:txBody>
          </p:sp>
          <p:sp>
            <p:nvSpPr>
              <p:cNvPr id="13" name="object 6"/>
              <p:cNvSpPr txBox="1"/>
              <p:nvPr/>
            </p:nvSpPr>
            <p:spPr>
              <a:xfrm>
                <a:off x="6574281" y="2283663"/>
                <a:ext cx="2350770" cy="486503"/>
              </a:xfrm>
              <a:prstGeom prst="rect">
                <a:avLst/>
              </a:prstGeom>
            </p:spPr>
            <p:txBody>
              <a:bodyPr vert="horz" wrap="square" lIns="0" tIns="13335" rIns="0" bIns="0" rtlCol="0">
                <a:spAutoFit/>
              </a:bodyPr>
              <a:lstStyle/>
              <a:p>
                <a:pPr marL="12700" marR="5080">
                  <a:lnSpc>
                    <a:spcPct val="100000"/>
                  </a:lnSpc>
                  <a:spcBef>
                    <a:spcPts val="105"/>
                  </a:spcBef>
                </a:pPr>
                <a:r>
                  <a:rPr sz="1300" spc="-5" dirty="0">
                    <a:solidFill>
                      <a:srgbClr val="263393"/>
                    </a:solidFill>
                    <a:latin typeface="Georgia"/>
                    <a:cs typeface="Georgia"/>
                  </a:rPr>
                  <a:t>Data products, data </a:t>
                </a:r>
                <a:r>
                  <a:rPr sz="1300" dirty="0">
                    <a:solidFill>
                      <a:srgbClr val="263393"/>
                    </a:solidFill>
                    <a:latin typeface="Georgia"/>
                    <a:cs typeface="Georgia"/>
                  </a:rPr>
                  <a:t>validated </a:t>
                </a:r>
                <a:r>
                  <a:rPr sz="1300" spc="-5" dirty="0">
                    <a:solidFill>
                      <a:srgbClr val="263393"/>
                    </a:solidFill>
                    <a:latin typeface="Georgia"/>
                    <a:cs typeface="Georgia"/>
                  </a:rPr>
                  <a:t>actions,  increased success rate </a:t>
                </a:r>
                <a:r>
                  <a:rPr sz="1300" dirty="0">
                    <a:solidFill>
                      <a:srgbClr val="263393"/>
                    </a:solidFill>
                    <a:latin typeface="Georgia"/>
                    <a:cs typeface="Georgia"/>
                  </a:rPr>
                  <a:t>of </a:t>
                </a:r>
                <a:r>
                  <a:rPr sz="1300" spc="-5" dirty="0">
                    <a:solidFill>
                      <a:srgbClr val="263393"/>
                    </a:solidFill>
                    <a:latin typeface="Georgia"/>
                    <a:cs typeface="Georgia"/>
                  </a:rPr>
                  <a:t>strategic  </a:t>
                </a:r>
                <a:r>
                  <a:rPr sz="1300" dirty="0">
                    <a:solidFill>
                      <a:srgbClr val="263393"/>
                    </a:solidFill>
                    <a:latin typeface="Georgia"/>
                    <a:cs typeface="Georgia"/>
                  </a:rPr>
                  <a:t>initiatives</a:t>
                </a:r>
              </a:p>
            </p:txBody>
          </p:sp>
          <p:sp>
            <p:nvSpPr>
              <p:cNvPr id="14" name="object 7"/>
              <p:cNvSpPr txBox="1"/>
              <p:nvPr/>
            </p:nvSpPr>
            <p:spPr>
              <a:xfrm>
                <a:off x="4243564" y="1684706"/>
                <a:ext cx="684530" cy="229780"/>
              </a:xfrm>
              <a:prstGeom prst="rect">
                <a:avLst/>
              </a:prstGeom>
            </p:spPr>
            <p:txBody>
              <a:bodyPr vert="horz" wrap="square" lIns="0" tIns="12700" rIns="0" bIns="0" rtlCol="0">
                <a:spAutoFit/>
              </a:bodyPr>
              <a:lstStyle/>
              <a:p>
                <a:pPr marL="12700">
                  <a:lnSpc>
                    <a:spcPct val="100000"/>
                  </a:lnSpc>
                  <a:spcBef>
                    <a:spcPts val="100"/>
                  </a:spcBef>
                </a:pPr>
                <a:r>
                  <a:rPr sz="1800" b="1" i="1" spc="-5" dirty="0">
                    <a:solidFill>
                      <a:srgbClr val="263393"/>
                    </a:solidFill>
                    <a:latin typeface="Georgia"/>
                    <a:cs typeface="Georgia"/>
                  </a:rPr>
                  <a:t>Mo</a:t>
                </a:r>
                <a:r>
                  <a:rPr sz="1800" b="1" i="1" spc="-10" dirty="0">
                    <a:solidFill>
                      <a:srgbClr val="263393"/>
                    </a:solidFill>
                    <a:latin typeface="Georgia"/>
                    <a:cs typeface="Georgia"/>
                  </a:rPr>
                  <a:t>d</a:t>
                </a:r>
                <a:r>
                  <a:rPr sz="1800" b="1" i="1" dirty="0">
                    <a:solidFill>
                      <a:srgbClr val="263393"/>
                    </a:solidFill>
                    <a:latin typeface="Georgia"/>
                    <a:cs typeface="Georgia"/>
                  </a:rPr>
                  <a:t>e</a:t>
                </a:r>
                <a:endParaRPr sz="1800" dirty="0">
                  <a:solidFill>
                    <a:srgbClr val="263393"/>
                  </a:solidFill>
                  <a:latin typeface="Georgia"/>
                  <a:cs typeface="Georgia"/>
                </a:endParaRPr>
              </a:p>
            </p:txBody>
          </p:sp>
          <p:sp>
            <p:nvSpPr>
              <p:cNvPr id="15" name="object 8"/>
              <p:cNvSpPr txBox="1"/>
              <p:nvPr/>
            </p:nvSpPr>
            <p:spPr>
              <a:xfrm>
                <a:off x="559409" y="1684706"/>
                <a:ext cx="2102485" cy="229780"/>
              </a:xfrm>
              <a:prstGeom prst="rect">
                <a:avLst/>
              </a:prstGeom>
            </p:spPr>
            <p:txBody>
              <a:bodyPr vert="horz" wrap="square" lIns="0" tIns="12700" rIns="0" bIns="0" rtlCol="0">
                <a:spAutoFit/>
              </a:bodyPr>
              <a:lstStyle/>
              <a:p>
                <a:pPr marL="12700">
                  <a:lnSpc>
                    <a:spcPct val="100000"/>
                  </a:lnSpc>
                  <a:spcBef>
                    <a:spcPts val="100"/>
                  </a:spcBef>
                </a:pPr>
                <a:r>
                  <a:rPr sz="1800" b="1" i="1" spc="-5" dirty="0">
                    <a:solidFill>
                      <a:srgbClr val="263393"/>
                    </a:solidFill>
                    <a:latin typeface="Georgia"/>
                    <a:cs typeface="Georgia"/>
                  </a:rPr>
                  <a:t>Approach </a:t>
                </a:r>
                <a:r>
                  <a:rPr sz="1800" b="1" i="1" dirty="0">
                    <a:solidFill>
                      <a:srgbClr val="263393"/>
                    </a:solidFill>
                    <a:latin typeface="Georgia"/>
                    <a:cs typeface="Georgia"/>
                  </a:rPr>
                  <a:t>to</a:t>
                </a:r>
                <a:r>
                  <a:rPr sz="1800" b="1" i="1" spc="-75" dirty="0">
                    <a:solidFill>
                      <a:srgbClr val="263393"/>
                    </a:solidFill>
                    <a:latin typeface="Georgia"/>
                    <a:cs typeface="Georgia"/>
                  </a:rPr>
                  <a:t> </a:t>
                </a:r>
                <a:r>
                  <a:rPr sz="1800" b="1" i="1" dirty="0">
                    <a:solidFill>
                      <a:srgbClr val="263393"/>
                    </a:solidFill>
                    <a:latin typeface="Georgia"/>
                    <a:cs typeface="Georgia"/>
                  </a:rPr>
                  <a:t>data</a:t>
                </a:r>
                <a:endParaRPr sz="1800" dirty="0">
                  <a:solidFill>
                    <a:srgbClr val="263393"/>
                  </a:solidFill>
                  <a:latin typeface="Georgia"/>
                  <a:cs typeface="Georgia"/>
                </a:endParaRPr>
              </a:p>
            </p:txBody>
          </p:sp>
          <p:sp>
            <p:nvSpPr>
              <p:cNvPr id="16" name="object 9"/>
              <p:cNvSpPr txBox="1"/>
              <p:nvPr/>
            </p:nvSpPr>
            <p:spPr>
              <a:xfrm>
                <a:off x="7632889" y="1705650"/>
                <a:ext cx="996315" cy="229780"/>
              </a:xfrm>
              <a:prstGeom prst="rect">
                <a:avLst/>
              </a:prstGeom>
            </p:spPr>
            <p:txBody>
              <a:bodyPr vert="horz" wrap="square" lIns="0" tIns="12700" rIns="0" bIns="0" rtlCol="0">
                <a:spAutoFit/>
              </a:bodyPr>
              <a:lstStyle/>
              <a:p>
                <a:pPr marL="12700">
                  <a:lnSpc>
                    <a:spcPct val="100000"/>
                  </a:lnSpc>
                  <a:spcBef>
                    <a:spcPts val="100"/>
                  </a:spcBef>
                </a:pPr>
                <a:r>
                  <a:rPr sz="1800" b="1" i="1" spc="-5" dirty="0">
                    <a:solidFill>
                      <a:srgbClr val="263393"/>
                    </a:solidFill>
                    <a:latin typeface="Georgia"/>
                    <a:cs typeface="Georgia"/>
                  </a:rPr>
                  <a:t>Benefits</a:t>
                </a:r>
                <a:endParaRPr sz="1800" dirty="0">
                  <a:solidFill>
                    <a:srgbClr val="263393"/>
                  </a:solidFill>
                  <a:latin typeface="Georgia"/>
                  <a:cs typeface="Georgia"/>
                </a:endParaRPr>
              </a:p>
            </p:txBody>
          </p:sp>
          <p:sp>
            <p:nvSpPr>
              <p:cNvPr id="17" name="object 11"/>
              <p:cNvSpPr txBox="1"/>
              <p:nvPr/>
            </p:nvSpPr>
            <p:spPr>
              <a:xfrm>
                <a:off x="616407" y="3134360"/>
                <a:ext cx="1579245" cy="169285"/>
              </a:xfrm>
              <a:prstGeom prst="rect">
                <a:avLst/>
              </a:prstGeom>
            </p:spPr>
            <p:txBody>
              <a:bodyPr vert="horz" wrap="square" lIns="0" tIns="13335" rIns="0" bIns="0" rtlCol="0">
                <a:spAutoFit/>
              </a:bodyPr>
              <a:lstStyle/>
              <a:p>
                <a:pPr marL="12700">
                  <a:lnSpc>
                    <a:spcPct val="100000"/>
                  </a:lnSpc>
                  <a:spcBef>
                    <a:spcPts val="105"/>
                  </a:spcBef>
                </a:pPr>
                <a:r>
                  <a:rPr sz="1300" dirty="0">
                    <a:solidFill>
                      <a:srgbClr val="263393"/>
                    </a:solidFill>
                    <a:latin typeface="Georgia"/>
                    <a:cs typeface="Georgia"/>
                  </a:rPr>
                  <a:t>What is </a:t>
                </a:r>
                <a:r>
                  <a:rPr sz="1300" spc="-5" dirty="0">
                    <a:solidFill>
                      <a:srgbClr val="263393"/>
                    </a:solidFill>
                    <a:latin typeface="Georgia"/>
                    <a:cs typeface="Georgia"/>
                  </a:rPr>
                  <a:t>likely to</a:t>
                </a:r>
                <a:r>
                  <a:rPr sz="1300" spc="-80" dirty="0">
                    <a:solidFill>
                      <a:srgbClr val="263393"/>
                    </a:solidFill>
                    <a:latin typeface="Georgia"/>
                    <a:cs typeface="Georgia"/>
                  </a:rPr>
                  <a:t> </a:t>
                </a:r>
                <a:r>
                  <a:rPr sz="1300" spc="-5" dirty="0">
                    <a:solidFill>
                      <a:srgbClr val="263393"/>
                    </a:solidFill>
                    <a:latin typeface="Georgia"/>
                    <a:cs typeface="Georgia"/>
                  </a:rPr>
                  <a:t>happen?</a:t>
                </a:r>
                <a:endParaRPr sz="1300" dirty="0">
                  <a:solidFill>
                    <a:srgbClr val="263393"/>
                  </a:solidFill>
                  <a:latin typeface="Georgia"/>
                  <a:cs typeface="Georgia"/>
                </a:endParaRPr>
              </a:p>
            </p:txBody>
          </p:sp>
          <p:sp>
            <p:nvSpPr>
              <p:cNvPr id="18" name="object 12"/>
              <p:cNvSpPr txBox="1"/>
              <p:nvPr/>
            </p:nvSpPr>
            <p:spPr>
              <a:xfrm>
                <a:off x="6833996" y="3015233"/>
                <a:ext cx="2047875" cy="327894"/>
              </a:xfrm>
              <a:prstGeom prst="rect">
                <a:avLst/>
              </a:prstGeom>
            </p:spPr>
            <p:txBody>
              <a:bodyPr vert="horz" wrap="square" lIns="0" tIns="13335" rIns="0" bIns="0" rtlCol="0">
                <a:spAutoFit/>
              </a:bodyPr>
              <a:lstStyle/>
              <a:p>
                <a:pPr marL="12700" marR="5080">
                  <a:lnSpc>
                    <a:spcPct val="100000"/>
                  </a:lnSpc>
                  <a:spcBef>
                    <a:spcPts val="105"/>
                  </a:spcBef>
                </a:pPr>
                <a:r>
                  <a:rPr sz="1300" dirty="0">
                    <a:solidFill>
                      <a:srgbClr val="263393"/>
                    </a:solidFill>
                    <a:latin typeface="Georgia"/>
                    <a:cs typeface="Georgia"/>
                  </a:rPr>
                  <a:t>Support for </a:t>
                </a:r>
                <a:r>
                  <a:rPr sz="1300" spc="-5" dirty="0">
                    <a:solidFill>
                      <a:srgbClr val="263393"/>
                    </a:solidFill>
                    <a:latin typeface="Georgia"/>
                    <a:cs typeface="Georgia"/>
                  </a:rPr>
                  <a:t>strategic </a:t>
                </a:r>
                <a:r>
                  <a:rPr sz="1300" dirty="0">
                    <a:solidFill>
                      <a:srgbClr val="263393"/>
                    </a:solidFill>
                    <a:latin typeface="Georgia"/>
                    <a:cs typeface="Georgia"/>
                  </a:rPr>
                  <a:t>initiatives,  </a:t>
                </a:r>
                <a:r>
                  <a:rPr sz="1300" spc="-5" dirty="0">
                    <a:solidFill>
                      <a:srgbClr val="263393"/>
                    </a:solidFill>
                    <a:latin typeface="Georgia"/>
                    <a:cs typeface="Georgia"/>
                  </a:rPr>
                  <a:t>forward looking decision</a:t>
                </a:r>
                <a:r>
                  <a:rPr sz="1300" spc="-40" dirty="0">
                    <a:solidFill>
                      <a:srgbClr val="263393"/>
                    </a:solidFill>
                    <a:latin typeface="Georgia"/>
                    <a:cs typeface="Georgia"/>
                  </a:rPr>
                  <a:t> </a:t>
                </a:r>
                <a:r>
                  <a:rPr sz="1300" spc="-5" dirty="0">
                    <a:solidFill>
                      <a:srgbClr val="263393"/>
                    </a:solidFill>
                    <a:latin typeface="Georgia"/>
                    <a:cs typeface="Georgia"/>
                  </a:rPr>
                  <a:t>making</a:t>
                </a:r>
                <a:endParaRPr sz="1300" dirty="0">
                  <a:solidFill>
                    <a:srgbClr val="263393"/>
                  </a:solidFill>
                  <a:latin typeface="Georgia"/>
                  <a:cs typeface="Georgia"/>
                </a:endParaRPr>
              </a:p>
            </p:txBody>
          </p:sp>
          <p:sp>
            <p:nvSpPr>
              <p:cNvPr id="19" name="object 15"/>
              <p:cNvSpPr txBox="1"/>
              <p:nvPr/>
            </p:nvSpPr>
            <p:spPr>
              <a:xfrm>
                <a:off x="569468" y="4457446"/>
                <a:ext cx="1104265" cy="168776"/>
              </a:xfrm>
              <a:prstGeom prst="rect">
                <a:avLst/>
              </a:prstGeom>
            </p:spPr>
            <p:txBody>
              <a:bodyPr vert="horz" wrap="square" lIns="0" tIns="12700" rIns="0" bIns="0" rtlCol="0">
                <a:spAutoFit/>
              </a:bodyPr>
              <a:lstStyle/>
              <a:p>
                <a:pPr marL="12700">
                  <a:lnSpc>
                    <a:spcPct val="100000"/>
                  </a:lnSpc>
                  <a:spcBef>
                    <a:spcPts val="100"/>
                  </a:spcBef>
                </a:pPr>
                <a:r>
                  <a:rPr sz="1300" dirty="0">
                    <a:solidFill>
                      <a:srgbClr val="263393"/>
                    </a:solidFill>
                    <a:latin typeface="Georgia"/>
                    <a:cs typeface="Georgia"/>
                  </a:rPr>
                  <a:t>What </a:t>
                </a:r>
                <a:r>
                  <a:rPr sz="1300" spc="-5" dirty="0">
                    <a:solidFill>
                      <a:srgbClr val="263393"/>
                    </a:solidFill>
                    <a:latin typeface="Georgia"/>
                    <a:cs typeface="Georgia"/>
                  </a:rPr>
                  <a:t>happened</a:t>
                </a:r>
                <a:r>
                  <a:rPr sz="1300" spc="-90" dirty="0">
                    <a:solidFill>
                      <a:srgbClr val="263393"/>
                    </a:solidFill>
                    <a:latin typeface="Georgia"/>
                    <a:cs typeface="Georgia"/>
                  </a:rPr>
                  <a:t> </a:t>
                </a:r>
                <a:r>
                  <a:rPr sz="1300" dirty="0">
                    <a:solidFill>
                      <a:srgbClr val="263393"/>
                    </a:solidFill>
                    <a:latin typeface="Georgia"/>
                    <a:cs typeface="Georgia"/>
                  </a:rPr>
                  <a:t>?</a:t>
                </a:r>
              </a:p>
            </p:txBody>
          </p:sp>
          <p:sp>
            <p:nvSpPr>
              <p:cNvPr id="20" name="object 16"/>
              <p:cNvSpPr txBox="1"/>
              <p:nvPr/>
            </p:nvSpPr>
            <p:spPr>
              <a:xfrm>
                <a:off x="7379589" y="4413884"/>
                <a:ext cx="1678939" cy="327386"/>
              </a:xfrm>
              <a:prstGeom prst="rect">
                <a:avLst/>
              </a:prstGeom>
            </p:spPr>
            <p:txBody>
              <a:bodyPr vert="horz" wrap="square" lIns="0" tIns="12700" rIns="0" bIns="0" rtlCol="0">
                <a:spAutoFit/>
              </a:bodyPr>
              <a:lstStyle/>
              <a:p>
                <a:pPr marL="12700">
                  <a:lnSpc>
                    <a:spcPct val="100000"/>
                  </a:lnSpc>
                  <a:spcBef>
                    <a:spcPts val="100"/>
                  </a:spcBef>
                </a:pPr>
                <a:r>
                  <a:rPr sz="1300" spc="-5" dirty="0">
                    <a:solidFill>
                      <a:srgbClr val="263393"/>
                    </a:solidFill>
                    <a:latin typeface="Georgia"/>
                    <a:cs typeface="Georgia"/>
                  </a:rPr>
                  <a:t>Marginal business</a:t>
                </a:r>
                <a:r>
                  <a:rPr sz="1300" spc="-55" dirty="0">
                    <a:solidFill>
                      <a:srgbClr val="263393"/>
                    </a:solidFill>
                    <a:latin typeface="Georgia"/>
                    <a:cs typeface="Georgia"/>
                  </a:rPr>
                  <a:t> </a:t>
                </a:r>
                <a:r>
                  <a:rPr sz="1300" spc="-5" dirty="0">
                    <a:solidFill>
                      <a:srgbClr val="263393"/>
                    </a:solidFill>
                    <a:latin typeface="Georgia"/>
                    <a:cs typeface="Georgia"/>
                  </a:rPr>
                  <a:t>benefits</a:t>
                </a:r>
                <a:r>
                  <a:rPr sz="1300" dirty="0">
                    <a:solidFill>
                      <a:srgbClr val="263393"/>
                    </a:solidFill>
                    <a:latin typeface="Georgia"/>
                    <a:cs typeface="Georgia"/>
                  </a:rPr>
                  <a:t>, </a:t>
                </a:r>
                <a:r>
                  <a:rPr sz="1300" spc="-5" dirty="0">
                    <a:solidFill>
                      <a:srgbClr val="263393"/>
                    </a:solidFill>
                    <a:latin typeface="Georgia"/>
                    <a:cs typeface="Georgia"/>
                  </a:rPr>
                  <a:t>process gap</a:t>
                </a:r>
                <a:r>
                  <a:rPr sz="1300" spc="-45" dirty="0">
                    <a:solidFill>
                      <a:srgbClr val="263393"/>
                    </a:solidFill>
                    <a:latin typeface="Georgia"/>
                    <a:cs typeface="Georgia"/>
                  </a:rPr>
                  <a:t> </a:t>
                </a:r>
                <a:r>
                  <a:rPr sz="1300" spc="-5" dirty="0">
                    <a:solidFill>
                      <a:srgbClr val="263393"/>
                    </a:solidFill>
                    <a:latin typeface="Georgia"/>
                    <a:cs typeface="Georgia"/>
                  </a:rPr>
                  <a:t>identification</a:t>
                </a:r>
                <a:endParaRPr sz="1300" dirty="0">
                  <a:solidFill>
                    <a:srgbClr val="263393"/>
                  </a:solidFill>
                  <a:latin typeface="Georgia"/>
                  <a:cs typeface="Georgia"/>
                </a:endParaRPr>
              </a:p>
            </p:txBody>
          </p:sp>
          <p:sp>
            <p:nvSpPr>
              <p:cNvPr id="21" name="object 17"/>
              <p:cNvSpPr txBox="1"/>
              <p:nvPr/>
            </p:nvSpPr>
            <p:spPr>
              <a:xfrm>
                <a:off x="599643" y="3805554"/>
                <a:ext cx="1233170" cy="168776"/>
              </a:xfrm>
              <a:prstGeom prst="rect">
                <a:avLst/>
              </a:prstGeom>
            </p:spPr>
            <p:txBody>
              <a:bodyPr vert="horz" wrap="square" lIns="0" tIns="12700" rIns="0" bIns="0" rtlCol="0">
                <a:spAutoFit/>
              </a:bodyPr>
              <a:lstStyle/>
              <a:p>
                <a:pPr marL="12700">
                  <a:lnSpc>
                    <a:spcPct val="100000"/>
                  </a:lnSpc>
                  <a:spcBef>
                    <a:spcPts val="100"/>
                  </a:spcBef>
                </a:pPr>
                <a:r>
                  <a:rPr sz="1300" dirty="0">
                    <a:solidFill>
                      <a:srgbClr val="263393"/>
                    </a:solidFill>
                    <a:latin typeface="Georgia"/>
                    <a:cs typeface="Georgia"/>
                  </a:rPr>
                  <a:t>Why </a:t>
                </a:r>
                <a:r>
                  <a:rPr sz="1300" spc="-5" dirty="0">
                    <a:solidFill>
                      <a:srgbClr val="263393"/>
                    </a:solidFill>
                    <a:latin typeface="Georgia"/>
                    <a:cs typeface="Georgia"/>
                  </a:rPr>
                  <a:t>did </a:t>
                </a:r>
                <a:r>
                  <a:rPr sz="1300" dirty="0">
                    <a:solidFill>
                      <a:srgbClr val="263393"/>
                    </a:solidFill>
                    <a:latin typeface="Georgia"/>
                    <a:cs typeface="Georgia"/>
                  </a:rPr>
                  <a:t>it</a:t>
                </a:r>
                <a:r>
                  <a:rPr sz="1300" spc="-70" dirty="0">
                    <a:solidFill>
                      <a:srgbClr val="263393"/>
                    </a:solidFill>
                    <a:latin typeface="Georgia"/>
                    <a:cs typeface="Georgia"/>
                  </a:rPr>
                  <a:t> </a:t>
                </a:r>
                <a:r>
                  <a:rPr sz="1300" spc="-5" dirty="0">
                    <a:solidFill>
                      <a:srgbClr val="263393"/>
                    </a:solidFill>
                    <a:latin typeface="Georgia"/>
                    <a:cs typeface="Georgia"/>
                  </a:rPr>
                  <a:t>happen?</a:t>
                </a:r>
                <a:endParaRPr sz="1300" dirty="0">
                  <a:solidFill>
                    <a:srgbClr val="263393"/>
                  </a:solidFill>
                  <a:latin typeface="Georgia"/>
                  <a:cs typeface="Georgia"/>
                </a:endParaRPr>
              </a:p>
            </p:txBody>
          </p:sp>
          <p:sp>
            <p:nvSpPr>
              <p:cNvPr id="22" name="object 18"/>
              <p:cNvSpPr txBox="1"/>
              <p:nvPr/>
            </p:nvSpPr>
            <p:spPr>
              <a:xfrm>
                <a:off x="7229982" y="3714750"/>
                <a:ext cx="1802130" cy="485994"/>
              </a:xfrm>
              <a:prstGeom prst="rect">
                <a:avLst/>
              </a:prstGeom>
            </p:spPr>
            <p:txBody>
              <a:bodyPr vert="horz" wrap="square" lIns="0" tIns="12700" rIns="0" bIns="0" rtlCol="0">
                <a:spAutoFit/>
              </a:bodyPr>
              <a:lstStyle/>
              <a:p>
                <a:pPr marL="12700" marR="5080">
                  <a:lnSpc>
                    <a:spcPct val="100000"/>
                  </a:lnSpc>
                  <a:spcBef>
                    <a:spcPts val="100"/>
                  </a:spcBef>
                </a:pPr>
                <a:r>
                  <a:rPr sz="1300" dirty="0">
                    <a:solidFill>
                      <a:srgbClr val="263393"/>
                    </a:solidFill>
                    <a:latin typeface="Georgia"/>
                    <a:cs typeface="Georgia"/>
                  </a:rPr>
                  <a:t>Significant improvements  from status </a:t>
                </a:r>
                <a:r>
                  <a:rPr sz="1300" spc="-5" dirty="0">
                    <a:solidFill>
                      <a:srgbClr val="263393"/>
                    </a:solidFill>
                    <a:latin typeface="Georgia"/>
                    <a:cs typeface="Georgia"/>
                  </a:rPr>
                  <a:t>quo, data</a:t>
                </a:r>
                <a:r>
                  <a:rPr sz="1300" spc="-125" dirty="0">
                    <a:solidFill>
                      <a:srgbClr val="263393"/>
                    </a:solidFill>
                    <a:latin typeface="Georgia"/>
                    <a:cs typeface="Georgia"/>
                  </a:rPr>
                  <a:t> </a:t>
                </a:r>
                <a:r>
                  <a:rPr sz="1300" spc="-5" dirty="0">
                    <a:solidFill>
                      <a:srgbClr val="263393"/>
                    </a:solidFill>
                    <a:latin typeface="Georgia"/>
                    <a:cs typeface="Georgia"/>
                  </a:rPr>
                  <a:t>backed  management</a:t>
                </a:r>
                <a:endParaRPr sz="1300" dirty="0">
                  <a:solidFill>
                    <a:srgbClr val="263393"/>
                  </a:solidFill>
                  <a:latin typeface="Georgia"/>
                  <a:cs typeface="Georgia"/>
                </a:endParaRPr>
              </a:p>
            </p:txBody>
          </p:sp>
        </p:grpSp>
        <p:sp>
          <p:nvSpPr>
            <p:cNvPr id="6" name="object 4"/>
            <p:cNvSpPr txBox="1"/>
            <p:nvPr/>
          </p:nvSpPr>
          <p:spPr>
            <a:xfrm>
              <a:off x="6369782" y="2093901"/>
              <a:ext cx="2194560" cy="259045"/>
            </a:xfrm>
            <a:prstGeom prst="rect">
              <a:avLst/>
            </a:prstGeom>
          </p:spPr>
          <p:txBody>
            <a:bodyPr vert="horz" wrap="square" lIns="0" tIns="12700" rIns="0" bIns="0" rtlCol="0">
              <a:spAutoFit/>
            </a:bodyPr>
            <a:lstStyle/>
            <a:p>
              <a:pPr marL="12700">
                <a:lnSpc>
                  <a:spcPct val="100000"/>
                </a:lnSpc>
                <a:spcBef>
                  <a:spcPts val="100"/>
                </a:spcBef>
              </a:pPr>
              <a:r>
                <a:rPr sz="1600" b="1" i="1" spc="-5" dirty="0">
                  <a:solidFill>
                    <a:srgbClr val="FFFFFF"/>
                  </a:solidFill>
                  <a:latin typeface="Georgia"/>
                  <a:cs typeface="Georgia"/>
                </a:rPr>
                <a:t>Proactive</a:t>
              </a:r>
              <a:r>
                <a:rPr sz="1600" b="1" i="1" spc="-75" dirty="0">
                  <a:solidFill>
                    <a:srgbClr val="FFFFFF"/>
                  </a:solidFill>
                  <a:latin typeface="Georgia"/>
                  <a:cs typeface="Georgia"/>
                </a:rPr>
                <a:t> </a:t>
              </a:r>
              <a:r>
                <a:rPr sz="1600" b="1" i="1" dirty="0">
                  <a:solidFill>
                    <a:srgbClr val="FFFFFF"/>
                  </a:solidFill>
                  <a:latin typeface="Georgia"/>
                  <a:cs typeface="Georgia"/>
                </a:rPr>
                <a:t>Action</a:t>
              </a:r>
              <a:endParaRPr sz="1600" dirty="0">
                <a:latin typeface="Georgia"/>
                <a:cs typeface="Georgia"/>
              </a:endParaRPr>
            </a:p>
          </p:txBody>
        </p:sp>
        <p:sp>
          <p:nvSpPr>
            <p:cNvPr id="7" name="object 10"/>
            <p:cNvSpPr txBox="1"/>
            <p:nvPr/>
          </p:nvSpPr>
          <p:spPr>
            <a:xfrm>
              <a:off x="6426932" y="2944464"/>
              <a:ext cx="2194560" cy="259045"/>
            </a:xfrm>
            <a:prstGeom prst="rect">
              <a:avLst/>
            </a:prstGeom>
          </p:spPr>
          <p:txBody>
            <a:bodyPr vert="horz" wrap="square" lIns="0" tIns="12700" rIns="0" bIns="0" rtlCol="0">
              <a:spAutoFit/>
            </a:bodyPr>
            <a:lstStyle/>
            <a:p>
              <a:pPr marL="12700">
                <a:lnSpc>
                  <a:spcPct val="100000"/>
                </a:lnSpc>
                <a:spcBef>
                  <a:spcPts val="100"/>
                </a:spcBef>
              </a:pPr>
              <a:r>
                <a:rPr sz="1600" b="1" i="1" spc="-5" dirty="0">
                  <a:solidFill>
                    <a:srgbClr val="FFFFFF"/>
                  </a:solidFill>
                  <a:latin typeface="Georgia"/>
                  <a:cs typeface="Georgia"/>
                </a:rPr>
                <a:t>Proactive</a:t>
              </a:r>
              <a:r>
                <a:rPr sz="1600" b="1" i="1" spc="-55" dirty="0">
                  <a:solidFill>
                    <a:srgbClr val="FFFFFF"/>
                  </a:solidFill>
                  <a:latin typeface="Georgia"/>
                  <a:cs typeface="Georgia"/>
                </a:rPr>
                <a:t> </a:t>
              </a:r>
              <a:r>
                <a:rPr sz="1600" b="1" i="1" spc="-5" dirty="0">
                  <a:solidFill>
                    <a:srgbClr val="FFFFFF"/>
                  </a:solidFill>
                  <a:latin typeface="Georgia"/>
                  <a:cs typeface="Georgia"/>
                </a:rPr>
                <a:t>Decisions</a:t>
              </a:r>
              <a:endParaRPr sz="1600" dirty="0">
                <a:latin typeface="Georgia"/>
                <a:cs typeface="Georgia"/>
              </a:endParaRPr>
            </a:p>
          </p:txBody>
        </p:sp>
        <p:sp>
          <p:nvSpPr>
            <p:cNvPr id="8" name="object 13"/>
            <p:cNvSpPr txBox="1"/>
            <p:nvPr/>
          </p:nvSpPr>
          <p:spPr>
            <a:xfrm>
              <a:off x="7253973" y="3613396"/>
              <a:ext cx="2194560" cy="505267"/>
            </a:xfrm>
            <a:prstGeom prst="rect">
              <a:avLst/>
            </a:prstGeom>
          </p:spPr>
          <p:txBody>
            <a:bodyPr vert="horz" wrap="square" lIns="0" tIns="12700" rIns="0" bIns="0" rtlCol="0">
              <a:spAutoFit/>
            </a:bodyPr>
            <a:lstStyle/>
            <a:p>
              <a:pPr marL="12700">
                <a:lnSpc>
                  <a:spcPct val="100000"/>
                </a:lnSpc>
                <a:spcBef>
                  <a:spcPts val="100"/>
                </a:spcBef>
              </a:pPr>
              <a:r>
                <a:rPr sz="1600" b="1" i="1" spc="-5" dirty="0">
                  <a:solidFill>
                    <a:srgbClr val="FFFFFF"/>
                  </a:solidFill>
                  <a:latin typeface="Georgia"/>
                  <a:cs typeface="Georgia"/>
                </a:rPr>
                <a:t>Proactive</a:t>
              </a:r>
              <a:r>
                <a:rPr sz="1600" b="1" i="1" spc="-45" dirty="0">
                  <a:solidFill>
                    <a:srgbClr val="FFFFFF"/>
                  </a:solidFill>
                  <a:latin typeface="Georgia"/>
                  <a:cs typeface="Georgia"/>
                </a:rPr>
                <a:t> </a:t>
              </a:r>
              <a:r>
                <a:rPr sz="1600" b="1" i="1" spc="-5" dirty="0">
                  <a:solidFill>
                    <a:srgbClr val="FFFFFF"/>
                  </a:solidFill>
                  <a:latin typeface="Georgia"/>
                  <a:cs typeface="Georgia"/>
                </a:rPr>
                <a:t>Consumption</a:t>
              </a:r>
              <a:endParaRPr sz="1600" dirty="0">
                <a:latin typeface="Georgia"/>
                <a:cs typeface="Georgia"/>
              </a:endParaRPr>
            </a:p>
          </p:txBody>
        </p:sp>
        <p:sp>
          <p:nvSpPr>
            <p:cNvPr id="9" name="object 14"/>
            <p:cNvSpPr txBox="1"/>
            <p:nvPr/>
          </p:nvSpPr>
          <p:spPr>
            <a:xfrm>
              <a:off x="8351253" y="4706061"/>
              <a:ext cx="2194560" cy="259045"/>
            </a:xfrm>
            <a:prstGeom prst="rect">
              <a:avLst/>
            </a:prstGeom>
          </p:spPr>
          <p:txBody>
            <a:bodyPr vert="horz" wrap="square" lIns="0" tIns="12700" rIns="0" bIns="0" rtlCol="0">
              <a:spAutoFit/>
            </a:bodyPr>
            <a:lstStyle/>
            <a:p>
              <a:pPr marL="12700">
                <a:lnSpc>
                  <a:spcPct val="100000"/>
                </a:lnSpc>
                <a:spcBef>
                  <a:spcPts val="100"/>
                </a:spcBef>
              </a:pPr>
              <a:r>
                <a:rPr sz="1600" b="1" i="1" spc="-5" dirty="0">
                  <a:solidFill>
                    <a:srgbClr val="FFFFFF"/>
                  </a:solidFill>
                  <a:latin typeface="Georgia"/>
                  <a:cs typeface="Georgia"/>
                </a:rPr>
                <a:t>Active</a:t>
              </a:r>
              <a:endParaRPr sz="1600" dirty="0">
                <a:latin typeface="Georgia"/>
                <a:cs typeface="Georgia"/>
              </a:endParaRPr>
            </a:p>
          </p:txBody>
        </p:sp>
      </p:grpSp>
    </p:spTree>
    <p:extLst>
      <p:ext uri="{BB962C8B-B14F-4D97-AF65-F5344CB8AC3E}">
        <p14:creationId xmlns:p14="http://schemas.microsoft.com/office/powerpoint/2010/main" val="2027577429"/>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pic>
        <p:nvPicPr>
          <p:cNvPr id="11" name="Picture 10">
            <a:extLst>
              <a:ext uri="{FF2B5EF4-FFF2-40B4-BE49-F238E27FC236}">
                <a16:creationId xmlns:a16="http://schemas.microsoft.com/office/drawing/2014/main" id="{526ECFE7-8279-0C03-3D26-B7A19B82A2CA}"/>
              </a:ext>
            </a:extLst>
          </p:cNvPr>
          <p:cNvPicPr>
            <a:picLocks noChangeAspect="1"/>
          </p:cNvPicPr>
          <p:nvPr/>
        </p:nvPicPr>
        <p:blipFill>
          <a:blip r:embed="rId2"/>
          <a:stretch>
            <a:fillRect/>
          </a:stretch>
        </p:blipFill>
        <p:spPr>
          <a:xfrm>
            <a:off x="399090" y="1472812"/>
            <a:ext cx="11393820" cy="4687880"/>
          </a:xfrm>
          <a:prstGeom prst="rect">
            <a:avLst/>
          </a:prstGeom>
        </p:spPr>
      </p:pic>
    </p:spTree>
    <p:extLst>
      <p:ext uri="{BB962C8B-B14F-4D97-AF65-F5344CB8AC3E}">
        <p14:creationId xmlns:p14="http://schemas.microsoft.com/office/powerpoint/2010/main" val="1220080844"/>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pic>
        <p:nvPicPr>
          <p:cNvPr id="4" name="Picture 3">
            <a:extLst>
              <a:ext uri="{FF2B5EF4-FFF2-40B4-BE49-F238E27FC236}">
                <a16:creationId xmlns:a16="http://schemas.microsoft.com/office/drawing/2014/main" id="{9709F68F-8AF6-9C51-6029-2AEFAF4E476C}"/>
              </a:ext>
            </a:extLst>
          </p:cNvPr>
          <p:cNvPicPr>
            <a:picLocks noChangeAspect="1"/>
          </p:cNvPicPr>
          <p:nvPr/>
        </p:nvPicPr>
        <p:blipFill>
          <a:blip r:embed="rId2"/>
          <a:stretch>
            <a:fillRect/>
          </a:stretch>
        </p:blipFill>
        <p:spPr>
          <a:xfrm>
            <a:off x="240913" y="1385853"/>
            <a:ext cx="11710173" cy="4700840"/>
          </a:xfrm>
          <a:prstGeom prst="rect">
            <a:avLst/>
          </a:prstGeom>
        </p:spPr>
      </p:pic>
    </p:spTree>
    <p:extLst>
      <p:ext uri="{BB962C8B-B14F-4D97-AF65-F5344CB8AC3E}">
        <p14:creationId xmlns:p14="http://schemas.microsoft.com/office/powerpoint/2010/main" val="1501809507"/>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pic>
        <p:nvPicPr>
          <p:cNvPr id="5" name="Picture 4">
            <a:extLst>
              <a:ext uri="{FF2B5EF4-FFF2-40B4-BE49-F238E27FC236}">
                <a16:creationId xmlns:a16="http://schemas.microsoft.com/office/drawing/2014/main" id="{BAD0B486-E58D-ECB1-8E4D-3D3D1192490D}"/>
              </a:ext>
            </a:extLst>
          </p:cNvPr>
          <p:cNvPicPr>
            <a:picLocks noChangeAspect="1"/>
          </p:cNvPicPr>
          <p:nvPr/>
        </p:nvPicPr>
        <p:blipFill>
          <a:blip r:embed="rId2"/>
          <a:stretch>
            <a:fillRect/>
          </a:stretch>
        </p:blipFill>
        <p:spPr>
          <a:xfrm>
            <a:off x="318025" y="1333209"/>
            <a:ext cx="11555950" cy="4813752"/>
          </a:xfrm>
          <a:prstGeom prst="rect">
            <a:avLst/>
          </a:prstGeom>
        </p:spPr>
      </p:pic>
    </p:spTree>
    <p:extLst>
      <p:ext uri="{BB962C8B-B14F-4D97-AF65-F5344CB8AC3E}">
        <p14:creationId xmlns:p14="http://schemas.microsoft.com/office/powerpoint/2010/main" val="2850461976"/>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pic>
        <p:nvPicPr>
          <p:cNvPr id="4" name="Picture 3">
            <a:extLst>
              <a:ext uri="{FF2B5EF4-FFF2-40B4-BE49-F238E27FC236}">
                <a16:creationId xmlns:a16="http://schemas.microsoft.com/office/drawing/2014/main" id="{AD040EA6-9250-48C8-FFA8-5D27F2FB3D1E}"/>
              </a:ext>
            </a:extLst>
          </p:cNvPr>
          <p:cNvPicPr>
            <a:picLocks noChangeAspect="1"/>
          </p:cNvPicPr>
          <p:nvPr/>
        </p:nvPicPr>
        <p:blipFill>
          <a:blip r:embed="rId2"/>
          <a:stretch>
            <a:fillRect/>
          </a:stretch>
        </p:blipFill>
        <p:spPr>
          <a:xfrm>
            <a:off x="318760" y="1385853"/>
            <a:ext cx="11554480" cy="4734398"/>
          </a:xfrm>
          <a:prstGeom prst="rect">
            <a:avLst/>
          </a:prstGeom>
        </p:spPr>
      </p:pic>
    </p:spTree>
    <p:extLst>
      <p:ext uri="{BB962C8B-B14F-4D97-AF65-F5344CB8AC3E}">
        <p14:creationId xmlns:p14="http://schemas.microsoft.com/office/powerpoint/2010/main" val="442659781"/>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Regression</a:t>
            </a:r>
            <a:endParaRPr lang="en-US" dirty="0"/>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322038" y="3052971"/>
            <a:ext cx="7362017" cy="2045175"/>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Regression is all about predicting a continuous output variable based on one or more input variables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Predict the price of a used car from factors like the car's age, mileage, and brand</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solidFill>
              <a:schemeClr val="accent1"/>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Regression</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Clustering</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Forecasting</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Classification</a:t>
              </a:r>
              <a:endParaRPr lang="en-US" dirty="0"/>
            </a:p>
          </p:txBody>
        </p:sp>
      </p:grpSp>
      <p:pic>
        <p:nvPicPr>
          <p:cNvPr id="6" name="Picture 5">
            <a:extLst>
              <a:ext uri="{FF2B5EF4-FFF2-40B4-BE49-F238E27FC236}">
                <a16:creationId xmlns:a16="http://schemas.microsoft.com/office/drawing/2014/main" id="{C528AC24-6EAF-4B3A-D045-21AF6A7B225F}"/>
              </a:ext>
            </a:extLst>
          </p:cNvPr>
          <p:cNvPicPr>
            <a:picLocks noChangeAspect="1"/>
          </p:cNvPicPr>
          <p:nvPr/>
        </p:nvPicPr>
        <p:blipFill>
          <a:blip r:embed="rId2"/>
          <a:stretch>
            <a:fillRect/>
          </a:stretch>
        </p:blipFill>
        <p:spPr>
          <a:xfrm>
            <a:off x="343007" y="2372810"/>
            <a:ext cx="3593939" cy="3593939"/>
          </a:xfrm>
          <a:prstGeom prst="rect">
            <a:avLst/>
          </a:prstGeom>
        </p:spPr>
      </p:pic>
    </p:spTree>
    <p:extLst>
      <p:ext uri="{BB962C8B-B14F-4D97-AF65-F5344CB8AC3E}">
        <p14:creationId xmlns:p14="http://schemas.microsoft.com/office/powerpoint/2010/main" val="1574204469"/>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Classification</a:t>
            </a:r>
            <a:endParaRPr lang="en-US" dirty="0"/>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322038" y="3112134"/>
            <a:ext cx="7362017" cy="1583510"/>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Classification is used when we want to predict a categorical output</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A bank might want to determine whether a loan applicant is high-risk or low-risk</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Regression</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Clustering</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Forecasting</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accent1"/>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Classification</a:t>
              </a:r>
              <a:endParaRPr lang="en-US" dirty="0"/>
            </a:p>
          </p:txBody>
        </p:sp>
      </p:grpSp>
      <p:pic>
        <p:nvPicPr>
          <p:cNvPr id="5" name="Picture 4">
            <a:extLst>
              <a:ext uri="{FF2B5EF4-FFF2-40B4-BE49-F238E27FC236}">
                <a16:creationId xmlns:a16="http://schemas.microsoft.com/office/drawing/2014/main" id="{744EFBBC-69FD-6462-006E-99880CB7C3D9}"/>
              </a:ext>
            </a:extLst>
          </p:cNvPr>
          <p:cNvPicPr>
            <a:picLocks noChangeAspect="1"/>
          </p:cNvPicPr>
          <p:nvPr/>
        </p:nvPicPr>
        <p:blipFill>
          <a:blip r:embed="rId2"/>
          <a:stretch>
            <a:fillRect/>
          </a:stretch>
        </p:blipFill>
        <p:spPr>
          <a:xfrm>
            <a:off x="676155" y="2377373"/>
            <a:ext cx="3429000" cy="3429000"/>
          </a:xfrm>
          <a:prstGeom prst="rect">
            <a:avLst/>
          </a:prstGeom>
        </p:spPr>
      </p:pic>
    </p:spTree>
    <p:extLst>
      <p:ext uri="{BB962C8B-B14F-4D97-AF65-F5344CB8AC3E}">
        <p14:creationId xmlns:p14="http://schemas.microsoft.com/office/powerpoint/2010/main" val="1516489851"/>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Forecasting</a:t>
            </a:r>
            <a:endParaRPr lang="en-US" dirty="0"/>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322038" y="3283804"/>
            <a:ext cx="7362017" cy="1121846"/>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Forecasting is predicting future events based on historical data</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A retail store might forecast future sales</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Regression</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Clustering</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accent1"/>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Forecasting</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Classification</a:t>
              </a:r>
              <a:endParaRPr lang="en-US" dirty="0"/>
            </a:p>
          </p:txBody>
        </p:sp>
      </p:grpSp>
      <p:pic>
        <p:nvPicPr>
          <p:cNvPr id="5" name="Picture 4">
            <a:extLst>
              <a:ext uri="{FF2B5EF4-FFF2-40B4-BE49-F238E27FC236}">
                <a16:creationId xmlns:a16="http://schemas.microsoft.com/office/drawing/2014/main" id="{22D59F77-6B03-BA0B-741F-BE6B212D421F}"/>
              </a:ext>
            </a:extLst>
          </p:cNvPr>
          <p:cNvPicPr>
            <a:picLocks noChangeAspect="1"/>
          </p:cNvPicPr>
          <p:nvPr/>
        </p:nvPicPr>
        <p:blipFill>
          <a:blip r:embed="rId2"/>
          <a:stretch>
            <a:fillRect/>
          </a:stretch>
        </p:blipFill>
        <p:spPr>
          <a:xfrm>
            <a:off x="507945" y="2399152"/>
            <a:ext cx="3265025" cy="3265025"/>
          </a:xfrm>
          <a:prstGeom prst="rect">
            <a:avLst/>
          </a:prstGeom>
        </p:spPr>
      </p:pic>
    </p:spTree>
    <p:extLst>
      <p:ext uri="{BB962C8B-B14F-4D97-AF65-F5344CB8AC3E}">
        <p14:creationId xmlns:p14="http://schemas.microsoft.com/office/powerpoint/2010/main" val="1015528109"/>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Clustering</a:t>
            </a:r>
            <a:endParaRPr lang="en-US" dirty="0"/>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4" name="TextBox 3">
            <a:extLst>
              <a:ext uri="{FF2B5EF4-FFF2-40B4-BE49-F238E27FC236}">
                <a16:creationId xmlns:a16="http://schemas.microsoft.com/office/drawing/2014/main" id="{6B5E2762-F8C6-D7F4-076A-06BF86F11E08}"/>
              </a:ext>
            </a:extLst>
          </p:cNvPr>
          <p:cNvSpPr txBox="1"/>
          <p:nvPr/>
        </p:nvSpPr>
        <p:spPr>
          <a:xfrm>
            <a:off x="4322038" y="2822139"/>
            <a:ext cx="7362017" cy="2506840"/>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Clustering is a technique used to group similar data points together based on their characteristics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dirty="0">
                <a:solidFill>
                  <a:prstClr val="black"/>
                </a:solidFill>
                <a:latin typeface="Calibri" panose="020F0502020204030204"/>
              </a:rPr>
              <a:t>For instance, a marketing team might want to segment customers into different groups based on purchasing behavior, demographics, and preferences</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1598836" y="1474165"/>
            <a:ext cx="8994328" cy="461665"/>
            <a:chOff x="1440081" y="1474165"/>
            <a:chExt cx="8994328" cy="461665"/>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Regression</a:t>
              </a:r>
              <a:endParaRPr lang="en-US" dirty="0"/>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474165"/>
              <a:ext cx="1980000" cy="461665"/>
            </a:xfrm>
            <a:prstGeom prst="rect">
              <a:avLst/>
            </a:prstGeom>
            <a:solidFill>
              <a:schemeClr val="accent1"/>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Clustering</a:t>
              </a:r>
              <a:endParaRPr lang="en-US" dirty="0"/>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Forecasting</a:t>
              </a:r>
              <a:endParaRPr lang="en-US" dirty="0"/>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474165"/>
              <a:ext cx="1980000" cy="46166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Classification</a:t>
              </a:r>
              <a:endParaRPr lang="en-US" dirty="0"/>
            </a:p>
          </p:txBody>
        </p:sp>
      </p:grpSp>
      <p:pic>
        <p:nvPicPr>
          <p:cNvPr id="6" name="Picture 5">
            <a:extLst>
              <a:ext uri="{FF2B5EF4-FFF2-40B4-BE49-F238E27FC236}">
                <a16:creationId xmlns:a16="http://schemas.microsoft.com/office/drawing/2014/main" id="{6EC78E25-7FBB-146B-69D6-F8692E74A6C3}"/>
              </a:ext>
            </a:extLst>
          </p:cNvPr>
          <p:cNvPicPr>
            <a:picLocks noChangeAspect="1"/>
          </p:cNvPicPr>
          <p:nvPr/>
        </p:nvPicPr>
        <p:blipFill>
          <a:blip r:embed="rId2"/>
          <a:stretch>
            <a:fillRect/>
          </a:stretch>
        </p:blipFill>
        <p:spPr>
          <a:xfrm>
            <a:off x="456095" y="2393412"/>
            <a:ext cx="3364294" cy="3364294"/>
          </a:xfrm>
          <a:prstGeom prst="rect">
            <a:avLst/>
          </a:prstGeom>
        </p:spPr>
      </p:pic>
    </p:spTree>
    <p:extLst>
      <p:ext uri="{BB962C8B-B14F-4D97-AF65-F5344CB8AC3E}">
        <p14:creationId xmlns:p14="http://schemas.microsoft.com/office/powerpoint/2010/main" val="3042121423"/>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pic>
        <p:nvPicPr>
          <p:cNvPr id="5" name="Picture 4">
            <a:extLst>
              <a:ext uri="{FF2B5EF4-FFF2-40B4-BE49-F238E27FC236}">
                <a16:creationId xmlns:a16="http://schemas.microsoft.com/office/drawing/2014/main" id="{EB400AF0-078B-0058-2088-585317602541}"/>
              </a:ext>
            </a:extLst>
          </p:cNvPr>
          <p:cNvPicPr>
            <a:picLocks noChangeAspect="1"/>
          </p:cNvPicPr>
          <p:nvPr/>
        </p:nvPicPr>
        <p:blipFill>
          <a:blip r:embed="rId2"/>
          <a:stretch>
            <a:fillRect/>
          </a:stretch>
        </p:blipFill>
        <p:spPr>
          <a:xfrm>
            <a:off x="401791" y="1328242"/>
            <a:ext cx="11550466" cy="4855578"/>
          </a:xfrm>
          <a:prstGeom prst="rect">
            <a:avLst/>
          </a:prstGeom>
        </p:spPr>
      </p:pic>
    </p:spTree>
    <p:extLst>
      <p:ext uri="{BB962C8B-B14F-4D97-AF65-F5344CB8AC3E}">
        <p14:creationId xmlns:p14="http://schemas.microsoft.com/office/powerpoint/2010/main" val="1545100397"/>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pic>
        <p:nvPicPr>
          <p:cNvPr id="4" name="Picture 3">
            <a:extLst>
              <a:ext uri="{FF2B5EF4-FFF2-40B4-BE49-F238E27FC236}">
                <a16:creationId xmlns:a16="http://schemas.microsoft.com/office/drawing/2014/main" id="{18CDDF95-E264-2F52-6C99-5DE3B1F98F54}"/>
              </a:ext>
            </a:extLst>
          </p:cNvPr>
          <p:cNvPicPr>
            <a:picLocks noChangeAspect="1"/>
          </p:cNvPicPr>
          <p:nvPr/>
        </p:nvPicPr>
        <p:blipFill>
          <a:blip r:embed="rId2"/>
          <a:stretch>
            <a:fillRect/>
          </a:stretch>
        </p:blipFill>
        <p:spPr>
          <a:xfrm>
            <a:off x="0" y="1248510"/>
            <a:ext cx="12192000" cy="4875329"/>
          </a:xfrm>
          <a:prstGeom prst="rect">
            <a:avLst/>
          </a:prstGeom>
        </p:spPr>
      </p:pic>
    </p:spTree>
    <p:extLst>
      <p:ext uri="{BB962C8B-B14F-4D97-AF65-F5344CB8AC3E}">
        <p14:creationId xmlns:p14="http://schemas.microsoft.com/office/powerpoint/2010/main" val="3238672988"/>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pic>
        <p:nvPicPr>
          <p:cNvPr id="4" name="Picture 3">
            <a:extLst>
              <a:ext uri="{FF2B5EF4-FFF2-40B4-BE49-F238E27FC236}">
                <a16:creationId xmlns:a16="http://schemas.microsoft.com/office/drawing/2014/main" id="{8386E28E-7A7E-BD68-FD6E-F6B90AA7BC20}"/>
              </a:ext>
            </a:extLst>
          </p:cNvPr>
          <p:cNvPicPr>
            <a:picLocks noChangeAspect="1"/>
          </p:cNvPicPr>
          <p:nvPr/>
        </p:nvPicPr>
        <p:blipFill>
          <a:blip r:embed="rId2"/>
          <a:stretch>
            <a:fillRect/>
          </a:stretch>
        </p:blipFill>
        <p:spPr>
          <a:xfrm>
            <a:off x="0" y="1348122"/>
            <a:ext cx="12192000" cy="4885656"/>
          </a:xfrm>
          <a:prstGeom prst="rect">
            <a:avLst/>
          </a:prstGeom>
        </p:spPr>
      </p:pic>
    </p:spTree>
    <p:extLst>
      <p:ext uri="{BB962C8B-B14F-4D97-AF65-F5344CB8AC3E}">
        <p14:creationId xmlns:p14="http://schemas.microsoft.com/office/powerpoint/2010/main" val="2584841479"/>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pic>
        <p:nvPicPr>
          <p:cNvPr id="6" name="Picture 5">
            <a:extLst>
              <a:ext uri="{FF2B5EF4-FFF2-40B4-BE49-F238E27FC236}">
                <a16:creationId xmlns:a16="http://schemas.microsoft.com/office/drawing/2014/main" id="{AB7048AD-B65E-E2BD-2057-5EC564A57759}"/>
              </a:ext>
            </a:extLst>
          </p:cNvPr>
          <p:cNvPicPr>
            <a:picLocks noChangeAspect="1"/>
          </p:cNvPicPr>
          <p:nvPr/>
        </p:nvPicPr>
        <p:blipFill>
          <a:blip r:embed="rId2"/>
          <a:stretch>
            <a:fillRect/>
          </a:stretch>
        </p:blipFill>
        <p:spPr>
          <a:xfrm>
            <a:off x="305080" y="1537854"/>
            <a:ext cx="11031821" cy="4557238"/>
          </a:xfrm>
          <a:prstGeom prst="rect">
            <a:avLst/>
          </a:prstGeom>
        </p:spPr>
      </p:pic>
    </p:spTree>
    <p:extLst>
      <p:ext uri="{BB962C8B-B14F-4D97-AF65-F5344CB8AC3E}">
        <p14:creationId xmlns:p14="http://schemas.microsoft.com/office/powerpoint/2010/main" val="2167964313"/>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pic>
        <p:nvPicPr>
          <p:cNvPr id="4" name="Picture 3">
            <a:extLst>
              <a:ext uri="{FF2B5EF4-FFF2-40B4-BE49-F238E27FC236}">
                <a16:creationId xmlns:a16="http://schemas.microsoft.com/office/drawing/2014/main" id="{4EBC460E-F449-1CD8-513D-09074C919BC2}"/>
              </a:ext>
            </a:extLst>
          </p:cNvPr>
          <p:cNvPicPr>
            <a:picLocks noChangeAspect="1"/>
          </p:cNvPicPr>
          <p:nvPr/>
        </p:nvPicPr>
        <p:blipFill>
          <a:blip r:embed="rId2"/>
          <a:stretch>
            <a:fillRect/>
          </a:stretch>
        </p:blipFill>
        <p:spPr>
          <a:xfrm>
            <a:off x="0" y="1489637"/>
            <a:ext cx="12192000" cy="4573205"/>
          </a:xfrm>
          <a:prstGeom prst="rect">
            <a:avLst/>
          </a:prstGeom>
        </p:spPr>
      </p:pic>
    </p:spTree>
    <p:extLst>
      <p:ext uri="{BB962C8B-B14F-4D97-AF65-F5344CB8AC3E}">
        <p14:creationId xmlns:p14="http://schemas.microsoft.com/office/powerpoint/2010/main" val="1737223069"/>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pic>
        <p:nvPicPr>
          <p:cNvPr id="4" name="Picture 3">
            <a:extLst>
              <a:ext uri="{FF2B5EF4-FFF2-40B4-BE49-F238E27FC236}">
                <a16:creationId xmlns:a16="http://schemas.microsoft.com/office/drawing/2014/main" id="{523D9075-719B-7680-33FB-057C1E4EACB4}"/>
              </a:ext>
            </a:extLst>
          </p:cNvPr>
          <p:cNvPicPr>
            <a:picLocks noChangeAspect="1"/>
          </p:cNvPicPr>
          <p:nvPr/>
        </p:nvPicPr>
        <p:blipFill>
          <a:blip r:embed="rId2"/>
          <a:stretch>
            <a:fillRect/>
          </a:stretch>
        </p:blipFill>
        <p:spPr>
          <a:xfrm>
            <a:off x="2" y="1449840"/>
            <a:ext cx="12192000" cy="4594927"/>
          </a:xfrm>
          <a:prstGeom prst="rect">
            <a:avLst/>
          </a:prstGeom>
        </p:spPr>
      </p:pic>
    </p:spTree>
    <p:extLst>
      <p:ext uri="{BB962C8B-B14F-4D97-AF65-F5344CB8AC3E}">
        <p14:creationId xmlns:p14="http://schemas.microsoft.com/office/powerpoint/2010/main" val="475715704"/>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pic>
        <p:nvPicPr>
          <p:cNvPr id="4" name="Picture 3">
            <a:extLst>
              <a:ext uri="{FF2B5EF4-FFF2-40B4-BE49-F238E27FC236}">
                <a16:creationId xmlns:a16="http://schemas.microsoft.com/office/drawing/2014/main" id="{F09F1E6B-B48F-B182-D191-DE9B43CD9388}"/>
              </a:ext>
            </a:extLst>
          </p:cNvPr>
          <p:cNvPicPr>
            <a:picLocks noChangeAspect="1"/>
          </p:cNvPicPr>
          <p:nvPr/>
        </p:nvPicPr>
        <p:blipFill>
          <a:blip r:embed="rId2"/>
          <a:stretch>
            <a:fillRect/>
          </a:stretch>
        </p:blipFill>
        <p:spPr>
          <a:xfrm>
            <a:off x="0" y="1272463"/>
            <a:ext cx="12192000" cy="4741333"/>
          </a:xfrm>
          <a:prstGeom prst="rect">
            <a:avLst/>
          </a:prstGeom>
        </p:spPr>
      </p:pic>
    </p:spTree>
    <p:extLst>
      <p:ext uri="{BB962C8B-B14F-4D97-AF65-F5344CB8AC3E}">
        <p14:creationId xmlns:p14="http://schemas.microsoft.com/office/powerpoint/2010/main" val="1575453517"/>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pic>
        <p:nvPicPr>
          <p:cNvPr id="4" name="Picture 3">
            <a:extLst>
              <a:ext uri="{FF2B5EF4-FFF2-40B4-BE49-F238E27FC236}">
                <a16:creationId xmlns:a16="http://schemas.microsoft.com/office/drawing/2014/main" id="{CFD9F635-FA8E-E8FF-9852-7089C3F61C80}"/>
              </a:ext>
            </a:extLst>
          </p:cNvPr>
          <p:cNvPicPr>
            <a:picLocks noChangeAspect="1"/>
          </p:cNvPicPr>
          <p:nvPr/>
        </p:nvPicPr>
        <p:blipFill>
          <a:blip r:embed="rId2"/>
          <a:stretch>
            <a:fillRect/>
          </a:stretch>
        </p:blipFill>
        <p:spPr>
          <a:xfrm>
            <a:off x="0" y="1346885"/>
            <a:ext cx="12192000" cy="4777686"/>
          </a:xfrm>
          <a:prstGeom prst="rect">
            <a:avLst/>
          </a:prstGeom>
        </p:spPr>
      </p:pic>
    </p:spTree>
    <p:extLst>
      <p:ext uri="{BB962C8B-B14F-4D97-AF65-F5344CB8AC3E}">
        <p14:creationId xmlns:p14="http://schemas.microsoft.com/office/powerpoint/2010/main" val="3451142173"/>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pic>
        <p:nvPicPr>
          <p:cNvPr id="4" name="Picture 3">
            <a:extLst>
              <a:ext uri="{FF2B5EF4-FFF2-40B4-BE49-F238E27FC236}">
                <a16:creationId xmlns:a16="http://schemas.microsoft.com/office/drawing/2014/main" id="{8E494187-185C-DABB-77F1-C1EC68E07DE9}"/>
              </a:ext>
            </a:extLst>
          </p:cNvPr>
          <p:cNvPicPr>
            <a:picLocks noChangeAspect="1"/>
          </p:cNvPicPr>
          <p:nvPr/>
        </p:nvPicPr>
        <p:blipFill>
          <a:blip r:embed="rId2"/>
          <a:stretch>
            <a:fillRect/>
          </a:stretch>
        </p:blipFill>
        <p:spPr>
          <a:xfrm>
            <a:off x="0" y="1425425"/>
            <a:ext cx="12192000" cy="4666910"/>
          </a:xfrm>
          <a:prstGeom prst="rect">
            <a:avLst/>
          </a:prstGeom>
        </p:spPr>
      </p:pic>
    </p:spTree>
    <p:extLst>
      <p:ext uri="{BB962C8B-B14F-4D97-AF65-F5344CB8AC3E}">
        <p14:creationId xmlns:p14="http://schemas.microsoft.com/office/powerpoint/2010/main" val="178512907"/>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pic>
        <p:nvPicPr>
          <p:cNvPr id="4" name="Picture 3">
            <a:extLst>
              <a:ext uri="{FF2B5EF4-FFF2-40B4-BE49-F238E27FC236}">
                <a16:creationId xmlns:a16="http://schemas.microsoft.com/office/drawing/2014/main" id="{A987F166-B7EF-D15E-0F8A-D45B3F6D6103}"/>
              </a:ext>
            </a:extLst>
          </p:cNvPr>
          <p:cNvPicPr>
            <a:picLocks noChangeAspect="1"/>
          </p:cNvPicPr>
          <p:nvPr/>
        </p:nvPicPr>
        <p:blipFill>
          <a:blip r:embed="rId2"/>
          <a:stretch>
            <a:fillRect/>
          </a:stretch>
        </p:blipFill>
        <p:spPr>
          <a:xfrm>
            <a:off x="0" y="1510950"/>
            <a:ext cx="12192000" cy="4495860"/>
          </a:xfrm>
          <a:prstGeom prst="rect">
            <a:avLst/>
          </a:prstGeom>
        </p:spPr>
      </p:pic>
    </p:spTree>
    <p:extLst>
      <p:ext uri="{BB962C8B-B14F-4D97-AF65-F5344CB8AC3E}">
        <p14:creationId xmlns:p14="http://schemas.microsoft.com/office/powerpoint/2010/main" val="741821150"/>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Model</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pic>
        <p:nvPicPr>
          <p:cNvPr id="4" name="Picture 3">
            <a:extLst>
              <a:ext uri="{FF2B5EF4-FFF2-40B4-BE49-F238E27FC236}">
                <a16:creationId xmlns:a16="http://schemas.microsoft.com/office/drawing/2014/main" id="{E887CA83-52A0-D769-ADAA-3C5181213111}"/>
              </a:ext>
            </a:extLst>
          </p:cNvPr>
          <p:cNvPicPr>
            <a:picLocks noChangeAspect="1"/>
          </p:cNvPicPr>
          <p:nvPr/>
        </p:nvPicPr>
        <p:blipFill>
          <a:blip r:embed="rId2"/>
          <a:stretch>
            <a:fillRect/>
          </a:stretch>
        </p:blipFill>
        <p:spPr>
          <a:xfrm>
            <a:off x="0" y="1522674"/>
            <a:ext cx="12192000" cy="4669174"/>
          </a:xfrm>
          <a:prstGeom prst="rect">
            <a:avLst/>
          </a:prstGeom>
        </p:spPr>
      </p:pic>
    </p:spTree>
    <p:extLst>
      <p:ext uri="{BB962C8B-B14F-4D97-AF65-F5344CB8AC3E}">
        <p14:creationId xmlns:p14="http://schemas.microsoft.com/office/powerpoint/2010/main" val="776525679"/>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t>Introduction to forecasting</a:t>
            </a:r>
            <a:endParaRPr lang="en-US" dirty="0"/>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grpSp>
        <p:nvGrpSpPr>
          <p:cNvPr id="13" name="Group 12">
            <a:extLst>
              <a:ext uri="{FF2B5EF4-FFF2-40B4-BE49-F238E27FC236}">
                <a16:creationId xmlns:a16="http://schemas.microsoft.com/office/drawing/2014/main" id="{9E74BA57-9BAD-CEB4-D3E9-2BCCB4638856}"/>
              </a:ext>
            </a:extLst>
          </p:cNvPr>
          <p:cNvGrpSpPr/>
          <p:nvPr/>
        </p:nvGrpSpPr>
        <p:grpSpPr>
          <a:xfrm>
            <a:off x="757180" y="4598758"/>
            <a:ext cx="10776335" cy="830997"/>
            <a:chOff x="1440081" y="1289499"/>
            <a:chExt cx="8813194" cy="830997"/>
          </a:xfrm>
        </p:grpSpPr>
        <p:sp>
          <p:nvSpPr>
            <p:cNvPr id="14" name="TextBox 13">
              <a:extLst>
                <a:ext uri="{FF2B5EF4-FFF2-40B4-BE49-F238E27FC236}">
                  <a16:creationId xmlns:a16="http://schemas.microsoft.com/office/drawing/2014/main" id="{460E5A75-F8A5-F1F0-93D4-AC8FC834C5D7}"/>
                </a:ext>
              </a:extLst>
            </p:cNvPr>
            <p:cNvSpPr txBox="1"/>
            <p:nvPr/>
          </p:nvSpPr>
          <p:spPr>
            <a:xfrm>
              <a:off x="1440081" y="1289499"/>
              <a:ext cx="1798866" cy="83099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Customer Acquisition Cost </a:t>
              </a:r>
            </a:p>
          </p:txBody>
        </p:sp>
        <p:sp>
          <p:nvSpPr>
            <p:cNvPr id="15" name="TextBox 14">
              <a:extLst>
                <a:ext uri="{FF2B5EF4-FFF2-40B4-BE49-F238E27FC236}">
                  <a16:creationId xmlns:a16="http://schemas.microsoft.com/office/drawing/2014/main" id="{87F39695-DC16-EAB1-517A-90BE13BECDAA}"/>
                </a:ext>
              </a:extLst>
            </p:cNvPr>
            <p:cNvSpPr txBox="1"/>
            <p:nvPr/>
          </p:nvSpPr>
          <p:spPr>
            <a:xfrm>
              <a:off x="8454409" y="1289499"/>
              <a:ext cx="1798866" cy="83099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Customer Engagement</a:t>
              </a:r>
            </a:p>
          </p:txBody>
        </p:sp>
        <p:sp>
          <p:nvSpPr>
            <p:cNvPr id="16" name="TextBox 15">
              <a:extLst>
                <a:ext uri="{FF2B5EF4-FFF2-40B4-BE49-F238E27FC236}">
                  <a16:creationId xmlns:a16="http://schemas.microsoft.com/office/drawing/2014/main" id="{38F41B17-A148-43CB-3C9C-90E169A9354A}"/>
                </a:ext>
              </a:extLst>
            </p:cNvPr>
            <p:cNvSpPr txBox="1"/>
            <p:nvPr/>
          </p:nvSpPr>
          <p:spPr>
            <a:xfrm>
              <a:off x="6116301" y="1289499"/>
              <a:ext cx="1798866" cy="83099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Customer Lifetime Value</a:t>
              </a:r>
            </a:p>
          </p:txBody>
        </p:sp>
        <p:sp>
          <p:nvSpPr>
            <p:cNvPr id="17" name="TextBox 16">
              <a:extLst>
                <a:ext uri="{FF2B5EF4-FFF2-40B4-BE49-F238E27FC236}">
                  <a16:creationId xmlns:a16="http://schemas.microsoft.com/office/drawing/2014/main" id="{5F290D5A-04EA-7F91-3D17-BE54BCB46D79}"/>
                </a:ext>
              </a:extLst>
            </p:cNvPr>
            <p:cNvSpPr txBox="1"/>
            <p:nvPr/>
          </p:nvSpPr>
          <p:spPr>
            <a:xfrm>
              <a:off x="3778191" y="1289499"/>
              <a:ext cx="1798866" cy="83099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square" rtlCol="0" anchor="ctr">
              <a:spAutoFit/>
            </a:bodyPr>
            <a:lstStyle/>
            <a:p>
              <a:pPr algn="ctr"/>
              <a:r>
                <a:rPr lang="en-IN" sz="2400" dirty="0"/>
                <a:t>Sales Forecasting</a:t>
              </a:r>
              <a:endParaRPr lang="en-US" dirty="0"/>
            </a:p>
          </p:txBody>
        </p:sp>
      </p:grpSp>
    </p:spTree>
    <p:extLst>
      <p:ext uri="{BB962C8B-B14F-4D97-AF65-F5344CB8AC3E}">
        <p14:creationId xmlns:p14="http://schemas.microsoft.com/office/powerpoint/2010/main" val="995976832"/>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Workforce  Forecasting</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What &amp; Why</a:t>
            </a:r>
          </a:p>
        </p:txBody>
      </p:sp>
      <p:sp>
        <p:nvSpPr>
          <p:cNvPr id="5" name="Rectangle 4">
            <a:extLst>
              <a:ext uri="{FF2B5EF4-FFF2-40B4-BE49-F238E27FC236}">
                <a16:creationId xmlns:a16="http://schemas.microsoft.com/office/drawing/2014/main" id="{D63B05F1-B5AB-452C-ACE3-D2AE380C2E8F}"/>
              </a:ext>
            </a:extLst>
          </p:cNvPr>
          <p:cNvSpPr/>
          <p:nvPr/>
        </p:nvSpPr>
        <p:spPr>
          <a:xfrm>
            <a:off x="4038600" y="1649994"/>
            <a:ext cx="7579138" cy="369332"/>
          </a:xfrm>
          <a:prstGeom prst="rect">
            <a:avLst/>
          </a:prstGeom>
          <a:ln>
            <a:solidFill>
              <a:schemeClr val="tx1"/>
            </a:solidFill>
          </a:ln>
        </p:spPr>
        <p:txBody>
          <a:bodyPr wrap="square">
            <a:spAutoFit/>
          </a:bodyPr>
          <a:lstStyle/>
          <a:p>
            <a:r>
              <a:rPr lang="en-US" dirty="0">
                <a:solidFill>
                  <a:srgbClr val="000000"/>
                </a:solidFill>
                <a:latin typeface="Arial" panose="020B0604020202020204" pitchFamily="34" charset="0"/>
              </a:rPr>
              <a:t>Sales forecasting is the process of estimating future staffing needs</a:t>
            </a:r>
            <a:endParaRPr lang="en-IN" dirty="0"/>
          </a:p>
        </p:txBody>
      </p:sp>
      <p:sp>
        <p:nvSpPr>
          <p:cNvPr id="23" name="Rectangle 22">
            <a:extLst>
              <a:ext uri="{FF2B5EF4-FFF2-40B4-BE49-F238E27FC236}">
                <a16:creationId xmlns:a16="http://schemas.microsoft.com/office/drawing/2014/main" id="{CF73960F-8B89-473E-8626-2B682B89633C}"/>
              </a:ext>
            </a:extLst>
          </p:cNvPr>
          <p:cNvSpPr/>
          <p:nvPr/>
        </p:nvSpPr>
        <p:spPr>
          <a:xfrm>
            <a:off x="4038600" y="2271970"/>
            <a:ext cx="7579138" cy="369332"/>
          </a:xfrm>
          <a:prstGeom prst="rect">
            <a:avLst/>
          </a:prstGeom>
          <a:ln>
            <a:solidFill>
              <a:schemeClr val="tx1"/>
            </a:solidFill>
          </a:ln>
        </p:spPr>
        <p:txBody>
          <a:bodyPr wrap="square">
            <a:spAutoFit/>
          </a:bodyPr>
          <a:lstStyle/>
          <a:p>
            <a:r>
              <a:rPr lang="en-US" dirty="0">
                <a:solidFill>
                  <a:srgbClr val="000000"/>
                </a:solidFill>
                <a:latin typeface="Arial" panose="020B0604020202020204" pitchFamily="34" charset="0"/>
              </a:rPr>
              <a:t>Forecast can help in planning for future</a:t>
            </a:r>
            <a:endParaRPr lang="en-IN" dirty="0"/>
          </a:p>
        </p:txBody>
      </p:sp>
      <p:pic>
        <p:nvPicPr>
          <p:cNvPr id="3" name="Picture 2">
            <a:extLst>
              <a:ext uri="{FF2B5EF4-FFF2-40B4-BE49-F238E27FC236}">
                <a16:creationId xmlns:a16="http://schemas.microsoft.com/office/drawing/2014/main" id="{28DE6812-9B65-0A71-DD2C-3670DBBACC8C}"/>
              </a:ext>
            </a:extLst>
          </p:cNvPr>
          <p:cNvPicPr>
            <a:picLocks noChangeAspect="1"/>
          </p:cNvPicPr>
          <p:nvPr/>
        </p:nvPicPr>
        <p:blipFill>
          <a:blip r:embed="rId2"/>
          <a:stretch>
            <a:fillRect/>
          </a:stretch>
        </p:blipFill>
        <p:spPr>
          <a:xfrm>
            <a:off x="4849215" y="2834387"/>
            <a:ext cx="5716855" cy="3266774"/>
          </a:xfrm>
          <a:prstGeom prst="rect">
            <a:avLst/>
          </a:prstGeom>
        </p:spPr>
      </p:pic>
    </p:spTree>
    <p:extLst>
      <p:ext uri="{BB962C8B-B14F-4D97-AF65-F5344CB8AC3E}">
        <p14:creationId xmlns:p14="http://schemas.microsoft.com/office/powerpoint/2010/main" val="1814607365"/>
      </p:ext>
    </p:extLst>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Workforce Forecasting</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What &amp; Why</a:t>
            </a:r>
          </a:p>
        </p:txBody>
      </p:sp>
      <p:sp>
        <p:nvSpPr>
          <p:cNvPr id="5" name="Rectangle 4">
            <a:extLst>
              <a:ext uri="{FF2B5EF4-FFF2-40B4-BE49-F238E27FC236}">
                <a16:creationId xmlns:a16="http://schemas.microsoft.com/office/drawing/2014/main" id="{D63B05F1-B5AB-452C-ACE3-D2AE380C2E8F}"/>
              </a:ext>
            </a:extLst>
          </p:cNvPr>
          <p:cNvSpPr/>
          <p:nvPr/>
        </p:nvSpPr>
        <p:spPr>
          <a:xfrm>
            <a:off x="4038599" y="1649994"/>
            <a:ext cx="7019033" cy="369332"/>
          </a:xfrm>
          <a:prstGeom prst="rect">
            <a:avLst/>
          </a:prstGeom>
          <a:ln>
            <a:solidFill>
              <a:schemeClr val="tx1"/>
            </a:solidFill>
          </a:ln>
        </p:spPr>
        <p:txBody>
          <a:bodyPr wrap="square">
            <a:spAutoFit/>
          </a:bodyPr>
          <a:lstStyle/>
          <a:p>
            <a:r>
              <a:rPr lang="en-US" dirty="0">
                <a:solidFill>
                  <a:srgbClr val="000000"/>
                </a:solidFill>
                <a:latin typeface="Arial" panose="020B0604020202020204" pitchFamily="34" charset="0"/>
              </a:rPr>
              <a:t>Time series forecast – Find patters in historical data</a:t>
            </a:r>
            <a:endParaRPr lang="en-IN" dirty="0"/>
          </a:p>
        </p:txBody>
      </p:sp>
      <p:sp>
        <p:nvSpPr>
          <p:cNvPr id="23" name="Rectangle 22">
            <a:extLst>
              <a:ext uri="{FF2B5EF4-FFF2-40B4-BE49-F238E27FC236}">
                <a16:creationId xmlns:a16="http://schemas.microsoft.com/office/drawing/2014/main" id="{CF73960F-8B89-473E-8626-2B682B89633C}"/>
              </a:ext>
            </a:extLst>
          </p:cNvPr>
          <p:cNvSpPr/>
          <p:nvPr/>
        </p:nvSpPr>
        <p:spPr>
          <a:xfrm>
            <a:off x="4038600" y="3501769"/>
            <a:ext cx="7019030" cy="369332"/>
          </a:xfrm>
          <a:prstGeom prst="rect">
            <a:avLst/>
          </a:prstGeom>
          <a:ln>
            <a:solidFill>
              <a:schemeClr val="tx1"/>
            </a:solidFill>
          </a:ln>
        </p:spPr>
        <p:txBody>
          <a:bodyPr wrap="square">
            <a:spAutoFit/>
          </a:bodyPr>
          <a:lstStyle/>
          <a:p>
            <a:r>
              <a:rPr lang="en-US" dirty="0">
                <a:solidFill>
                  <a:srgbClr val="000000"/>
                </a:solidFill>
                <a:latin typeface="Arial" panose="020B0604020202020204" pitchFamily="34" charset="0"/>
              </a:rPr>
              <a:t>Machine Learning models – Relationship with other factors</a:t>
            </a:r>
            <a:endParaRPr lang="en-IN" dirty="0"/>
          </a:p>
        </p:txBody>
      </p:sp>
      <p:pic>
        <p:nvPicPr>
          <p:cNvPr id="3" name="Picture 2">
            <a:extLst>
              <a:ext uri="{FF2B5EF4-FFF2-40B4-BE49-F238E27FC236}">
                <a16:creationId xmlns:a16="http://schemas.microsoft.com/office/drawing/2014/main" id="{6E4963BC-66BF-49F7-A9E1-EE2DA7580C43}"/>
              </a:ext>
            </a:extLst>
          </p:cNvPr>
          <p:cNvPicPr>
            <a:picLocks noChangeAspect="1"/>
          </p:cNvPicPr>
          <p:nvPr/>
        </p:nvPicPr>
        <p:blipFill>
          <a:blip r:embed="rId2"/>
          <a:stretch>
            <a:fillRect/>
          </a:stretch>
        </p:blipFill>
        <p:spPr>
          <a:xfrm>
            <a:off x="4038600" y="2283467"/>
            <a:ext cx="7019033" cy="411915"/>
          </a:xfrm>
          <a:prstGeom prst="rect">
            <a:avLst/>
          </a:prstGeom>
        </p:spPr>
      </p:pic>
      <p:sp>
        <p:nvSpPr>
          <p:cNvPr id="4" name="Rectangle 3">
            <a:extLst>
              <a:ext uri="{FF2B5EF4-FFF2-40B4-BE49-F238E27FC236}">
                <a16:creationId xmlns:a16="http://schemas.microsoft.com/office/drawing/2014/main" id="{4C616B1D-D562-4D89-9E9C-C85AE1A7EB5D}"/>
              </a:ext>
            </a:extLst>
          </p:cNvPr>
          <p:cNvSpPr/>
          <p:nvPr/>
        </p:nvSpPr>
        <p:spPr>
          <a:xfrm>
            <a:off x="4038600" y="4251489"/>
            <a:ext cx="1881440"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Business growth</a:t>
            </a:r>
          </a:p>
        </p:txBody>
      </p:sp>
      <p:sp>
        <p:nvSpPr>
          <p:cNvPr id="10" name="Rectangle 9">
            <a:extLst>
              <a:ext uri="{FF2B5EF4-FFF2-40B4-BE49-F238E27FC236}">
                <a16:creationId xmlns:a16="http://schemas.microsoft.com/office/drawing/2014/main" id="{3009B8C2-60DB-4F66-90EA-931BDA065F08}"/>
              </a:ext>
            </a:extLst>
          </p:cNvPr>
          <p:cNvSpPr/>
          <p:nvPr/>
        </p:nvSpPr>
        <p:spPr>
          <a:xfrm>
            <a:off x="6096000" y="4262710"/>
            <a:ext cx="1881440"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Unemployment rate</a:t>
            </a:r>
          </a:p>
        </p:txBody>
      </p:sp>
      <p:sp>
        <p:nvSpPr>
          <p:cNvPr id="11" name="Rectangle 10">
            <a:extLst>
              <a:ext uri="{FF2B5EF4-FFF2-40B4-BE49-F238E27FC236}">
                <a16:creationId xmlns:a16="http://schemas.microsoft.com/office/drawing/2014/main" id="{D005F91F-39BF-4D4F-82D4-595234A8B47F}"/>
              </a:ext>
            </a:extLst>
          </p:cNvPr>
          <p:cNvSpPr/>
          <p:nvPr/>
        </p:nvSpPr>
        <p:spPr>
          <a:xfrm>
            <a:off x="8153400" y="4251489"/>
            <a:ext cx="1881440"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Industry trends</a:t>
            </a:r>
          </a:p>
        </p:txBody>
      </p:sp>
      <p:sp>
        <p:nvSpPr>
          <p:cNvPr id="12" name="Rectangle 11">
            <a:extLst>
              <a:ext uri="{FF2B5EF4-FFF2-40B4-BE49-F238E27FC236}">
                <a16:creationId xmlns:a16="http://schemas.microsoft.com/office/drawing/2014/main" id="{17C6778F-D7BA-40FF-913E-E32DD250A503}"/>
              </a:ext>
            </a:extLst>
          </p:cNvPr>
          <p:cNvSpPr/>
          <p:nvPr/>
        </p:nvSpPr>
        <p:spPr>
          <a:xfrm>
            <a:off x="6096000" y="5303920"/>
            <a:ext cx="1881440" cy="518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Workforce</a:t>
            </a:r>
          </a:p>
        </p:txBody>
      </p:sp>
      <p:sp>
        <p:nvSpPr>
          <p:cNvPr id="7" name="Right Brace 6">
            <a:extLst>
              <a:ext uri="{FF2B5EF4-FFF2-40B4-BE49-F238E27FC236}">
                <a16:creationId xmlns:a16="http://schemas.microsoft.com/office/drawing/2014/main" id="{5D330681-D0D3-40DD-9694-7AD9332FE32D}"/>
              </a:ext>
            </a:extLst>
          </p:cNvPr>
          <p:cNvSpPr/>
          <p:nvPr/>
        </p:nvSpPr>
        <p:spPr>
          <a:xfrm rot="5400000">
            <a:off x="6854582" y="1858436"/>
            <a:ext cx="364275" cy="62097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Rectangle 12">
            <a:extLst>
              <a:ext uri="{FF2B5EF4-FFF2-40B4-BE49-F238E27FC236}">
                <a16:creationId xmlns:a16="http://schemas.microsoft.com/office/drawing/2014/main" id="{69C46AFD-2734-AC25-B799-B7561933371B}"/>
              </a:ext>
            </a:extLst>
          </p:cNvPr>
          <p:cNvSpPr/>
          <p:nvPr/>
        </p:nvSpPr>
        <p:spPr>
          <a:xfrm>
            <a:off x="4085863" y="2515174"/>
            <a:ext cx="544010"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08F9797-064F-E0EB-A79E-8CAB2DFA6EB6}"/>
              </a:ext>
            </a:extLst>
          </p:cNvPr>
          <p:cNvSpPr txBox="1"/>
          <p:nvPr/>
        </p:nvSpPr>
        <p:spPr>
          <a:xfrm>
            <a:off x="4012164" y="2468125"/>
            <a:ext cx="783770" cy="253916"/>
          </a:xfrm>
          <a:prstGeom prst="rect">
            <a:avLst/>
          </a:prstGeom>
          <a:noFill/>
        </p:spPr>
        <p:txBody>
          <a:bodyPr wrap="square" rtlCol="0">
            <a:spAutoFit/>
          </a:bodyPr>
          <a:lstStyle/>
          <a:p>
            <a:r>
              <a:rPr lang="en-IN" sz="1050" b="1" dirty="0"/>
              <a:t>Customer</a:t>
            </a:r>
            <a:endParaRPr lang="en-US" sz="1050" b="1" dirty="0"/>
          </a:p>
        </p:txBody>
      </p:sp>
    </p:spTree>
    <p:extLst>
      <p:ext uri="{BB962C8B-B14F-4D97-AF65-F5344CB8AC3E}">
        <p14:creationId xmlns:p14="http://schemas.microsoft.com/office/powerpoint/2010/main" val="72646011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2"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 John</a:t>
            </a:r>
          </a:p>
        </p:txBody>
      </p:sp>
      <p:cxnSp>
        <p:nvCxnSpPr>
          <p:cNvPr id="9" name="Straight Connector 8"/>
          <p:cNvCxnSpPr/>
          <p:nvPr/>
        </p:nvCxnSpPr>
        <p:spPr>
          <a:xfrm>
            <a:off x="5387545" y="1767016"/>
            <a:ext cx="49427" cy="3966519"/>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6056" t="6906" r="5096" b="13773"/>
          <a:stretch/>
        </p:blipFill>
        <p:spPr>
          <a:xfrm>
            <a:off x="466125" y="1773325"/>
            <a:ext cx="4442942" cy="3966516"/>
          </a:xfrm>
          <a:prstGeom prst="rect">
            <a:avLst/>
          </a:prstGeom>
        </p:spPr>
      </p:pic>
      <p:sp>
        <p:nvSpPr>
          <p:cNvPr id="11" name="TextBox 10"/>
          <p:cNvSpPr txBox="1"/>
          <p:nvPr/>
        </p:nvSpPr>
        <p:spPr>
          <a:xfrm>
            <a:off x="5689094" y="1385853"/>
            <a:ext cx="6277233" cy="443044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John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Data Analytics Manager at </a:t>
            </a:r>
            <a:r>
              <a:rPr lang="en-US" sz="2400" b="1" dirty="0">
                <a:solidFill>
                  <a:prstClr val="black"/>
                </a:solidFill>
                <a:latin typeface="Calibri" panose="020F0502020204030204"/>
              </a:rPr>
              <a:t>STA Fast Foods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b="1" dirty="0">
              <a:solidFill>
                <a:prstClr val="black"/>
              </a:solidFill>
              <a:latin typeface="Calibri" panose="020F0502020204030204"/>
            </a:endParaRPr>
          </a:p>
          <a:p>
            <a:pPr>
              <a:lnSpc>
                <a:spcPct val="130000"/>
              </a:lnSpc>
              <a:defRPr/>
            </a:pPr>
            <a:r>
              <a:rPr lang="en-US" sz="2000" dirty="0"/>
              <a:t>John, a data analyst at STA Fast Foods, is tasked with predicting sales for a potential new store. He analyzes factors like location, parking space, average income, local competition, and population density to estimate the store’s revenue. His goal is to guide STA in selecting a site that will maximize profits, ensuring the expansion is a success.</a:t>
            </a:r>
            <a:endParaRPr lang="en-US" sz="2000" dirty="0">
              <a:solidFill>
                <a:prstClr val="black"/>
              </a:solidFill>
              <a:latin typeface="Calibri" panose="020F0502020204030204"/>
            </a:endParaRP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spTree>
    <p:extLst>
      <p:ext uri="{BB962C8B-B14F-4D97-AF65-F5344CB8AC3E}">
        <p14:creationId xmlns:p14="http://schemas.microsoft.com/office/powerpoint/2010/main" val="21626421"/>
      </p:ext>
    </p:extLst>
  </p:cSld>
  <p:clrMapOvr>
    <a:masterClrMapping/>
  </p:clrMapOvr>
  <p:transition spd="med">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What &amp; Why</a:t>
            </a:r>
          </a:p>
        </p:txBody>
      </p:sp>
      <p:sp>
        <p:nvSpPr>
          <p:cNvPr id="5" name="Rectangle 4">
            <a:extLst>
              <a:ext uri="{FF2B5EF4-FFF2-40B4-BE49-F238E27FC236}">
                <a16:creationId xmlns:a16="http://schemas.microsoft.com/office/drawing/2014/main" id="{D63B05F1-B5AB-452C-ACE3-D2AE380C2E8F}"/>
              </a:ext>
            </a:extLst>
          </p:cNvPr>
          <p:cNvSpPr/>
          <p:nvPr/>
        </p:nvSpPr>
        <p:spPr>
          <a:xfrm>
            <a:off x="4038599" y="1649994"/>
            <a:ext cx="7019033" cy="369332"/>
          </a:xfrm>
          <a:prstGeom prst="rect">
            <a:avLst/>
          </a:prstGeom>
          <a:ln>
            <a:solidFill>
              <a:schemeClr val="tx1"/>
            </a:solidFill>
          </a:ln>
        </p:spPr>
        <p:txBody>
          <a:bodyPr wrap="square">
            <a:spAutoFit/>
          </a:bodyPr>
          <a:lstStyle/>
          <a:p>
            <a:r>
              <a:rPr lang="en-US" dirty="0">
                <a:solidFill>
                  <a:srgbClr val="000000"/>
                </a:solidFill>
                <a:latin typeface="Arial" panose="020B0604020202020204" pitchFamily="34" charset="0"/>
              </a:rPr>
              <a:t>Find relationship between sales and other factors</a:t>
            </a:r>
            <a:endParaRPr lang="en-IN" dirty="0"/>
          </a:p>
        </p:txBody>
      </p:sp>
      <p:sp>
        <p:nvSpPr>
          <p:cNvPr id="4" name="Rectangle 3">
            <a:extLst>
              <a:ext uri="{FF2B5EF4-FFF2-40B4-BE49-F238E27FC236}">
                <a16:creationId xmlns:a16="http://schemas.microsoft.com/office/drawing/2014/main" id="{4C616B1D-D562-4D89-9E9C-C85AE1A7EB5D}"/>
              </a:ext>
            </a:extLst>
          </p:cNvPr>
          <p:cNvSpPr/>
          <p:nvPr/>
        </p:nvSpPr>
        <p:spPr>
          <a:xfrm>
            <a:off x="4206618" y="2373816"/>
            <a:ext cx="1881440"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Store size</a:t>
            </a:r>
            <a:endParaRPr lang="en-IN" dirty="0"/>
          </a:p>
        </p:txBody>
      </p:sp>
      <p:sp>
        <p:nvSpPr>
          <p:cNvPr id="10" name="Rectangle 9">
            <a:extLst>
              <a:ext uri="{FF2B5EF4-FFF2-40B4-BE49-F238E27FC236}">
                <a16:creationId xmlns:a16="http://schemas.microsoft.com/office/drawing/2014/main" id="{3009B8C2-60DB-4F66-90EA-931BDA065F08}"/>
              </a:ext>
            </a:extLst>
          </p:cNvPr>
          <p:cNvSpPr/>
          <p:nvPr/>
        </p:nvSpPr>
        <p:spPr>
          <a:xfrm>
            <a:off x="6264018" y="2385037"/>
            <a:ext cx="1881440"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 Population density</a:t>
            </a:r>
            <a:endParaRPr lang="en-IN" dirty="0"/>
          </a:p>
        </p:txBody>
      </p:sp>
      <p:sp>
        <p:nvSpPr>
          <p:cNvPr id="11" name="Rectangle 10">
            <a:extLst>
              <a:ext uri="{FF2B5EF4-FFF2-40B4-BE49-F238E27FC236}">
                <a16:creationId xmlns:a16="http://schemas.microsoft.com/office/drawing/2014/main" id="{D005F91F-39BF-4D4F-82D4-595234A8B47F}"/>
              </a:ext>
            </a:extLst>
          </p:cNvPr>
          <p:cNvSpPr/>
          <p:nvPr/>
        </p:nvSpPr>
        <p:spPr>
          <a:xfrm>
            <a:off x="8321418" y="2373816"/>
            <a:ext cx="1881440"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Location type</a:t>
            </a:r>
          </a:p>
        </p:txBody>
      </p:sp>
      <p:sp>
        <p:nvSpPr>
          <p:cNvPr id="12" name="Rectangle 11">
            <a:extLst>
              <a:ext uri="{FF2B5EF4-FFF2-40B4-BE49-F238E27FC236}">
                <a16:creationId xmlns:a16="http://schemas.microsoft.com/office/drawing/2014/main" id="{17C6778F-D7BA-40FF-913E-E32DD250A503}"/>
              </a:ext>
            </a:extLst>
          </p:cNvPr>
          <p:cNvSpPr/>
          <p:nvPr/>
        </p:nvSpPr>
        <p:spPr>
          <a:xfrm>
            <a:off x="6264018" y="3426247"/>
            <a:ext cx="1881440" cy="518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Salary</a:t>
            </a:r>
          </a:p>
        </p:txBody>
      </p:sp>
      <p:sp>
        <p:nvSpPr>
          <p:cNvPr id="7" name="Right Brace 6">
            <a:extLst>
              <a:ext uri="{FF2B5EF4-FFF2-40B4-BE49-F238E27FC236}">
                <a16:creationId xmlns:a16="http://schemas.microsoft.com/office/drawing/2014/main" id="{5D330681-D0D3-40DD-9694-7AD9332FE32D}"/>
              </a:ext>
            </a:extLst>
          </p:cNvPr>
          <p:cNvSpPr/>
          <p:nvPr/>
        </p:nvSpPr>
        <p:spPr>
          <a:xfrm rot="5400000">
            <a:off x="7022600" y="-19237"/>
            <a:ext cx="364275" cy="62097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ectangle 13">
            <a:extLst>
              <a:ext uri="{FF2B5EF4-FFF2-40B4-BE49-F238E27FC236}">
                <a16:creationId xmlns:a16="http://schemas.microsoft.com/office/drawing/2014/main" id="{3D9D1AEA-56C0-4FE2-8FAF-2DDC08FEBB2D}"/>
              </a:ext>
            </a:extLst>
          </p:cNvPr>
          <p:cNvSpPr/>
          <p:nvPr/>
        </p:nvSpPr>
        <p:spPr>
          <a:xfrm>
            <a:off x="4038598" y="4442736"/>
            <a:ext cx="7019033" cy="369332"/>
          </a:xfrm>
          <a:prstGeom prst="rect">
            <a:avLst/>
          </a:prstGeom>
          <a:ln>
            <a:solidFill>
              <a:schemeClr val="tx1"/>
            </a:solidFill>
          </a:ln>
        </p:spPr>
        <p:txBody>
          <a:bodyPr wrap="square">
            <a:spAutoFit/>
          </a:bodyPr>
          <a:lstStyle/>
          <a:p>
            <a:r>
              <a:rPr lang="en-US" dirty="0">
                <a:solidFill>
                  <a:srgbClr val="000000"/>
                </a:solidFill>
                <a:latin typeface="Arial" panose="020B0604020202020204" pitchFamily="34" charset="0"/>
              </a:rPr>
              <a:t>If the </a:t>
            </a:r>
            <a:r>
              <a:rPr lang="en-US" dirty="0">
                <a:latin typeface="Arial" panose="020B0604020202020204" pitchFamily="34" charset="0"/>
                <a:cs typeface="Arial" panose="020B0604020202020204" pitchFamily="34" charset="0"/>
              </a:rPr>
              <a:t>Store size </a:t>
            </a:r>
            <a:r>
              <a:rPr lang="en-US" dirty="0">
                <a:solidFill>
                  <a:srgbClr val="000000"/>
                </a:solidFill>
                <a:latin typeface="Arial" panose="020B0604020202020204" pitchFamily="34" charset="0"/>
              </a:rPr>
              <a:t>changes, what happens to sales?</a:t>
            </a:r>
            <a:endParaRPr lang="en-IN" dirty="0"/>
          </a:p>
        </p:txBody>
      </p:sp>
    </p:spTree>
    <p:extLst>
      <p:ext uri="{BB962C8B-B14F-4D97-AF65-F5344CB8AC3E}">
        <p14:creationId xmlns:p14="http://schemas.microsoft.com/office/powerpoint/2010/main" val="31661340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2" grpId="0" animBg="1"/>
      <p:bldP spid="7"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How</a:t>
            </a:r>
          </a:p>
        </p:txBody>
      </p:sp>
      <p:sp>
        <p:nvSpPr>
          <p:cNvPr id="4" name="Rectangle 3">
            <a:extLst>
              <a:ext uri="{FF2B5EF4-FFF2-40B4-BE49-F238E27FC236}">
                <a16:creationId xmlns:a16="http://schemas.microsoft.com/office/drawing/2014/main" id="{4C616B1D-D562-4D89-9E9C-C85AE1A7EB5D}"/>
              </a:ext>
            </a:extLst>
          </p:cNvPr>
          <p:cNvSpPr/>
          <p:nvPr/>
        </p:nvSpPr>
        <p:spPr>
          <a:xfrm>
            <a:off x="4772226" y="1890973"/>
            <a:ext cx="1881440"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Store size</a:t>
            </a:r>
            <a:endParaRPr lang="en-IN" dirty="0"/>
          </a:p>
        </p:txBody>
      </p:sp>
      <p:sp>
        <p:nvSpPr>
          <p:cNvPr id="12" name="Rectangle 11">
            <a:extLst>
              <a:ext uri="{FF2B5EF4-FFF2-40B4-BE49-F238E27FC236}">
                <a16:creationId xmlns:a16="http://schemas.microsoft.com/office/drawing/2014/main" id="{17C6778F-D7BA-40FF-913E-E32DD250A503}"/>
              </a:ext>
            </a:extLst>
          </p:cNvPr>
          <p:cNvSpPr/>
          <p:nvPr/>
        </p:nvSpPr>
        <p:spPr>
          <a:xfrm>
            <a:off x="8415362" y="1890973"/>
            <a:ext cx="1881440" cy="518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latin typeface="+mj-lt"/>
              </a:rPr>
              <a:t>Sales</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3D9D1AEA-56C0-4FE2-8FAF-2DDC08FEBB2D}"/>
                  </a:ext>
                </a:extLst>
              </p:cNvPr>
              <p:cNvSpPr/>
              <p:nvPr/>
            </p:nvSpPr>
            <p:spPr>
              <a:xfrm>
                <a:off x="4024997" y="4107002"/>
                <a:ext cx="7019033" cy="1754326"/>
              </a:xfrm>
              <a:prstGeom prst="rect">
                <a:avLst/>
              </a:prstGeom>
              <a:ln>
                <a:solidFill>
                  <a:schemeClr val="tx1"/>
                </a:solidFill>
              </a:ln>
            </p:spPr>
            <p:txBody>
              <a:bodyPr wrap="square">
                <a:spAutoFit/>
              </a:bodyPr>
              <a:lstStyle/>
              <a:p>
                <a:r>
                  <a:rPr lang="en-US" dirty="0">
                    <a:solidFill>
                      <a:srgbClr val="000000"/>
                    </a:solidFill>
                    <a:latin typeface="+mj-lt"/>
                  </a:rPr>
                  <a:t>Linear relationship (single predictor variable)</a:t>
                </a:r>
              </a:p>
              <a:p>
                <a:pPr/>
                <a14:m>
                  <m:oMathPara xmlns:m="http://schemas.openxmlformats.org/officeDocument/2006/math">
                    <m:oMathParaPr>
                      <m:jc m:val="centerGroup"/>
                    </m:oMathParaPr>
                    <m:oMath xmlns:m="http://schemas.openxmlformats.org/officeDocument/2006/math">
                      <m:r>
                        <a:rPr lang="en-IN" b="0" i="1" smtClean="0">
                          <a:solidFill>
                            <a:srgbClr val="000000"/>
                          </a:solidFill>
                          <a:latin typeface="Cambria Math" panose="02040503050406030204" pitchFamily="18" charset="0"/>
                        </a:rPr>
                        <m:t>𝑦</m:t>
                      </m:r>
                      <m:r>
                        <a:rPr lang="en-IN" b="0" i="1" smtClean="0">
                          <a:solidFill>
                            <a:srgbClr val="000000"/>
                          </a:solidFill>
                          <a:latin typeface="Cambria Math" panose="02040503050406030204" pitchFamily="18" charset="0"/>
                        </a:rPr>
                        <m:t>=</m:t>
                      </m:r>
                      <m:r>
                        <a:rPr lang="en-IN" b="0" i="1" smtClean="0">
                          <a:solidFill>
                            <a:srgbClr val="000000"/>
                          </a:solidFill>
                          <a:latin typeface="Cambria Math" panose="02040503050406030204" pitchFamily="18" charset="0"/>
                        </a:rPr>
                        <m:t>𝑎𝑥</m:t>
                      </m:r>
                      <m:r>
                        <a:rPr lang="en-IN" b="0" i="1" smtClean="0">
                          <a:solidFill>
                            <a:srgbClr val="000000"/>
                          </a:solidFill>
                          <a:latin typeface="Cambria Math" panose="02040503050406030204" pitchFamily="18" charset="0"/>
                        </a:rPr>
                        <m:t>+</m:t>
                      </m:r>
                      <m:r>
                        <a:rPr lang="en-IN" b="0" i="1" smtClean="0">
                          <a:solidFill>
                            <a:srgbClr val="000000"/>
                          </a:solidFill>
                          <a:latin typeface="Cambria Math" panose="02040503050406030204" pitchFamily="18" charset="0"/>
                        </a:rPr>
                        <m:t>𝑏</m:t>
                      </m:r>
                    </m:oMath>
                  </m:oMathPara>
                </a14:m>
                <a:endParaRPr lang="en-IN" b="0" dirty="0">
                  <a:solidFill>
                    <a:srgbClr val="000000"/>
                  </a:solidFill>
                  <a:latin typeface="+mj-lt"/>
                </a:endParaRPr>
              </a:p>
              <a:p>
                <a:r>
                  <a:rPr lang="en-IN" dirty="0">
                    <a:latin typeface="+mj-lt"/>
                  </a:rPr>
                  <a:t>		</a:t>
                </a:r>
                <a14:m>
                  <m:oMath xmlns:m="http://schemas.openxmlformats.org/officeDocument/2006/math">
                    <m:r>
                      <a:rPr lang="en-IN" b="0" i="1" smtClean="0">
                        <a:latin typeface="Cambria Math" panose="02040503050406030204" pitchFamily="18" charset="0"/>
                      </a:rPr>
                      <m:t>𝑆𝑎𝑙𝑒𝑠</m:t>
                    </m:r>
                    <m:r>
                      <a:rPr lang="en-IN" b="0" i="1" smtClean="0">
                        <a:latin typeface="Cambria Math" panose="02040503050406030204" pitchFamily="18" charset="0"/>
                      </a:rPr>
                      <m:t>=</m:t>
                    </m:r>
                    <m:r>
                      <a:rPr lang="en-IN" b="0" i="1" smtClean="0">
                        <a:latin typeface="Cambria Math" panose="02040503050406030204" pitchFamily="18" charset="0"/>
                      </a:rPr>
                      <m:t>𝑎</m:t>
                    </m:r>
                    <m:r>
                      <a:rPr lang="en-IN" b="0" i="1" smtClean="0">
                        <a:latin typeface="Cambria Math" panose="02040503050406030204" pitchFamily="18" charset="0"/>
                      </a:rPr>
                      <m:t> ×</m:t>
                    </m:r>
                    <m:d>
                      <m:dPr>
                        <m:ctrlPr>
                          <a:rPr lang="en-IN" b="0" i="1" smtClean="0">
                            <a:latin typeface="Cambria Math" panose="02040503050406030204" pitchFamily="18" charset="0"/>
                          </a:rPr>
                        </m:ctrlPr>
                      </m:dPr>
                      <m:e>
                        <m:r>
                          <m:rPr>
                            <m:nor/>
                          </m:rPr>
                          <a:rPr lang="en-US" dirty="0"/>
                          <m:t>Store</m:t>
                        </m:r>
                        <m:r>
                          <m:rPr>
                            <m:nor/>
                          </m:rPr>
                          <a:rPr lang="en-US" dirty="0"/>
                          <m:t> </m:t>
                        </m:r>
                        <m:r>
                          <m:rPr>
                            <m:nor/>
                          </m:rPr>
                          <a:rPr lang="en-US" dirty="0"/>
                          <m:t>size</m:t>
                        </m:r>
                      </m:e>
                    </m:d>
                    <m:r>
                      <a:rPr lang="en-IN" b="0" i="1" smtClean="0">
                        <a:latin typeface="Cambria Math" panose="02040503050406030204" pitchFamily="18" charset="0"/>
                      </a:rPr>
                      <m:t>+</m:t>
                    </m:r>
                    <m:r>
                      <a:rPr lang="en-IN" b="0" i="1" smtClean="0">
                        <a:latin typeface="Cambria Math" panose="02040503050406030204" pitchFamily="18" charset="0"/>
                      </a:rPr>
                      <m:t>𝑏</m:t>
                    </m:r>
                  </m:oMath>
                </a14:m>
                <a:endParaRPr lang="en-IN" dirty="0">
                  <a:latin typeface="+mj-lt"/>
                </a:endParaRPr>
              </a:p>
              <a:p>
                <a:endParaRPr lang="en-IN" dirty="0">
                  <a:latin typeface="+mj-lt"/>
                </a:endParaRPr>
              </a:p>
              <a:p>
                <a:r>
                  <a:rPr lang="en-IN" dirty="0">
                    <a:latin typeface="+mj-lt"/>
                  </a:rPr>
                  <a:t>Multiple predictors – </a:t>
                </a:r>
              </a:p>
              <a:p>
                <a:pPr/>
                <a14:m>
                  <m:oMathPara xmlns:m="http://schemas.openxmlformats.org/officeDocument/2006/math">
                    <m:oMathParaPr>
                      <m:jc m:val="centerGroup"/>
                    </m:oMathParaPr>
                    <m:oMath xmlns:m="http://schemas.openxmlformats.org/officeDocument/2006/math">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sSub>
                        <m:sSubPr>
                          <m:ctrlPr>
                            <a:rPr lang="en-IN" i="1" smtClean="0">
                              <a:solidFill>
                                <a:srgbClr val="000000"/>
                              </a:solidFill>
                              <a:latin typeface="Cambria Math" panose="02040503050406030204" pitchFamily="18" charset="0"/>
                            </a:rPr>
                          </m:ctrlPr>
                        </m:sSubPr>
                        <m:e>
                          <m:r>
                            <a:rPr lang="en-IN" b="0" i="1" smtClean="0">
                              <a:solidFill>
                                <a:srgbClr val="000000"/>
                              </a:solidFill>
                              <a:latin typeface="Cambria Math" panose="02040503050406030204" pitchFamily="18" charset="0"/>
                            </a:rPr>
                            <m:t>𝑎</m:t>
                          </m:r>
                        </m:e>
                        <m:sub>
                          <m:r>
                            <a:rPr lang="en-IN" b="0" i="1" smtClean="0">
                              <a:solidFill>
                                <a:srgbClr val="000000"/>
                              </a:solidFill>
                              <a:latin typeface="Cambria Math" panose="02040503050406030204" pitchFamily="18" charset="0"/>
                            </a:rPr>
                            <m:t>1</m:t>
                          </m:r>
                        </m:sub>
                      </m:sSub>
                      <m:sSub>
                        <m:sSubPr>
                          <m:ctrlPr>
                            <a:rPr lang="en-IN" i="1" smtClean="0">
                              <a:solidFill>
                                <a:srgbClr val="000000"/>
                              </a:solidFill>
                              <a:latin typeface="Cambria Math" panose="02040503050406030204" pitchFamily="18" charset="0"/>
                            </a:rPr>
                          </m:ctrlPr>
                        </m:sSubPr>
                        <m:e>
                          <m:r>
                            <a:rPr lang="en-IN" b="0" i="1" smtClean="0">
                              <a:solidFill>
                                <a:srgbClr val="000000"/>
                              </a:solidFill>
                              <a:latin typeface="Cambria Math" panose="02040503050406030204" pitchFamily="18" charset="0"/>
                            </a:rPr>
                            <m:t>𝑥</m:t>
                          </m:r>
                        </m:e>
                        <m:sub>
                          <m:r>
                            <a:rPr lang="en-IN" i="1">
                              <a:solidFill>
                                <a:srgbClr val="000000"/>
                              </a:solidFill>
                              <a:latin typeface="Cambria Math" panose="02040503050406030204" pitchFamily="18" charset="0"/>
                            </a:rPr>
                            <m:t>1</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𝑎</m:t>
                          </m:r>
                        </m:e>
                        <m:sub>
                          <m:r>
                            <a:rPr lang="en-IN" b="0" i="1" smtClean="0">
                              <a:solidFill>
                                <a:srgbClr val="000000"/>
                              </a:solidFill>
                              <a:latin typeface="Cambria Math" panose="02040503050406030204" pitchFamily="18" charset="0"/>
                            </a:rPr>
                            <m:t>2</m:t>
                          </m:r>
                        </m:sub>
                      </m:s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𝑥</m:t>
                          </m:r>
                        </m:e>
                        <m:sub>
                          <m:r>
                            <a:rPr lang="en-IN" b="0" i="1" smtClean="0">
                              <a:solidFill>
                                <a:srgbClr val="000000"/>
                              </a:solidFill>
                              <a:latin typeface="Cambria Math" panose="02040503050406030204" pitchFamily="18" charset="0"/>
                            </a:rPr>
                            <m:t>2</m:t>
                          </m:r>
                        </m:sub>
                      </m:sSub>
                      <m:r>
                        <a:rPr lang="en-IN" b="0" i="1" smtClean="0">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𝑎</m:t>
                          </m:r>
                        </m:e>
                        <m:sub>
                          <m:r>
                            <a:rPr lang="en-IN" b="0" i="1" smtClean="0">
                              <a:solidFill>
                                <a:srgbClr val="000000"/>
                              </a:solidFill>
                              <a:latin typeface="Cambria Math" panose="02040503050406030204" pitchFamily="18" charset="0"/>
                            </a:rPr>
                            <m:t>3</m:t>
                          </m:r>
                        </m:sub>
                      </m:s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𝑥</m:t>
                          </m:r>
                        </m:e>
                        <m:sub>
                          <m:r>
                            <a:rPr lang="en-IN" b="0" i="1" smtClean="0">
                              <a:solidFill>
                                <a:srgbClr val="000000"/>
                              </a:solidFill>
                              <a:latin typeface="Cambria Math" panose="02040503050406030204" pitchFamily="18" charset="0"/>
                            </a:rPr>
                            <m:t>3</m:t>
                          </m:r>
                        </m:sub>
                      </m:sSub>
                      <m:r>
                        <a:rPr lang="en-IN" b="0" i="1" smtClean="0">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𝑎</m:t>
                          </m:r>
                        </m:e>
                        <m:sub>
                          <m:r>
                            <a:rPr lang="en-IN" b="0" i="1" smtClean="0">
                              <a:solidFill>
                                <a:srgbClr val="000000"/>
                              </a:solidFill>
                              <a:latin typeface="Cambria Math" panose="02040503050406030204" pitchFamily="18" charset="0"/>
                            </a:rPr>
                            <m:t>𝑛</m:t>
                          </m:r>
                        </m:sub>
                      </m:s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𝑥</m:t>
                          </m:r>
                        </m:e>
                        <m:sub>
                          <m:r>
                            <a:rPr lang="en-IN" b="0" i="1" smtClean="0">
                              <a:solidFill>
                                <a:srgbClr val="000000"/>
                              </a:solidFill>
                              <a:latin typeface="Cambria Math" panose="02040503050406030204" pitchFamily="18" charset="0"/>
                            </a:rPr>
                            <m:t>𝑛</m:t>
                          </m:r>
                        </m:sub>
                      </m:sSub>
                      <m:r>
                        <a:rPr lang="en-IN" b="0" i="1" smtClean="0">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𝑏</m:t>
                      </m:r>
                    </m:oMath>
                  </m:oMathPara>
                </a14:m>
                <a:endParaRPr lang="en-IN" dirty="0">
                  <a:solidFill>
                    <a:srgbClr val="000000"/>
                  </a:solidFill>
                  <a:latin typeface="+mj-lt"/>
                </a:endParaRPr>
              </a:p>
            </p:txBody>
          </p:sp>
        </mc:Choice>
        <mc:Fallback xmlns="">
          <p:sp>
            <p:nvSpPr>
              <p:cNvPr id="14" name="Rectangle 13">
                <a:extLst>
                  <a:ext uri="{FF2B5EF4-FFF2-40B4-BE49-F238E27FC236}">
                    <a16:creationId xmlns:a16="http://schemas.microsoft.com/office/drawing/2014/main" id="{3D9D1AEA-56C0-4FE2-8FAF-2DDC08FEBB2D}"/>
                  </a:ext>
                </a:extLst>
              </p:cNvPr>
              <p:cNvSpPr>
                <a:spLocks noRot="1" noChangeAspect="1" noMove="1" noResize="1" noEditPoints="1" noAdjustHandles="1" noChangeArrowheads="1" noChangeShapeType="1" noTextEdit="1"/>
              </p:cNvSpPr>
              <p:nvPr/>
            </p:nvSpPr>
            <p:spPr>
              <a:xfrm>
                <a:off x="4024997" y="4107002"/>
                <a:ext cx="7019033" cy="1754326"/>
              </a:xfrm>
              <a:prstGeom prst="rect">
                <a:avLst/>
              </a:prstGeom>
              <a:blipFill>
                <a:blip r:embed="rId2"/>
                <a:stretch>
                  <a:fillRect l="-607" t="-1724"/>
                </a:stretch>
              </a:blipFill>
              <a:ln>
                <a:solidFill>
                  <a:schemeClr val="tx1"/>
                </a:solidFill>
              </a:ln>
            </p:spPr>
            <p:txBody>
              <a:bodyPr/>
              <a:lstStyle/>
              <a:p>
                <a:r>
                  <a:rPr lang="en-IN">
                    <a:noFill/>
                  </a:rPr>
                  <a:t> </a:t>
                </a:r>
              </a:p>
            </p:txBody>
          </p:sp>
        </mc:Fallback>
      </mc:AlternateContent>
      <p:cxnSp>
        <p:nvCxnSpPr>
          <p:cNvPr id="9" name="Straight Arrow Connector 8">
            <a:extLst>
              <a:ext uri="{FF2B5EF4-FFF2-40B4-BE49-F238E27FC236}">
                <a16:creationId xmlns:a16="http://schemas.microsoft.com/office/drawing/2014/main" id="{DC605BDB-40CD-4E96-807E-B8DFFD9B11D1}"/>
              </a:ext>
            </a:extLst>
          </p:cNvPr>
          <p:cNvCxnSpPr>
            <a:stCxn id="4" idx="3"/>
            <a:endCxn id="12" idx="1"/>
          </p:cNvCxnSpPr>
          <p:nvPr/>
        </p:nvCxnSpPr>
        <p:spPr>
          <a:xfrm>
            <a:off x="6653666" y="2150210"/>
            <a:ext cx="17616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A2365325-4ED3-41D1-90F3-D7618F20632C}"/>
              </a:ext>
            </a:extLst>
          </p:cNvPr>
          <p:cNvSpPr/>
          <p:nvPr/>
        </p:nvSpPr>
        <p:spPr>
          <a:xfrm>
            <a:off x="8472711" y="2679364"/>
            <a:ext cx="1766742" cy="369332"/>
          </a:xfrm>
          <a:prstGeom prst="rect">
            <a:avLst/>
          </a:prstGeom>
          <a:ln>
            <a:solidFill>
              <a:schemeClr val="tx1"/>
            </a:solidFill>
          </a:ln>
        </p:spPr>
        <p:txBody>
          <a:bodyPr wrap="square">
            <a:spAutoFit/>
          </a:bodyPr>
          <a:lstStyle/>
          <a:p>
            <a:pPr algn="ctr"/>
            <a:r>
              <a:rPr lang="en-US" dirty="0">
                <a:solidFill>
                  <a:srgbClr val="000000"/>
                </a:solidFill>
                <a:latin typeface="+mj-lt"/>
              </a:rPr>
              <a:t>Target variable</a:t>
            </a:r>
            <a:endParaRPr lang="en-IN" dirty="0">
              <a:latin typeface="+mj-lt"/>
            </a:endParaRPr>
          </a:p>
        </p:txBody>
      </p:sp>
      <p:sp>
        <p:nvSpPr>
          <p:cNvPr id="18" name="Rectangle 17">
            <a:extLst>
              <a:ext uri="{FF2B5EF4-FFF2-40B4-BE49-F238E27FC236}">
                <a16:creationId xmlns:a16="http://schemas.microsoft.com/office/drawing/2014/main" id="{A70049B9-8303-4ADD-BB24-A47201BE160E}"/>
              </a:ext>
            </a:extLst>
          </p:cNvPr>
          <p:cNvSpPr/>
          <p:nvPr/>
        </p:nvSpPr>
        <p:spPr>
          <a:xfrm>
            <a:off x="4641245" y="2679364"/>
            <a:ext cx="2143402" cy="369332"/>
          </a:xfrm>
          <a:prstGeom prst="rect">
            <a:avLst/>
          </a:prstGeom>
          <a:ln>
            <a:solidFill>
              <a:schemeClr val="tx1"/>
            </a:solidFill>
          </a:ln>
        </p:spPr>
        <p:txBody>
          <a:bodyPr wrap="square">
            <a:spAutoFit/>
          </a:bodyPr>
          <a:lstStyle/>
          <a:p>
            <a:pPr algn="ctr"/>
            <a:r>
              <a:rPr lang="en-US" dirty="0">
                <a:solidFill>
                  <a:srgbClr val="000000"/>
                </a:solidFill>
                <a:latin typeface="+mj-lt"/>
              </a:rPr>
              <a:t>Predictor variables</a:t>
            </a:r>
            <a:endParaRPr lang="en-IN" dirty="0">
              <a:latin typeface="+mj-lt"/>
            </a:endParaRPr>
          </a:p>
        </p:txBody>
      </p:sp>
      <p:sp>
        <p:nvSpPr>
          <p:cNvPr id="19" name="Rectangle 18">
            <a:extLst>
              <a:ext uri="{FF2B5EF4-FFF2-40B4-BE49-F238E27FC236}">
                <a16:creationId xmlns:a16="http://schemas.microsoft.com/office/drawing/2014/main" id="{29DEC6FD-21FE-4A95-ABB8-7EC12300DF89}"/>
              </a:ext>
            </a:extLst>
          </p:cNvPr>
          <p:cNvSpPr/>
          <p:nvPr/>
        </p:nvSpPr>
        <p:spPr>
          <a:xfrm>
            <a:off x="4481162" y="3208517"/>
            <a:ext cx="2463568" cy="369332"/>
          </a:xfrm>
          <a:prstGeom prst="rect">
            <a:avLst/>
          </a:prstGeom>
          <a:ln>
            <a:solidFill>
              <a:schemeClr val="tx1"/>
            </a:solidFill>
          </a:ln>
        </p:spPr>
        <p:txBody>
          <a:bodyPr wrap="square">
            <a:spAutoFit/>
          </a:bodyPr>
          <a:lstStyle/>
          <a:p>
            <a:pPr algn="ctr"/>
            <a:r>
              <a:rPr lang="en-US" dirty="0">
                <a:solidFill>
                  <a:srgbClr val="000000"/>
                </a:solidFill>
                <a:latin typeface="+mj-lt"/>
              </a:rPr>
              <a:t>Independent variables</a:t>
            </a:r>
            <a:endParaRPr lang="en-IN" dirty="0">
              <a:latin typeface="+mj-lt"/>
            </a:endParaRPr>
          </a:p>
        </p:txBody>
      </p:sp>
      <p:sp>
        <p:nvSpPr>
          <p:cNvPr id="20" name="Rectangle 19">
            <a:extLst>
              <a:ext uri="{FF2B5EF4-FFF2-40B4-BE49-F238E27FC236}">
                <a16:creationId xmlns:a16="http://schemas.microsoft.com/office/drawing/2014/main" id="{FF9F67AB-5E6D-4FDB-AF58-958264417CC7}"/>
              </a:ext>
            </a:extLst>
          </p:cNvPr>
          <p:cNvSpPr/>
          <p:nvPr/>
        </p:nvSpPr>
        <p:spPr>
          <a:xfrm>
            <a:off x="8124298" y="3210358"/>
            <a:ext cx="2463568" cy="369332"/>
          </a:xfrm>
          <a:prstGeom prst="rect">
            <a:avLst/>
          </a:prstGeom>
          <a:ln>
            <a:solidFill>
              <a:schemeClr val="tx1"/>
            </a:solidFill>
          </a:ln>
        </p:spPr>
        <p:txBody>
          <a:bodyPr wrap="square">
            <a:spAutoFit/>
          </a:bodyPr>
          <a:lstStyle/>
          <a:p>
            <a:pPr algn="ctr"/>
            <a:r>
              <a:rPr lang="en-US" dirty="0">
                <a:solidFill>
                  <a:srgbClr val="000000"/>
                </a:solidFill>
                <a:latin typeface="+mj-lt"/>
              </a:rPr>
              <a:t>Dependent variable</a:t>
            </a:r>
            <a:endParaRPr lang="en-IN" dirty="0">
              <a:latin typeface="+mj-lt"/>
            </a:endParaRPr>
          </a:p>
        </p:txBody>
      </p:sp>
    </p:spTree>
    <p:extLst>
      <p:ext uri="{BB962C8B-B14F-4D97-AF65-F5344CB8AC3E}">
        <p14:creationId xmlns:p14="http://schemas.microsoft.com/office/powerpoint/2010/main" val="7663373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8" grpId="0" animBg="1"/>
      <p:bldP spid="19" grpId="0" animBg="1"/>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9669" y="326447"/>
            <a:ext cx="9276401" cy="794581"/>
          </a:xfrm>
        </p:spPr>
        <p:txBody>
          <a:bodyPr/>
          <a:lstStyle/>
          <a:p>
            <a:r>
              <a:rPr lang="en-US" dirty="0"/>
              <a:t>Linear Regression</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How</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3D9D1AEA-56C0-4FE2-8FAF-2DDC08FEBB2D}"/>
                  </a:ext>
                </a:extLst>
              </p:cNvPr>
              <p:cNvSpPr/>
              <p:nvPr/>
            </p:nvSpPr>
            <p:spPr>
              <a:xfrm>
                <a:off x="3925481" y="4277192"/>
                <a:ext cx="7019033" cy="1763688"/>
              </a:xfrm>
              <a:prstGeom prst="rect">
                <a:avLst/>
              </a:prstGeom>
              <a:ln>
                <a:solidFill>
                  <a:schemeClr val="tx1"/>
                </a:solidFill>
              </a:ln>
            </p:spPr>
            <p:txBody>
              <a:bodyPr wrap="square">
                <a:spAutoFit/>
              </a:bodyPr>
              <a:lstStyle/>
              <a:p>
                <a:r>
                  <a:rPr lang="en-IN" dirty="0">
                    <a:latin typeface="+mj-lt"/>
                  </a:rPr>
                  <a:t>		</a:t>
                </a:r>
                <a14:m>
                  <m:oMath xmlns:m="http://schemas.openxmlformats.org/officeDocument/2006/math">
                    <m:r>
                      <a:rPr lang="en-IN" i="1">
                        <a:latin typeface="Cambria Math" panose="02040503050406030204" pitchFamily="18" charset="0"/>
                      </a:rPr>
                      <m:t>𝑆𝑎𝑙𝑒𝑠</m:t>
                    </m:r>
                    <m:r>
                      <a:rPr lang="en-IN" i="1">
                        <a:latin typeface="Cambria Math" panose="02040503050406030204" pitchFamily="18" charset="0"/>
                      </a:rPr>
                      <m:t>=</m:t>
                    </m:r>
                    <m:r>
                      <a:rPr lang="en-IN" i="1">
                        <a:latin typeface="Cambria Math" panose="02040503050406030204" pitchFamily="18" charset="0"/>
                      </a:rPr>
                      <m:t>𝑎</m:t>
                    </m:r>
                    <m:r>
                      <a:rPr lang="en-IN" i="1">
                        <a:latin typeface="Cambria Math" panose="02040503050406030204" pitchFamily="18" charset="0"/>
                      </a:rPr>
                      <m:t> ×</m:t>
                    </m:r>
                    <m:d>
                      <m:dPr>
                        <m:ctrlPr>
                          <a:rPr lang="en-IN" i="1">
                            <a:latin typeface="Cambria Math" panose="02040503050406030204" pitchFamily="18" charset="0"/>
                          </a:rPr>
                        </m:ctrlPr>
                      </m:dPr>
                      <m:e>
                        <m:r>
                          <m:rPr>
                            <m:nor/>
                          </m:rPr>
                          <a:rPr lang="en-IN" b="0" i="0" dirty="0" smtClean="0"/>
                          <m:t>Store</m:t>
                        </m:r>
                        <m:r>
                          <m:rPr>
                            <m:nor/>
                          </m:rPr>
                          <a:rPr lang="en-IN" b="0" i="0" dirty="0" smtClean="0"/>
                          <m:t> </m:t>
                        </m:r>
                        <m:r>
                          <m:rPr>
                            <m:nor/>
                          </m:rPr>
                          <a:rPr lang="en-IN" b="0" i="0" dirty="0" smtClean="0"/>
                          <m:t>size</m:t>
                        </m:r>
                      </m:e>
                    </m:d>
                    <m:r>
                      <a:rPr lang="en-IN" i="1">
                        <a:latin typeface="Cambria Math" panose="02040503050406030204" pitchFamily="18" charset="0"/>
                      </a:rPr>
                      <m:t>+</m:t>
                    </m:r>
                    <m:r>
                      <a:rPr lang="en-IN" i="1">
                        <a:latin typeface="Cambria Math" panose="02040503050406030204" pitchFamily="18" charset="0"/>
                      </a:rPr>
                      <m:t>𝑏</m:t>
                    </m:r>
                  </m:oMath>
                </a14:m>
                <a:endParaRPr lang="en-IN" dirty="0"/>
              </a:p>
              <a:p>
                <a:endParaRPr lang="en-IN" dirty="0">
                  <a:solidFill>
                    <a:srgbClr val="000000"/>
                  </a:solidFill>
                  <a:latin typeface="+mj-lt"/>
                </a:endParaRPr>
              </a:p>
              <a:p>
                <a:pPr algn="ct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𝑒</m:t>
                        </m:r>
                      </m:e>
                      <m:sub>
                        <m:r>
                          <a:rPr lang="en-IN" i="1">
                            <a:latin typeface="Cambria Math" panose="02040503050406030204" pitchFamily="18" charset="0"/>
                          </a:rPr>
                          <m:t>1</m:t>
                        </m:r>
                      </m:sub>
                    </m:sSub>
                  </m:oMath>
                </a14:m>
                <a:r>
                  <a:rPr lang="en-IN" dirty="0">
                    <a:solidFill>
                      <a:srgbClr val="000000"/>
                    </a:solidFill>
                    <a:latin typeface="+mj-lt"/>
                  </a:rPr>
                  <a:t> +</a:t>
                </a:r>
                <a:r>
                  <a:rPr lang="en-IN" dirty="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𝑒</m:t>
                        </m:r>
                      </m:e>
                      <m:sub>
                        <m:r>
                          <a:rPr lang="en-IN" b="0" i="1" smtClean="0">
                            <a:latin typeface="Cambria Math" panose="02040503050406030204" pitchFamily="18" charset="0"/>
                          </a:rPr>
                          <m:t>2</m:t>
                        </m:r>
                      </m:sub>
                    </m:sSub>
                  </m:oMath>
                </a14:m>
                <a:r>
                  <a:rPr lang="en-IN" dirty="0">
                    <a:solidFill>
                      <a:srgbClr val="000000"/>
                    </a:solidFill>
                    <a:latin typeface="+mj-lt"/>
                  </a:rPr>
                  <a:t>+</a:t>
                </a:r>
                <a:r>
                  <a:rPr lang="en-IN" dirty="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𝑒</m:t>
                        </m:r>
                      </m:e>
                      <m:sub>
                        <m:r>
                          <a:rPr lang="en-IN" b="0" i="1" smtClean="0">
                            <a:latin typeface="Cambria Math" panose="02040503050406030204" pitchFamily="18" charset="0"/>
                          </a:rPr>
                          <m:t>3</m:t>
                        </m:r>
                      </m:sub>
                    </m:sSub>
                  </m:oMath>
                </a14:m>
                <a:r>
                  <a:rPr lang="en-IN" dirty="0">
                    <a:solidFill>
                      <a:srgbClr val="000000"/>
                    </a:solidFill>
                    <a:latin typeface="+mj-lt"/>
                  </a:rPr>
                  <a:t>…. Will not work</a:t>
                </a:r>
              </a:p>
              <a:p>
                <a:pPr/>
                <a14:m>
                  <m:oMathPara xmlns:m="http://schemas.openxmlformats.org/officeDocument/2006/math">
                    <m:oMathParaPr>
                      <m:jc m:val="centerGroup"/>
                    </m:oMathParaPr>
                    <m:oMath xmlns:m="http://schemas.openxmlformats.org/officeDocument/2006/math">
                      <m:sSubSup>
                        <m:sSubSupPr>
                          <m:ctrlPr>
                            <a:rPr lang="en-IN" i="1" smtClean="0">
                              <a:solidFill>
                                <a:srgbClr val="000000"/>
                              </a:solidFill>
                              <a:latin typeface="Cambria Math" panose="02040503050406030204" pitchFamily="18" charset="0"/>
                            </a:rPr>
                          </m:ctrlPr>
                        </m:sSubSupPr>
                        <m:e>
                          <m:r>
                            <a:rPr lang="en-IN" b="0" i="1" smtClean="0">
                              <a:solidFill>
                                <a:srgbClr val="000000"/>
                              </a:solidFill>
                              <a:latin typeface="Cambria Math" panose="02040503050406030204" pitchFamily="18" charset="0"/>
                            </a:rPr>
                            <m:t>𝑀𝑖𝑛𝑖𝑚𝑖𝑧𝑒</m:t>
                          </m:r>
                          <m:r>
                            <a:rPr lang="en-IN" b="0" i="1" smtClean="0">
                              <a:solidFill>
                                <a:srgbClr val="000000"/>
                              </a:solidFill>
                              <a:latin typeface="Cambria Math" panose="02040503050406030204" pitchFamily="18" charset="0"/>
                            </a:rPr>
                            <m:t> [</m:t>
                          </m:r>
                          <m:r>
                            <a:rPr lang="en-IN" b="0" i="1" smtClean="0">
                              <a:solidFill>
                                <a:srgbClr val="000000"/>
                              </a:solidFill>
                              <a:latin typeface="Cambria Math" panose="02040503050406030204" pitchFamily="18" charset="0"/>
                            </a:rPr>
                            <m:t>𝑒</m:t>
                          </m:r>
                        </m:e>
                        <m:sub>
                          <m:r>
                            <a:rPr lang="en-IN" b="0" i="1" smtClean="0">
                              <a:solidFill>
                                <a:srgbClr val="000000"/>
                              </a:solidFill>
                              <a:latin typeface="Cambria Math" panose="02040503050406030204" pitchFamily="18" charset="0"/>
                            </a:rPr>
                            <m:t>1</m:t>
                          </m:r>
                        </m:sub>
                        <m:sup>
                          <m:r>
                            <a:rPr lang="en-IN" b="0" i="1" smtClean="0">
                              <a:solidFill>
                                <a:srgbClr val="000000"/>
                              </a:solidFill>
                              <a:latin typeface="Cambria Math" panose="02040503050406030204" pitchFamily="18" charset="0"/>
                            </a:rPr>
                            <m:t>2</m:t>
                          </m:r>
                        </m:sup>
                      </m:sSubSup>
                      <m:r>
                        <a:rPr lang="en-IN" b="0" i="1" smtClean="0">
                          <a:solidFill>
                            <a:srgbClr val="000000"/>
                          </a:solidFill>
                          <a:latin typeface="Cambria Math" panose="02040503050406030204" pitchFamily="18" charset="0"/>
                        </a:rPr>
                        <m:t>+</m:t>
                      </m:r>
                      <m:sSubSup>
                        <m:sSubSupPr>
                          <m:ctrlPr>
                            <a:rPr lang="en-IN" i="1">
                              <a:solidFill>
                                <a:srgbClr val="000000"/>
                              </a:solidFill>
                              <a:latin typeface="Cambria Math" panose="02040503050406030204" pitchFamily="18" charset="0"/>
                            </a:rPr>
                          </m:ctrlPr>
                        </m:sSubSupPr>
                        <m:e>
                          <m:r>
                            <a:rPr lang="en-IN" i="1">
                              <a:solidFill>
                                <a:srgbClr val="000000"/>
                              </a:solidFill>
                              <a:latin typeface="Cambria Math" panose="02040503050406030204" pitchFamily="18" charset="0"/>
                            </a:rPr>
                            <m:t>𝑒</m:t>
                          </m:r>
                        </m:e>
                        <m:sub>
                          <m:r>
                            <a:rPr lang="en-IN" b="0" i="1" smtClean="0">
                              <a:solidFill>
                                <a:srgbClr val="000000"/>
                              </a:solidFill>
                              <a:latin typeface="Cambria Math" panose="02040503050406030204" pitchFamily="18" charset="0"/>
                            </a:rPr>
                            <m:t>2</m:t>
                          </m:r>
                        </m:sub>
                        <m:sup>
                          <m:r>
                            <a:rPr lang="en-IN" i="1">
                              <a:solidFill>
                                <a:srgbClr val="000000"/>
                              </a:solidFill>
                              <a:latin typeface="Cambria Math" panose="02040503050406030204" pitchFamily="18" charset="0"/>
                            </a:rPr>
                            <m:t>2</m:t>
                          </m:r>
                        </m:sup>
                      </m:sSubSup>
                      <m:r>
                        <a:rPr lang="en-IN" b="0" i="1" smtClean="0">
                          <a:solidFill>
                            <a:srgbClr val="000000"/>
                          </a:solidFill>
                          <a:latin typeface="Cambria Math" panose="02040503050406030204" pitchFamily="18" charset="0"/>
                        </a:rPr>
                        <m:t>+</m:t>
                      </m:r>
                      <m:sSubSup>
                        <m:sSubSupPr>
                          <m:ctrlPr>
                            <a:rPr lang="en-IN" i="1">
                              <a:solidFill>
                                <a:srgbClr val="000000"/>
                              </a:solidFill>
                              <a:latin typeface="Cambria Math" panose="02040503050406030204" pitchFamily="18" charset="0"/>
                            </a:rPr>
                          </m:ctrlPr>
                        </m:sSubSupPr>
                        <m:e>
                          <m:r>
                            <a:rPr lang="en-IN" i="1">
                              <a:solidFill>
                                <a:srgbClr val="000000"/>
                              </a:solidFill>
                              <a:latin typeface="Cambria Math" panose="02040503050406030204" pitchFamily="18" charset="0"/>
                            </a:rPr>
                            <m:t>𝑒</m:t>
                          </m:r>
                        </m:e>
                        <m:sub>
                          <m:r>
                            <a:rPr lang="en-IN" b="0" i="1" smtClean="0">
                              <a:solidFill>
                                <a:srgbClr val="000000"/>
                              </a:solidFill>
                              <a:latin typeface="Cambria Math" panose="02040503050406030204" pitchFamily="18" charset="0"/>
                            </a:rPr>
                            <m:t>3</m:t>
                          </m:r>
                        </m:sub>
                        <m:sup>
                          <m:r>
                            <a:rPr lang="en-IN" i="1">
                              <a:solidFill>
                                <a:srgbClr val="000000"/>
                              </a:solidFill>
                              <a:latin typeface="Cambria Math" panose="02040503050406030204" pitchFamily="18" charset="0"/>
                            </a:rPr>
                            <m:t>2</m:t>
                          </m:r>
                        </m:sup>
                      </m:sSubSup>
                      <m:r>
                        <a:rPr lang="en-IN" b="0" i="1" smtClean="0">
                          <a:solidFill>
                            <a:srgbClr val="000000"/>
                          </a:solidFill>
                          <a:latin typeface="Cambria Math" panose="02040503050406030204" pitchFamily="18" charset="0"/>
                        </a:rPr>
                        <m:t>+</m:t>
                      </m:r>
                      <m:sSubSup>
                        <m:sSubSupPr>
                          <m:ctrlPr>
                            <a:rPr lang="en-IN" i="1">
                              <a:solidFill>
                                <a:srgbClr val="000000"/>
                              </a:solidFill>
                              <a:latin typeface="Cambria Math" panose="02040503050406030204" pitchFamily="18" charset="0"/>
                            </a:rPr>
                          </m:ctrlPr>
                        </m:sSubSupPr>
                        <m:e>
                          <m:r>
                            <a:rPr lang="en-IN" i="1">
                              <a:solidFill>
                                <a:srgbClr val="000000"/>
                              </a:solidFill>
                              <a:latin typeface="Cambria Math" panose="02040503050406030204" pitchFamily="18" charset="0"/>
                            </a:rPr>
                            <m:t>𝑒</m:t>
                          </m:r>
                        </m:e>
                        <m:sub>
                          <m:r>
                            <a:rPr lang="en-IN" b="0" i="1" smtClean="0">
                              <a:solidFill>
                                <a:srgbClr val="000000"/>
                              </a:solidFill>
                              <a:latin typeface="Cambria Math" panose="02040503050406030204" pitchFamily="18" charset="0"/>
                            </a:rPr>
                            <m:t>4</m:t>
                          </m:r>
                        </m:sub>
                        <m:sup>
                          <m:r>
                            <a:rPr lang="en-IN" i="1">
                              <a:solidFill>
                                <a:srgbClr val="000000"/>
                              </a:solidFill>
                              <a:latin typeface="Cambria Math" panose="02040503050406030204" pitchFamily="18" charset="0"/>
                            </a:rPr>
                            <m:t>2</m:t>
                          </m:r>
                        </m:sup>
                      </m:sSubSup>
                      <m:r>
                        <a:rPr lang="en-IN" b="0" i="1" smtClean="0">
                          <a:solidFill>
                            <a:srgbClr val="000000"/>
                          </a:solidFill>
                          <a:latin typeface="Cambria Math" panose="02040503050406030204" pitchFamily="18" charset="0"/>
                        </a:rPr>
                        <m:t>+</m:t>
                      </m:r>
                      <m:sSubSup>
                        <m:sSubSupPr>
                          <m:ctrlPr>
                            <a:rPr lang="en-IN" i="1">
                              <a:solidFill>
                                <a:srgbClr val="000000"/>
                              </a:solidFill>
                              <a:latin typeface="Cambria Math" panose="02040503050406030204" pitchFamily="18" charset="0"/>
                            </a:rPr>
                          </m:ctrlPr>
                        </m:sSubSupPr>
                        <m:e>
                          <m:r>
                            <a:rPr lang="en-IN" i="1">
                              <a:solidFill>
                                <a:srgbClr val="000000"/>
                              </a:solidFill>
                              <a:latin typeface="Cambria Math" panose="02040503050406030204" pitchFamily="18" charset="0"/>
                            </a:rPr>
                            <m:t>𝑒</m:t>
                          </m:r>
                        </m:e>
                        <m:sub>
                          <m:r>
                            <a:rPr lang="en-IN" b="0" i="1" smtClean="0">
                              <a:solidFill>
                                <a:srgbClr val="000000"/>
                              </a:solidFill>
                              <a:latin typeface="Cambria Math" panose="02040503050406030204" pitchFamily="18" charset="0"/>
                            </a:rPr>
                            <m:t>5</m:t>
                          </m:r>
                        </m:sub>
                        <m:sup>
                          <m:r>
                            <a:rPr lang="en-IN" i="1">
                              <a:solidFill>
                                <a:srgbClr val="000000"/>
                              </a:solidFill>
                              <a:latin typeface="Cambria Math" panose="02040503050406030204" pitchFamily="18" charset="0"/>
                            </a:rPr>
                            <m:t>2</m:t>
                          </m:r>
                        </m:sup>
                      </m:sSubSup>
                      <m:r>
                        <a:rPr lang="en-IN" b="0" i="1" smtClean="0">
                          <a:solidFill>
                            <a:srgbClr val="000000"/>
                          </a:solidFill>
                          <a:latin typeface="Cambria Math" panose="02040503050406030204" pitchFamily="18" charset="0"/>
                        </a:rPr>
                        <m:t>] </m:t>
                      </m:r>
                    </m:oMath>
                  </m:oMathPara>
                </a14:m>
                <a:endParaRPr lang="en-IN" b="0" dirty="0">
                  <a:solidFill>
                    <a:srgbClr val="000000"/>
                  </a:solidFill>
                  <a:latin typeface="+mj-lt"/>
                </a:endParaRPr>
              </a:p>
              <a:p>
                <a:endParaRPr lang="en-IN" b="0" dirty="0">
                  <a:solidFill>
                    <a:srgbClr val="000000"/>
                  </a:solidFill>
                  <a:latin typeface="+mj-lt"/>
                </a:endParaRPr>
              </a:p>
              <a:p>
                <a:pPr marL="285750" indent="-285750">
                  <a:buFont typeface="Arial" panose="020B0604020202020204" pitchFamily="34" charset="0"/>
                  <a:buChar char="•"/>
                </a:pPr>
                <a:r>
                  <a:rPr lang="en-IN" dirty="0">
                    <a:solidFill>
                      <a:srgbClr val="000000"/>
                    </a:solidFill>
                    <a:latin typeface="+mj-lt"/>
                  </a:rPr>
                  <a:t>This is called </a:t>
                </a:r>
                <a:r>
                  <a:rPr lang="en-IN" b="1" dirty="0">
                    <a:solidFill>
                      <a:srgbClr val="000000"/>
                    </a:solidFill>
                    <a:latin typeface="+mj-lt"/>
                  </a:rPr>
                  <a:t>minimizing sum of squared errors</a:t>
                </a:r>
                <a:r>
                  <a:rPr lang="en-IN" dirty="0">
                    <a:solidFill>
                      <a:srgbClr val="000000"/>
                    </a:solidFill>
                    <a:latin typeface="+mj-lt"/>
                  </a:rPr>
                  <a:t> </a:t>
                </a:r>
              </a:p>
            </p:txBody>
          </p:sp>
        </mc:Choice>
        <mc:Fallback xmlns="">
          <p:sp>
            <p:nvSpPr>
              <p:cNvPr id="14" name="Rectangle 13">
                <a:extLst>
                  <a:ext uri="{FF2B5EF4-FFF2-40B4-BE49-F238E27FC236}">
                    <a16:creationId xmlns:a16="http://schemas.microsoft.com/office/drawing/2014/main" id="{3D9D1AEA-56C0-4FE2-8FAF-2DDC08FEBB2D}"/>
                  </a:ext>
                </a:extLst>
              </p:cNvPr>
              <p:cNvSpPr>
                <a:spLocks noRot="1" noChangeAspect="1" noMove="1" noResize="1" noEditPoints="1" noAdjustHandles="1" noChangeArrowheads="1" noChangeShapeType="1" noTextEdit="1"/>
              </p:cNvSpPr>
              <p:nvPr/>
            </p:nvSpPr>
            <p:spPr>
              <a:xfrm>
                <a:off x="3925481" y="4277192"/>
                <a:ext cx="7019033" cy="1763688"/>
              </a:xfrm>
              <a:prstGeom prst="rect">
                <a:avLst/>
              </a:prstGeom>
              <a:blipFill>
                <a:blip r:embed="rId2"/>
                <a:stretch>
                  <a:fillRect l="-520" b="-4467"/>
                </a:stretch>
              </a:blipFill>
              <a:ln>
                <a:solidFill>
                  <a:schemeClr val="tx1"/>
                </a:solidFill>
              </a:ln>
            </p:spPr>
            <p:txBody>
              <a:bodyPr/>
              <a:lstStyle/>
              <a:p>
                <a:r>
                  <a:rPr lang="en-IN">
                    <a:noFill/>
                  </a:rPr>
                  <a:t> </a:t>
                </a:r>
              </a:p>
            </p:txBody>
          </p:sp>
        </mc:Fallback>
      </mc:AlternateContent>
      <p:sp>
        <p:nvSpPr>
          <p:cNvPr id="26" name="Oval 25">
            <a:extLst>
              <a:ext uri="{FF2B5EF4-FFF2-40B4-BE49-F238E27FC236}">
                <a16:creationId xmlns:a16="http://schemas.microsoft.com/office/drawing/2014/main" id="{64081387-2575-49E5-A6BF-F61F48236A1C}"/>
              </a:ext>
            </a:extLst>
          </p:cNvPr>
          <p:cNvSpPr/>
          <p:nvPr/>
        </p:nvSpPr>
        <p:spPr>
          <a:xfrm>
            <a:off x="6921528" y="2826244"/>
            <a:ext cx="113118" cy="1131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BE99820E-C94B-469C-BC82-EAA1490F4947}"/>
              </a:ext>
            </a:extLst>
          </p:cNvPr>
          <p:cNvSpPr/>
          <p:nvPr/>
        </p:nvSpPr>
        <p:spPr>
          <a:xfrm>
            <a:off x="7434998" y="2495543"/>
            <a:ext cx="113118" cy="1131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17A45215-A866-4938-95A5-01CE96D6FB2F}"/>
              </a:ext>
            </a:extLst>
          </p:cNvPr>
          <p:cNvSpPr/>
          <p:nvPr/>
        </p:nvSpPr>
        <p:spPr>
          <a:xfrm>
            <a:off x="7916733" y="2786018"/>
            <a:ext cx="113118" cy="1131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A37304E4-78A6-42EC-AECD-16311C634597}"/>
              </a:ext>
            </a:extLst>
          </p:cNvPr>
          <p:cNvSpPr/>
          <p:nvPr/>
        </p:nvSpPr>
        <p:spPr>
          <a:xfrm>
            <a:off x="8247670" y="2230452"/>
            <a:ext cx="113118" cy="1131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31E1E985-14A5-4C90-9E83-B34A18E136EC}"/>
              </a:ext>
            </a:extLst>
          </p:cNvPr>
          <p:cNvSpPr/>
          <p:nvPr/>
        </p:nvSpPr>
        <p:spPr>
          <a:xfrm>
            <a:off x="8995866" y="2239767"/>
            <a:ext cx="113118" cy="1131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056808D0-D473-456B-B769-49740DE630B6}"/>
              </a:ext>
            </a:extLst>
          </p:cNvPr>
          <p:cNvCxnSpPr>
            <a:cxnSpLocks/>
          </p:cNvCxnSpPr>
          <p:nvPr/>
        </p:nvCxnSpPr>
        <p:spPr>
          <a:xfrm>
            <a:off x="6096000" y="2552103"/>
            <a:ext cx="3190362"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2146CA2-A331-439C-B0B7-6E89C7B86AF2}"/>
              </a:ext>
            </a:extLst>
          </p:cNvPr>
          <p:cNvCxnSpPr>
            <a:stCxn id="26" idx="0"/>
          </p:cNvCxnSpPr>
          <p:nvPr/>
        </p:nvCxnSpPr>
        <p:spPr>
          <a:xfrm flipV="1">
            <a:off x="6978087" y="2552103"/>
            <a:ext cx="0" cy="27414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AE8C826-CD2C-4C86-84E0-9B743C5C236C}"/>
              </a:ext>
            </a:extLst>
          </p:cNvPr>
          <p:cNvCxnSpPr>
            <a:cxnSpLocks/>
            <a:endCxn id="32" idx="4"/>
          </p:cNvCxnSpPr>
          <p:nvPr/>
        </p:nvCxnSpPr>
        <p:spPr>
          <a:xfrm flipV="1">
            <a:off x="8304229" y="2343572"/>
            <a:ext cx="0" cy="2085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1969491-E870-4531-8503-1B8A8206629B}"/>
              </a:ext>
            </a:extLst>
          </p:cNvPr>
          <p:cNvCxnSpPr>
            <a:cxnSpLocks/>
            <a:stCxn id="31" idx="0"/>
          </p:cNvCxnSpPr>
          <p:nvPr/>
        </p:nvCxnSpPr>
        <p:spPr>
          <a:xfrm flipV="1">
            <a:off x="7973292" y="2541520"/>
            <a:ext cx="0" cy="24449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6CCD0B8-79BA-4717-A103-8094D0126FAB}"/>
              </a:ext>
            </a:extLst>
          </p:cNvPr>
          <p:cNvCxnSpPr>
            <a:cxnSpLocks/>
          </p:cNvCxnSpPr>
          <p:nvPr/>
        </p:nvCxnSpPr>
        <p:spPr>
          <a:xfrm flipV="1">
            <a:off x="9062638" y="2352887"/>
            <a:ext cx="0" cy="2085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9268645-8ADD-4F52-A932-67D5639CA061}"/>
                  </a:ext>
                </a:extLst>
              </p:cNvPr>
              <p:cNvSpPr txBox="1"/>
              <p:nvPr/>
            </p:nvSpPr>
            <p:spPr>
              <a:xfrm>
                <a:off x="6620666" y="2473205"/>
                <a:ext cx="31107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𝑒</m:t>
                          </m:r>
                        </m:e>
                        <m:sub>
                          <m:r>
                            <a:rPr lang="en-IN" b="0" i="1" smtClean="0">
                              <a:latin typeface="Cambria Math" panose="02040503050406030204" pitchFamily="18" charset="0"/>
                            </a:rPr>
                            <m:t>1</m:t>
                          </m:r>
                        </m:sub>
                      </m:sSub>
                    </m:oMath>
                  </m:oMathPara>
                </a14:m>
                <a:endParaRPr lang="en-IN" dirty="0"/>
              </a:p>
            </p:txBody>
          </p:sp>
        </mc:Choice>
        <mc:Fallback xmlns="">
          <p:sp>
            <p:nvSpPr>
              <p:cNvPr id="43" name="TextBox 42">
                <a:extLst>
                  <a:ext uri="{FF2B5EF4-FFF2-40B4-BE49-F238E27FC236}">
                    <a16:creationId xmlns:a16="http://schemas.microsoft.com/office/drawing/2014/main" id="{89268645-8ADD-4F52-A932-67D5639CA061}"/>
                  </a:ext>
                </a:extLst>
              </p:cNvPr>
              <p:cNvSpPr txBox="1">
                <a:spLocks noRot="1" noChangeAspect="1" noMove="1" noResize="1" noEditPoints="1" noAdjustHandles="1" noChangeArrowheads="1" noChangeShapeType="1" noTextEdit="1"/>
              </p:cNvSpPr>
              <p:nvPr/>
            </p:nvSpPr>
            <p:spPr>
              <a:xfrm>
                <a:off x="6620666" y="2473205"/>
                <a:ext cx="311076" cy="369332"/>
              </a:xfrm>
              <a:prstGeom prst="rect">
                <a:avLst/>
              </a:prstGeom>
              <a:blipFill>
                <a:blip r:embed="rId3"/>
                <a:stretch>
                  <a:fillRect r="-1372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6EC517A-7527-4D64-8BCF-81E5687C6D42}"/>
                  </a:ext>
                </a:extLst>
              </p:cNvPr>
              <p:cNvSpPr txBox="1"/>
              <p:nvPr/>
            </p:nvSpPr>
            <p:spPr>
              <a:xfrm>
                <a:off x="7244958" y="2115063"/>
                <a:ext cx="31107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𝑒</m:t>
                          </m:r>
                        </m:e>
                        <m:sub>
                          <m:r>
                            <a:rPr lang="en-IN" b="0" i="1" smtClean="0">
                              <a:latin typeface="Cambria Math" panose="02040503050406030204" pitchFamily="18" charset="0"/>
                            </a:rPr>
                            <m:t>2</m:t>
                          </m:r>
                        </m:sub>
                      </m:sSub>
                    </m:oMath>
                  </m:oMathPara>
                </a14:m>
                <a:endParaRPr lang="en-IN" dirty="0"/>
              </a:p>
            </p:txBody>
          </p:sp>
        </mc:Choice>
        <mc:Fallback xmlns="">
          <p:sp>
            <p:nvSpPr>
              <p:cNvPr id="44" name="TextBox 43">
                <a:extLst>
                  <a:ext uri="{FF2B5EF4-FFF2-40B4-BE49-F238E27FC236}">
                    <a16:creationId xmlns:a16="http://schemas.microsoft.com/office/drawing/2014/main" id="{E6EC517A-7527-4D64-8BCF-81E5687C6D42}"/>
                  </a:ext>
                </a:extLst>
              </p:cNvPr>
              <p:cNvSpPr txBox="1">
                <a:spLocks noRot="1" noChangeAspect="1" noMove="1" noResize="1" noEditPoints="1" noAdjustHandles="1" noChangeArrowheads="1" noChangeShapeType="1" noTextEdit="1"/>
              </p:cNvSpPr>
              <p:nvPr/>
            </p:nvSpPr>
            <p:spPr>
              <a:xfrm>
                <a:off x="7244958" y="2115063"/>
                <a:ext cx="311076" cy="369332"/>
              </a:xfrm>
              <a:prstGeom prst="rect">
                <a:avLst/>
              </a:prstGeom>
              <a:blipFill>
                <a:blip r:embed="rId4"/>
                <a:stretch>
                  <a:fillRect r="-1346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11D8405-5EFF-41F1-AD6A-9842CBE9BE82}"/>
                  </a:ext>
                </a:extLst>
              </p:cNvPr>
              <p:cNvSpPr txBox="1"/>
              <p:nvPr/>
            </p:nvSpPr>
            <p:spPr>
              <a:xfrm>
                <a:off x="7642356" y="2456912"/>
                <a:ext cx="289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𝑒</m:t>
                          </m:r>
                        </m:e>
                        <m:sub>
                          <m:r>
                            <a:rPr lang="en-IN" b="0" i="1" smtClean="0">
                              <a:latin typeface="Cambria Math" panose="02040503050406030204" pitchFamily="18" charset="0"/>
                            </a:rPr>
                            <m:t>3</m:t>
                          </m:r>
                        </m:sub>
                      </m:sSub>
                    </m:oMath>
                  </m:oMathPara>
                </a14:m>
                <a:endParaRPr lang="en-IN" dirty="0"/>
              </a:p>
            </p:txBody>
          </p:sp>
        </mc:Choice>
        <mc:Fallback xmlns="">
          <p:sp>
            <p:nvSpPr>
              <p:cNvPr id="45" name="TextBox 44">
                <a:extLst>
                  <a:ext uri="{FF2B5EF4-FFF2-40B4-BE49-F238E27FC236}">
                    <a16:creationId xmlns:a16="http://schemas.microsoft.com/office/drawing/2014/main" id="{511D8405-5EFF-41F1-AD6A-9842CBE9BE82}"/>
                  </a:ext>
                </a:extLst>
              </p:cNvPr>
              <p:cNvSpPr txBox="1">
                <a:spLocks noRot="1" noChangeAspect="1" noMove="1" noResize="1" noEditPoints="1" noAdjustHandles="1" noChangeArrowheads="1" noChangeShapeType="1" noTextEdit="1"/>
              </p:cNvSpPr>
              <p:nvPr/>
            </p:nvSpPr>
            <p:spPr>
              <a:xfrm>
                <a:off x="7642356" y="2456912"/>
                <a:ext cx="289516" cy="369332"/>
              </a:xfrm>
              <a:prstGeom prst="rect">
                <a:avLst/>
              </a:prstGeom>
              <a:blipFill>
                <a:blip r:embed="rId5"/>
                <a:stretch>
                  <a:fillRect r="-234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CF72C5C-D7B4-4572-B9DD-4E7C5C72CE21}"/>
                  </a:ext>
                </a:extLst>
              </p:cNvPr>
              <p:cNvSpPr txBox="1"/>
              <p:nvPr/>
            </p:nvSpPr>
            <p:spPr>
              <a:xfrm>
                <a:off x="8375566" y="2215799"/>
                <a:ext cx="24622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𝑒</m:t>
                          </m:r>
                        </m:e>
                        <m:sub>
                          <m:r>
                            <a:rPr lang="en-IN" b="0" i="1" smtClean="0">
                              <a:latin typeface="Cambria Math" panose="02040503050406030204" pitchFamily="18" charset="0"/>
                            </a:rPr>
                            <m:t>4</m:t>
                          </m:r>
                        </m:sub>
                      </m:sSub>
                    </m:oMath>
                  </m:oMathPara>
                </a14:m>
                <a:endParaRPr lang="en-IN" dirty="0"/>
              </a:p>
            </p:txBody>
          </p:sp>
        </mc:Choice>
        <mc:Fallback xmlns="">
          <p:sp>
            <p:nvSpPr>
              <p:cNvPr id="46" name="TextBox 45">
                <a:extLst>
                  <a:ext uri="{FF2B5EF4-FFF2-40B4-BE49-F238E27FC236}">
                    <a16:creationId xmlns:a16="http://schemas.microsoft.com/office/drawing/2014/main" id="{8CF72C5C-D7B4-4572-B9DD-4E7C5C72CE21}"/>
                  </a:ext>
                </a:extLst>
              </p:cNvPr>
              <p:cNvSpPr txBox="1">
                <a:spLocks noRot="1" noChangeAspect="1" noMove="1" noResize="1" noEditPoints="1" noAdjustHandles="1" noChangeArrowheads="1" noChangeShapeType="1" noTextEdit="1"/>
              </p:cNvSpPr>
              <p:nvPr/>
            </p:nvSpPr>
            <p:spPr>
              <a:xfrm>
                <a:off x="8375566" y="2215799"/>
                <a:ext cx="246223" cy="369332"/>
              </a:xfrm>
              <a:prstGeom prst="rect">
                <a:avLst/>
              </a:prstGeom>
              <a:blipFill>
                <a:blip r:embed="rId6"/>
                <a:stretch>
                  <a:fillRect r="-4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9DB1016-93CA-4452-A042-215DA9460C6B}"/>
                  </a:ext>
                </a:extLst>
              </p:cNvPr>
              <p:cNvSpPr txBox="1"/>
              <p:nvPr/>
            </p:nvSpPr>
            <p:spPr>
              <a:xfrm>
                <a:off x="9108984" y="2248380"/>
                <a:ext cx="31107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𝑒</m:t>
                          </m:r>
                        </m:e>
                        <m:sub>
                          <m:r>
                            <a:rPr lang="en-IN" b="0" i="1" smtClean="0">
                              <a:latin typeface="Cambria Math" panose="02040503050406030204" pitchFamily="18" charset="0"/>
                            </a:rPr>
                            <m:t>5</m:t>
                          </m:r>
                        </m:sub>
                      </m:sSub>
                    </m:oMath>
                  </m:oMathPara>
                </a14:m>
                <a:endParaRPr lang="en-IN" dirty="0"/>
              </a:p>
            </p:txBody>
          </p:sp>
        </mc:Choice>
        <mc:Fallback xmlns="">
          <p:sp>
            <p:nvSpPr>
              <p:cNvPr id="47" name="TextBox 46">
                <a:extLst>
                  <a:ext uri="{FF2B5EF4-FFF2-40B4-BE49-F238E27FC236}">
                    <a16:creationId xmlns:a16="http://schemas.microsoft.com/office/drawing/2014/main" id="{79DB1016-93CA-4452-A042-215DA9460C6B}"/>
                  </a:ext>
                </a:extLst>
              </p:cNvPr>
              <p:cNvSpPr txBox="1">
                <a:spLocks noRot="1" noChangeAspect="1" noMove="1" noResize="1" noEditPoints="1" noAdjustHandles="1" noChangeArrowheads="1" noChangeShapeType="1" noTextEdit="1"/>
              </p:cNvSpPr>
              <p:nvPr/>
            </p:nvSpPr>
            <p:spPr>
              <a:xfrm>
                <a:off x="9108984" y="2248380"/>
                <a:ext cx="311076" cy="369332"/>
              </a:xfrm>
              <a:prstGeom prst="rect">
                <a:avLst/>
              </a:prstGeom>
              <a:blipFill>
                <a:blip r:embed="rId7"/>
                <a:stretch>
                  <a:fillRect r="-15686"/>
                </a:stretch>
              </a:blipFill>
            </p:spPr>
            <p:txBody>
              <a:bodyPr/>
              <a:lstStyle/>
              <a:p>
                <a:r>
                  <a:rPr lang="en-IN">
                    <a:noFill/>
                  </a:rPr>
                  <a:t> </a:t>
                </a:r>
              </a:p>
            </p:txBody>
          </p:sp>
        </mc:Fallback>
      </mc:AlternateContent>
      <p:sp>
        <p:nvSpPr>
          <p:cNvPr id="48" name="Multiplication Sign 47">
            <a:extLst>
              <a:ext uri="{FF2B5EF4-FFF2-40B4-BE49-F238E27FC236}">
                <a16:creationId xmlns:a16="http://schemas.microsoft.com/office/drawing/2014/main" id="{F29A9A4A-C344-46BA-A7EB-6837C0DC4897}"/>
              </a:ext>
            </a:extLst>
          </p:cNvPr>
          <p:cNvSpPr/>
          <p:nvPr/>
        </p:nvSpPr>
        <p:spPr>
          <a:xfrm>
            <a:off x="6900422" y="2484395"/>
            <a:ext cx="150820" cy="133317"/>
          </a:xfrm>
          <a:prstGeom prst="mathMultiply">
            <a:avLst/>
          </a:prstGeom>
          <a:solidFill>
            <a:srgbClr val="FFC000"/>
          </a:solidFill>
          <a:ln>
            <a:solidFill>
              <a:srgbClr val="FFC00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cxnSp>
        <p:nvCxnSpPr>
          <p:cNvPr id="53" name="Straight Connector 52">
            <a:extLst>
              <a:ext uri="{FF2B5EF4-FFF2-40B4-BE49-F238E27FC236}">
                <a16:creationId xmlns:a16="http://schemas.microsoft.com/office/drawing/2014/main" id="{BA8BD153-7F2C-4977-BCFA-A7DA6AEA24D3}"/>
              </a:ext>
            </a:extLst>
          </p:cNvPr>
          <p:cNvCxnSpPr>
            <a:cxnSpLocks/>
          </p:cNvCxnSpPr>
          <p:nvPr/>
        </p:nvCxnSpPr>
        <p:spPr>
          <a:xfrm>
            <a:off x="5872010" y="3534508"/>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997736-1576-4FC5-B056-916E80EBB7F5}"/>
              </a:ext>
            </a:extLst>
          </p:cNvPr>
          <p:cNvCxnSpPr>
            <a:cxnSpLocks/>
          </p:cNvCxnSpPr>
          <p:nvPr/>
        </p:nvCxnSpPr>
        <p:spPr>
          <a:xfrm>
            <a:off x="5872001" y="3229703"/>
            <a:ext cx="113121"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0DD6BDE5-CFC2-463D-960D-903A7353D4EA}"/>
              </a:ext>
            </a:extLst>
          </p:cNvPr>
          <p:cNvGrpSpPr/>
          <p:nvPr/>
        </p:nvGrpSpPr>
        <p:grpSpPr>
          <a:xfrm>
            <a:off x="5052766" y="1558307"/>
            <a:ext cx="5354426" cy="2605572"/>
            <a:chOff x="5052766" y="1558307"/>
            <a:chExt cx="5354426" cy="2605572"/>
          </a:xfrm>
        </p:grpSpPr>
        <p:cxnSp>
          <p:nvCxnSpPr>
            <p:cNvPr id="24" name="Straight Arrow Connector 23">
              <a:extLst>
                <a:ext uri="{FF2B5EF4-FFF2-40B4-BE49-F238E27FC236}">
                  <a16:creationId xmlns:a16="http://schemas.microsoft.com/office/drawing/2014/main" id="{2A051FC0-3260-48BD-9BA2-8DC3717A55DB}"/>
                </a:ext>
              </a:extLst>
            </p:cNvPr>
            <p:cNvCxnSpPr>
              <a:cxnSpLocks/>
            </p:cNvCxnSpPr>
            <p:nvPr/>
          </p:nvCxnSpPr>
          <p:spPr>
            <a:xfrm>
              <a:off x="5481341" y="3783963"/>
              <a:ext cx="413836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3F4D542-D10E-4118-8313-C9ED3D707C5B}"/>
                </a:ext>
              </a:extLst>
            </p:cNvPr>
            <p:cNvCxnSpPr>
              <a:cxnSpLocks/>
            </p:cNvCxnSpPr>
            <p:nvPr/>
          </p:nvCxnSpPr>
          <p:spPr>
            <a:xfrm flipV="1">
              <a:off x="5928571" y="1559238"/>
              <a:ext cx="0" cy="256409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6BDED96-91EB-4328-B3CB-E1A6D5E1B8E5}"/>
                </a:ext>
              </a:extLst>
            </p:cNvPr>
            <p:cNvSpPr txBox="1"/>
            <p:nvPr/>
          </p:nvSpPr>
          <p:spPr>
            <a:xfrm>
              <a:off x="5052766" y="1558307"/>
              <a:ext cx="717455" cy="369332"/>
            </a:xfrm>
            <a:prstGeom prst="rect">
              <a:avLst/>
            </a:prstGeom>
            <a:noFill/>
          </p:spPr>
          <p:txBody>
            <a:bodyPr wrap="square" rtlCol="0">
              <a:spAutoFit/>
            </a:bodyPr>
            <a:lstStyle/>
            <a:p>
              <a:pPr algn="ctr"/>
              <a:r>
                <a:rPr lang="en-IN" dirty="0"/>
                <a:t>Sales</a:t>
              </a:r>
            </a:p>
          </p:txBody>
        </p:sp>
        <p:sp>
          <p:nvSpPr>
            <p:cNvPr id="28" name="TextBox 27">
              <a:extLst>
                <a:ext uri="{FF2B5EF4-FFF2-40B4-BE49-F238E27FC236}">
                  <a16:creationId xmlns:a16="http://schemas.microsoft.com/office/drawing/2014/main" id="{7E1A1F8C-0D0D-4530-858D-083FA45D11B0}"/>
                </a:ext>
              </a:extLst>
            </p:cNvPr>
            <p:cNvSpPr txBox="1"/>
            <p:nvPr/>
          </p:nvSpPr>
          <p:spPr>
            <a:xfrm>
              <a:off x="9286362" y="3794547"/>
              <a:ext cx="1120830" cy="369332"/>
            </a:xfrm>
            <a:prstGeom prst="rect">
              <a:avLst/>
            </a:prstGeom>
            <a:noFill/>
          </p:spPr>
          <p:txBody>
            <a:bodyPr wrap="square" rtlCol="0">
              <a:spAutoFit/>
            </a:bodyPr>
            <a:lstStyle/>
            <a:p>
              <a:pPr algn="ctr"/>
              <a:r>
                <a:rPr lang="en-IN" dirty="0"/>
                <a:t>Size</a:t>
              </a:r>
            </a:p>
          </p:txBody>
        </p:sp>
        <p:cxnSp>
          <p:nvCxnSpPr>
            <p:cNvPr id="60" name="Straight Connector 59">
              <a:extLst>
                <a:ext uri="{FF2B5EF4-FFF2-40B4-BE49-F238E27FC236}">
                  <a16:creationId xmlns:a16="http://schemas.microsoft.com/office/drawing/2014/main" id="{D5AC4A22-CBC3-44BE-92D8-8FA0A1EAD5FF}"/>
                </a:ext>
              </a:extLst>
            </p:cNvPr>
            <p:cNvCxnSpPr>
              <a:cxnSpLocks/>
            </p:cNvCxnSpPr>
            <p:nvPr/>
          </p:nvCxnSpPr>
          <p:spPr>
            <a:xfrm>
              <a:off x="5874557" y="2899138"/>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EA95FA1-59ED-4A98-A7BF-C4C59F1EB90B}"/>
                </a:ext>
              </a:extLst>
            </p:cNvPr>
            <p:cNvCxnSpPr>
              <a:cxnSpLocks/>
            </p:cNvCxnSpPr>
            <p:nvPr/>
          </p:nvCxnSpPr>
          <p:spPr>
            <a:xfrm>
              <a:off x="5872001" y="2570823"/>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2F38163-A60E-4596-B896-EA816C171D79}"/>
                </a:ext>
              </a:extLst>
            </p:cNvPr>
            <p:cNvCxnSpPr>
              <a:cxnSpLocks/>
            </p:cNvCxnSpPr>
            <p:nvPr/>
          </p:nvCxnSpPr>
          <p:spPr>
            <a:xfrm>
              <a:off x="5868695" y="2224781"/>
              <a:ext cx="113121"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0875907B-BF76-4B0A-B78C-80DAA32A84E9}"/>
                </a:ext>
              </a:extLst>
            </p:cNvPr>
            <p:cNvGrpSpPr/>
            <p:nvPr/>
          </p:nvGrpSpPr>
          <p:grpSpPr>
            <a:xfrm rot="5400000">
              <a:off x="6841679" y="3120703"/>
              <a:ext cx="118983" cy="1309727"/>
              <a:chOff x="6021095" y="2377181"/>
              <a:chExt cx="118983" cy="1309727"/>
            </a:xfrm>
          </p:grpSpPr>
          <p:cxnSp>
            <p:nvCxnSpPr>
              <p:cNvPr id="69" name="Straight Connector 68">
                <a:extLst>
                  <a:ext uri="{FF2B5EF4-FFF2-40B4-BE49-F238E27FC236}">
                    <a16:creationId xmlns:a16="http://schemas.microsoft.com/office/drawing/2014/main" id="{120E88E4-DB17-43BC-93B0-BE61BB084A9C}"/>
                  </a:ext>
                </a:extLst>
              </p:cNvPr>
              <p:cNvCxnSpPr>
                <a:cxnSpLocks/>
              </p:cNvCxnSpPr>
              <p:nvPr/>
            </p:nvCxnSpPr>
            <p:spPr>
              <a:xfrm>
                <a:off x="6024410" y="3686908"/>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4194E4D-4633-4453-9B3E-E13D67DC93E3}"/>
                  </a:ext>
                </a:extLst>
              </p:cNvPr>
              <p:cNvCxnSpPr>
                <a:cxnSpLocks/>
              </p:cNvCxnSpPr>
              <p:nvPr/>
            </p:nvCxnSpPr>
            <p:spPr>
              <a:xfrm>
                <a:off x="6024401" y="3382103"/>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686E4A2-C676-4241-B479-7BEB3AE0CCB7}"/>
                  </a:ext>
                </a:extLst>
              </p:cNvPr>
              <p:cNvCxnSpPr>
                <a:cxnSpLocks/>
              </p:cNvCxnSpPr>
              <p:nvPr/>
            </p:nvCxnSpPr>
            <p:spPr>
              <a:xfrm>
                <a:off x="6026957" y="3051538"/>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693AC5A-7E37-461A-BC50-F71988190966}"/>
                  </a:ext>
                </a:extLst>
              </p:cNvPr>
              <p:cNvCxnSpPr>
                <a:cxnSpLocks/>
              </p:cNvCxnSpPr>
              <p:nvPr/>
            </p:nvCxnSpPr>
            <p:spPr>
              <a:xfrm>
                <a:off x="6024401" y="2723223"/>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867D8B-400E-4FCC-BEFB-8C507976745B}"/>
                  </a:ext>
                </a:extLst>
              </p:cNvPr>
              <p:cNvCxnSpPr>
                <a:cxnSpLocks/>
              </p:cNvCxnSpPr>
              <p:nvPr/>
            </p:nvCxnSpPr>
            <p:spPr>
              <a:xfrm>
                <a:off x="6021095" y="2377181"/>
                <a:ext cx="113121"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53B1F5B9-8380-4235-8BA2-31E068A14685}"/>
                </a:ext>
              </a:extLst>
            </p:cNvPr>
            <p:cNvGrpSpPr/>
            <p:nvPr/>
          </p:nvGrpSpPr>
          <p:grpSpPr>
            <a:xfrm rot="5400000">
              <a:off x="8509201" y="3120631"/>
              <a:ext cx="118983" cy="1309727"/>
              <a:chOff x="6021095" y="2377181"/>
              <a:chExt cx="118983" cy="1309727"/>
            </a:xfrm>
          </p:grpSpPr>
          <p:cxnSp>
            <p:nvCxnSpPr>
              <p:cNvPr id="76" name="Straight Connector 75">
                <a:extLst>
                  <a:ext uri="{FF2B5EF4-FFF2-40B4-BE49-F238E27FC236}">
                    <a16:creationId xmlns:a16="http://schemas.microsoft.com/office/drawing/2014/main" id="{16615B69-A32C-40AD-B0A4-975D170EA291}"/>
                  </a:ext>
                </a:extLst>
              </p:cNvPr>
              <p:cNvCxnSpPr>
                <a:cxnSpLocks/>
              </p:cNvCxnSpPr>
              <p:nvPr/>
            </p:nvCxnSpPr>
            <p:spPr>
              <a:xfrm>
                <a:off x="6024410" y="3686908"/>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8807EFD-351F-4D91-AAD3-A7FB27D24456}"/>
                  </a:ext>
                </a:extLst>
              </p:cNvPr>
              <p:cNvCxnSpPr>
                <a:cxnSpLocks/>
              </p:cNvCxnSpPr>
              <p:nvPr/>
            </p:nvCxnSpPr>
            <p:spPr>
              <a:xfrm>
                <a:off x="6024401" y="3382103"/>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601DC86-6EE3-47D7-A647-F33396E6BD53}"/>
                  </a:ext>
                </a:extLst>
              </p:cNvPr>
              <p:cNvCxnSpPr>
                <a:cxnSpLocks/>
              </p:cNvCxnSpPr>
              <p:nvPr/>
            </p:nvCxnSpPr>
            <p:spPr>
              <a:xfrm>
                <a:off x="6026957" y="3051538"/>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D49E3FD-86A5-458A-842E-ECB486A1D2A0}"/>
                  </a:ext>
                </a:extLst>
              </p:cNvPr>
              <p:cNvCxnSpPr>
                <a:cxnSpLocks/>
              </p:cNvCxnSpPr>
              <p:nvPr/>
            </p:nvCxnSpPr>
            <p:spPr>
              <a:xfrm>
                <a:off x="6024401" y="2723223"/>
                <a:ext cx="113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0101B2A-8B56-43AC-A0F5-8344E88AD41B}"/>
                  </a:ext>
                </a:extLst>
              </p:cNvPr>
              <p:cNvCxnSpPr>
                <a:cxnSpLocks/>
              </p:cNvCxnSpPr>
              <p:nvPr/>
            </p:nvCxnSpPr>
            <p:spPr>
              <a:xfrm>
                <a:off x="6021095" y="2377181"/>
                <a:ext cx="113121"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81" name="Straight Connector 80">
              <a:extLst>
                <a:ext uri="{FF2B5EF4-FFF2-40B4-BE49-F238E27FC236}">
                  <a16:creationId xmlns:a16="http://schemas.microsoft.com/office/drawing/2014/main" id="{138ADCBE-6F9A-4E23-B63D-6E93F4D8CD2C}"/>
                </a:ext>
              </a:extLst>
            </p:cNvPr>
            <p:cNvCxnSpPr>
              <a:cxnSpLocks/>
            </p:cNvCxnSpPr>
            <p:nvPr/>
          </p:nvCxnSpPr>
          <p:spPr>
            <a:xfrm>
              <a:off x="5867935" y="1927639"/>
              <a:ext cx="113121"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8768065E-C187-4C60-B849-86047DB89D9E}"/>
                </a:ext>
              </a:extLst>
            </p:cNvPr>
            <p:cNvGrpSpPr/>
            <p:nvPr/>
          </p:nvGrpSpPr>
          <p:grpSpPr>
            <a:xfrm>
              <a:off x="5563482" y="2471790"/>
              <a:ext cx="315941" cy="1201415"/>
              <a:chOff x="5563481" y="2471789"/>
              <a:chExt cx="315941" cy="1201415"/>
            </a:xfrm>
          </p:grpSpPr>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50B2D3C-C64C-420A-B040-D95F3FB7D1BD}"/>
                      </a:ext>
                    </a:extLst>
                  </p:cNvPr>
                  <p:cNvSpPr txBox="1"/>
                  <p:nvPr/>
                </p:nvSpPr>
                <p:spPr>
                  <a:xfrm>
                    <a:off x="5568346" y="3426983"/>
                    <a:ext cx="311076"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000" i="1" smtClean="0">
                              <a:latin typeface="Cambria Math" panose="02040503050406030204" pitchFamily="18" charset="0"/>
                            </a:rPr>
                            <m:t>1</m:t>
                          </m:r>
                          <m:r>
                            <a:rPr lang="en-IN" sz="1000" b="0" i="1" smtClean="0">
                              <a:latin typeface="Cambria Math" panose="02040503050406030204" pitchFamily="18" charset="0"/>
                            </a:rPr>
                            <m:t>00</m:t>
                          </m:r>
                        </m:oMath>
                      </m:oMathPara>
                    </a14:m>
                    <a:endParaRPr lang="en-IN" sz="1000" dirty="0"/>
                  </a:p>
                </p:txBody>
              </p:sp>
            </mc:Choice>
            <mc:Fallback xmlns="">
              <p:sp>
                <p:nvSpPr>
                  <p:cNvPr id="82" name="TextBox 81">
                    <a:extLst>
                      <a:ext uri="{FF2B5EF4-FFF2-40B4-BE49-F238E27FC236}">
                        <a16:creationId xmlns:a16="http://schemas.microsoft.com/office/drawing/2014/main" id="{050B2D3C-C64C-420A-B040-D95F3FB7D1BD}"/>
                      </a:ext>
                    </a:extLst>
                  </p:cNvPr>
                  <p:cNvSpPr txBox="1">
                    <a:spLocks noRot="1" noChangeAspect="1" noMove="1" noResize="1" noEditPoints="1" noAdjustHandles="1" noChangeArrowheads="1" noChangeShapeType="1" noTextEdit="1"/>
                  </p:cNvSpPr>
                  <p:nvPr/>
                </p:nvSpPr>
                <p:spPr>
                  <a:xfrm>
                    <a:off x="5568346" y="3426983"/>
                    <a:ext cx="311076" cy="246221"/>
                  </a:xfrm>
                  <a:prstGeom prst="rect">
                    <a:avLst/>
                  </a:prstGeom>
                  <a:blipFill>
                    <a:blip r:embed="rId8"/>
                    <a:stretch>
                      <a:fillRect r="-1372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FFF4AC12-08AB-47F5-87FD-08DD4018024F}"/>
                      </a:ext>
                    </a:extLst>
                  </p:cNvPr>
                  <p:cNvSpPr txBox="1"/>
                  <p:nvPr/>
                </p:nvSpPr>
                <p:spPr>
                  <a:xfrm>
                    <a:off x="5563481" y="3122069"/>
                    <a:ext cx="311076"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000" i="1" smtClean="0">
                              <a:latin typeface="Cambria Math" panose="02040503050406030204" pitchFamily="18" charset="0"/>
                            </a:rPr>
                            <m:t>2</m:t>
                          </m:r>
                          <m:r>
                            <a:rPr lang="en-IN" sz="1000" b="0" i="1" smtClean="0">
                              <a:latin typeface="Cambria Math" panose="02040503050406030204" pitchFamily="18" charset="0"/>
                            </a:rPr>
                            <m:t>00</m:t>
                          </m:r>
                        </m:oMath>
                      </m:oMathPara>
                    </a14:m>
                    <a:endParaRPr lang="en-IN" sz="1000" dirty="0"/>
                  </a:p>
                </p:txBody>
              </p:sp>
            </mc:Choice>
            <mc:Fallback xmlns="">
              <p:sp>
                <p:nvSpPr>
                  <p:cNvPr id="83" name="TextBox 82">
                    <a:extLst>
                      <a:ext uri="{FF2B5EF4-FFF2-40B4-BE49-F238E27FC236}">
                        <a16:creationId xmlns:a16="http://schemas.microsoft.com/office/drawing/2014/main" id="{FFF4AC12-08AB-47F5-87FD-08DD4018024F}"/>
                      </a:ext>
                    </a:extLst>
                  </p:cNvPr>
                  <p:cNvSpPr txBox="1">
                    <a:spLocks noRot="1" noChangeAspect="1" noMove="1" noResize="1" noEditPoints="1" noAdjustHandles="1" noChangeArrowheads="1" noChangeShapeType="1" noTextEdit="1"/>
                  </p:cNvSpPr>
                  <p:nvPr/>
                </p:nvSpPr>
                <p:spPr>
                  <a:xfrm>
                    <a:off x="5563481" y="3122069"/>
                    <a:ext cx="311076" cy="246221"/>
                  </a:xfrm>
                  <a:prstGeom prst="rect">
                    <a:avLst/>
                  </a:prstGeom>
                  <a:blipFill>
                    <a:blip r:embed="rId9"/>
                    <a:stretch>
                      <a:fillRect r="-117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DF04BD06-B1CB-4997-8854-89C01D4E3B06}"/>
                      </a:ext>
                    </a:extLst>
                  </p:cNvPr>
                  <p:cNvSpPr txBox="1"/>
                  <p:nvPr/>
                </p:nvSpPr>
                <p:spPr>
                  <a:xfrm>
                    <a:off x="5563481" y="2782705"/>
                    <a:ext cx="311076"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000" i="1" smtClean="0">
                              <a:latin typeface="Cambria Math" panose="02040503050406030204" pitchFamily="18" charset="0"/>
                            </a:rPr>
                            <m:t>3</m:t>
                          </m:r>
                          <m:r>
                            <a:rPr lang="en-IN" sz="1000" b="0" i="1" smtClean="0">
                              <a:latin typeface="Cambria Math" panose="02040503050406030204" pitchFamily="18" charset="0"/>
                            </a:rPr>
                            <m:t>00</m:t>
                          </m:r>
                        </m:oMath>
                      </m:oMathPara>
                    </a14:m>
                    <a:endParaRPr lang="en-IN" sz="1000" dirty="0"/>
                  </a:p>
                </p:txBody>
              </p:sp>
            </mc:Choice>
            <mc:Fallback xmlns="">
              <p:sp>
                <p:nvSpPr>
                  <p:cNvPr id="84" name="TextBox 83">
                    <a:extLst>
                      <a:ext uri="{FF2B5EF4-FFF2-40B4-BE49-F238E27FC236}">
                        <a16:creationId xmlns:a16="http://schemas.microsoft.com/office/drawing/2014/main" id="{DF04BD06-B1CB-4997-8854-89C01D4E3B06}"/>
                      </a:ext>
                    </a:extLst>
                  </p:cNvPr>
                  <p:cNvSpPr txBox="1">
                    <a:spLocks noRot="1" noChangeAspect="1" noMove="1" noResize="1" noEditPoints="1" noAdjustHandles="1" noChangeArrowheads="1" noChangeShapeType="1" noTextEdit="1"/>
                  </p:cNvSpPr>
                  <p:nvPr/>
                </p:nvSpPr>
                <p:spPr>
                  <a:xfrm>
                    <a:off x="5563481" y="2782705"/>
                    <a:ext cx="311076" cy="246221"/>
                  </a:xfrm>
                  <a:prstGeom prst="rect">
                    <a:avLst/>
                  </a:prstGeom>
                  <a:blipFill>
                    <a:blip r:embed="rId10"/>
                    <a:stretch>
                      <a:fillRect r="-117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A8AE6577-4EF9-425E-8AB7-F826A5773033}"/>
                      </a:ext>
                    </a:extLst>
                  </p:cNvPr>
                  <p:cNvSpPr txBox="1"/>
                  <p:nvPr/>
                </p:nvSpPr>
                <p:spPr>
                  <a:xfrm>
                    <a:off x="5568346" y="2471789"/>
                    <a:ext cx="311076"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000" i="1" smtClean="0">
                              <a:latin typeface="Cambria Math" panose="02040503050406030204" pitchFamily="18" charset="0"/>
                            </a:rPr>
                            <m:t>4</m:t>
                          </m:r>
                          <m:r>
                            <a:rPr lang="en-IN" sz="1000" b="0" i="1" smtClean="0">
                              <a:latin typeface="Cambria Math" panose="02040503050406030204" pitchFamily="18" charset="0"/>
                            </a:rPr>
                            <m:t>00</m:t>
                          </m:r>
                        </m:oMath>
                      </m:oMathPara>
                    </a14:m>
                    <a:endParaRPr lang="en-IN" sz="1000" dirty="0"/>
                  </a:p>
                </p:txBody>
              </p:sp>
            </mc:Choice>
            <mc:Fallback xmlns="">
              <p:sp>
                <p:nvSpPr>
                  <p:cNvPr id="85" name="TextBox 84">
                    <a:extLst>
                      <a:ext uri="{FF2B5EF4-FFF2-40B4-BE49-F238E27FC236}">
                        <a16:creationId xmlns:a16="http://schemas.microsoft.com/office/drawing/2014/main" id="{A8AE6577-4EF9-425E-8AB7-F826A5773033}"/>
                      </a:ext>
                    </a:extLst>
                  </p:cNvPr>
                  <p:cNvSpPr txBox="1">
                    <a:spLocks noRot="1" noChangeAspect="1" noMove="1" noResize="1" noEditPoints="1" noAdjustHandles="1" noChangeArrowheads="1" noChangeShapeType="1" noTextEdit="1"/>
                  </p:cNvSpPr>
                  <p:nvPr/>
                </p:nvSpPr>
                <p:spPr>
                  <a:xfrm>
                    <a:off x="5568346" y="2471789"/>
                    <a:ext cx="311076" cy="246221"/>
                  </a:xfrm>
                  <a:prstGeom prst="rect">
                    <a:avLst/>
                  </a:prstGeom>
                  <a:blipFill>
                    <a:blip r:embed="rId11"/>
                    <a:stretch>
                      <a:fillRect r="-13725"/>
                    </a:stretch>
                  </a:blipFill>
                </p:spPr>
                <p:txBody>
                  <a:bodyPr/>
                  <a:lstStyle/>
                  <a:p>
                    <a:r>
                      <a:rPr lang="en-IN">
                        <a:noFill/>
                      </a:rPr>
                      <a:t> </a:t>
                    </a:r>
                  </a:p>
                </p:txBody>
              </p:sp>
            </mc:Fallback>
          </mc:AlternateContent>
        </p:grpSp>
        <p:grpSp>
          <p:nvGrpSpPr>
            <p:cNvPr id="87" name="Group 86">
              <a:extLst>
                <a:ext uri="{FF2B5EF4-FFF2-40B4-BE49-F238E27FC236}">
                  <a16:creationId xmlns:a16="http://schemas.microsoft.com/office/drawing/2014/main" id="{2794A6A5-D462-4B06-AC5E-581D16C5C4FD}"/>
                </a:ext>
              </a:extLst>
            </p:cNvPr>
            <p:cNvGrpSpPr/>
            <p:nvPr/>
          </p:nvGrpSpPr>
          <p:grpSpPr>
            <a:xfrm rot="5400000">
              <a:off x="6545612" y="3343567"/>
              <a:ext cx="343420" cy="1201415"/>
              <a:chOff x="5549742" y="2471789"/>
              <a:chExt cx="343420" cy="1201415"/>
            </a:xfrm>
          </p:grpSpPr>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6BD0120-3A7B-4AD5-8D13-5AC5DCA11CFF}"/>
                      </a:ext>
                    </a:extLst>
                  </p:cNvPr>
                  <p:cNvSpPr txBox="1"/>
                  <p:nvPr/>
                </p:nvSpPr>
                <p:spPr>
                  <a:xfrm>
                    <a:off x="5554608" y="3426983"/>
                    <a:ext cx="338554" cy="246221"/>
                  </a:xfrm>
                  <a:prstGeom prst="rect">
                    <a:avLst/>
                  </a:prstGeom>
                  <a:noFill/>
                </p:spPr>
                <p:txBody>
                  <a:bodyPr vert="vert270" wrap="square" rtlCol="0">
                    <a:spAutoFit/>
                  </a:bodyPr>
                  <a:lstStyle/>
                  <a:p>
                    <a:pPr/>
                    <a14:m>
                      <m:oMathPara xmlns:m="http://schemas.openxmlformats.org/officeDocument/2006/math">
                        <m:oMathParaPr>
                          <m:jc m:val="centerGroup"/>
                        </m:oMathParaPr>
                        <m:oMath xmlns:m="http://schemas.openxmlformats.org/officeDocument/2006/math">
                          <m:r>
                            <a:rPr lang="en-IN" sz="1000" i="1">
                              <a:latin typeface="Cambria Math" panose="02040503050406030204" pitchFamily="18" charset="0"/>
                            </a:rPr>
                            <m:t>5</m:t>
                          </m:r>
                          <m:r>
                            <a:rPr lang="en-IN" sz="1000" b="0" i="1" smtClean="0">
                              <a:latin typeface="Cambria Math" panose="02040503050406030204" pitchFamily="18" charset="0"/>
                            </a:rPr>
                            <m:t>0</m:t>
                          </m:r>
                        </m:oMath>
                      </m:oMathPara>
                    </a14:m>
                    <a:endParaRPr lang="en-IN" sz="1000" dirty="0"/>
                  </a:p>
                </p:txBody>
              </p:sp>
            </mc:Choice>
            <mc:Fallback xmlns="">
              <p:sp>
                <p:nvSpPr>
                  <p:cNvPr id="88" name="TextBox 87">
                    <a:extLst>
                      <a:ext uri="{FF2B5EF4-FFF2-40B4-BE49-F238E27FC236}">
                        <a16:creationId xmlns:a16="http://schemas.microsoft.com/office/drawing/2014/main" id="{F6BD0120-3A7B-4AD5-8D13-5AC5DCA11CFF}"/>
                      </a:ext>
                    </a:extLst>
                  </p:cNvPr>
                  <p:cNvSpPr txBox="1">
                    <a:spLocks noRot="1" noChangeAspect="1" noMove="1" noResize="1" noEditPoints="1" noAdjustHandles="1" noChangeArrowheads="1" noChangeShapeType="1" noTextEdit="1"/>
                  </p:cNvSpPr>
                  <p:nvPr/>
                </p:nvSpPr>
                <p:spPr>
                  <a:xfrm>
                    <a:off x="5554608" y="3426983"/>
                    <a:ext cx="338554" cy="246221"/>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84E607FE-6828-433E-9C6B-CC99FE995B17}"/>
                      </a:ext>
                    </a:extLst>
                  </p:cNvPr>
                  <p:cNvSpPr txBox="1"/>
                  <p:nvPr/>
                </p:nvSpPr>
                <p:spPr>
                  <a:xfrm>
                    <a:off x="5549742" y="3122069"/>
                    <a:ext cx="338554" cy="246221"/>
                  </a:xfrm>
                  <a:prstGeom prst="rect">
                    <a:avLst/>
                  </a:prstGeom>
                  <a:noFill/>
                </p:spPr>
                <p:txBody>
                  <a:bodyPr vert="vert270" wrap="square" rtlCol="0">
                    <a:spAutoFit/>
                  </a:bodyPr>
                  <a:lstStyle/>
                  <a:p>
                    <a:pPr/>
                    <a14:m>
                      <m:oMathPara xmlns:m="http://schemas.openxmlformats.org/officeDocument/2006/math">
                        <m:oMathParaPr>
                          <m:jc m:val="centerGroup"/>
                        </m:oMathParaPr>
                        <m:oMath xmlns:m="http://schemas.openxmlformats.org/officeDocument/2006/math">
                          <m:r>
                            <a:rPr lang="en-IN" sz="1000" i="1">
                              <a:latin typeface="Cambria Math" panose="02040503050406030204" pitchFamily="18" charset="0"/>
                            </a:rPr>
                            <m:t>1</m:t>
                          </m:r>
                          <m:r>
                            <a:rPr lang="en-IN" sz="1000" b="0" i="1" smtClean="0">
                              <a:latin typeface="Cambria Math" panose="02040503050406030204" pitchFamily="18" charset="0"/>
                            </a:rPr>
                            <m:t>00</m:t>
                          </m:r>
                        </m:oMath>
                      </m:oMathPara>
                    </a14:m>
                    <a:endParaRPr lang="en-IN" sz="1000" dirty="0"/>
                  </a:p>
                </p:txBody>
              </p:sp>
            </mc:Choice>
            <mc:Fallback xmlns="">
              <p:sp>
                <p:nvSpPr>
                  <p:cNvPr id="89" name="TextBox 88">
                    <a:extLst>
                      <a:ext uri="{FF2B5EF4-FFF2-40B4-BE49-F238E27FC236}">
                        <a16:creationId xmlns:a16="http://schemas.microsoft.com/office/drawing/2014/main" id="{84E607FE-6828-433E-9C6B-CC99FE995B17}"/>
                      </a:ext>
                    </a:extLst>
                  </p:cNvPr>
                  <p:cNvSpPr txBox="1">
                    <a:spLocks noRot="1" noChangeAspect="1" noMove="1" noResize="1" noEditPoints="1" noAdjustHandles="1" noChangeArrowheads="1" noChangeShapeType="1" noTextEdit="1"/>
                  </p:cNvSpPr>
                  <p:nvPr/>
                </p:nvSpPr>
                <p:spPr>
                  <a:xfrm>
                    <a:off x="5549742" y="3122069"/>
                    <a:ext cx="338554" cy="246221"/>
                  </a:xfrm>
                  <a:prstGeom prst="rect">
                    <a:avLst/>
                  </a:prstGeom>
                  <a:blipFill>
                    <a:blip r:embed="rId13"/>
                    <a:stretch>
                      <a:fillRect r="-48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EBA631D8-2B7B-4629-B7BC-A684F2F0CA24}"/>
                      </a:ext>
                    </a:extLst>
                  </p:cNvPr>
                  <p:cNvSpPr txBox="1"/>
                  <p:nvPr/>
                </p:nvSpPr>
                <p:spPr>
                  <a:xfrm>
                    <a:off x="5549742" y="2782705"/>
                    <a:ext cx="338554" cy="246221"/>
                  </a:xfrm>
                  <a:prstGeom prst="rect">
                    <a:avLst/>
                  </a:prstGeom>
                  <a:noFill/>
                </p:spPr>
                <p:txBody>
                  <a:bodyPr vert="vert270" wrap="square" rtlCol="0">
                    <a:spAutoFit/>
                  </a:bodyPr>
                  <a:lstStyle/>
                  <a:p>
                    <a:pP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150</m:t>
                          </m:r>
                        </m:oMath>
                      </m:oMathPara>
                    </a14:m>
                    <a:endParaRPr lang="en-IN" sz="1000" dirty="0"/>
                  </a:p>
                </p:txBody>
              </p:sp>
            </mc:Choice>
            <mc:Fallback xmlns="">
              <p:sp>
                <p:nvSpPr>
                  <p:cNvPr id="90" name="TextBox 89">
                    <a:extLst>
                      <a:ext uri="{FF2B5EF4-FFF2-40B4-BE49-F238E27FC236}">
                        <a16:creationId xmlns:a16="http://schemas.microsoft.com/office/drawing/2014/main" id="{EBA631D8-2B7B-4629-B7BC-A684F2F0CA24}"/>
                      </a:ext>
                    </a:extLst>
                  </p:cNvPr>
                  <p:cNvSpPr txBox="1">
                    <a:spLocks noRot="1" noChangeAspect="1" noMove="1" noResize="1" noEditPoints="1" noAdjustHandles="1" noChangeArrowheads="1" noChangeShapeType="1" noTextEdit="1"/>
                  </p:cNvSpPr>
                  <p:nvPr/>
                </p:nvSpPr>
                <p:spPr>
                  <a:xfrm>
                    <a:off x="5549742" y="2782705"/>
                    <a:ext cx="338554" cy="246221"/>
                  </a:xfrm>
                  <a:prstGeom prst="rect">
                    <a:avLst/>
                  </a:prstGeom>
                  <a:blipFill>
                    <a:blip r:embed="rId14"/>
                    <a:stretch>
                      <a:fillRect r="-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09443AFC-B48C-4317-898D-BE820817C191}"/>
                      </a:ext>
                    </a:extLst>
                  </p:cNvPr>
                  <p:cNvSpPr txBox="1"/>
                  <p:nvPr/>
                </p:nvSpPr>
                <p:spPr>
                  <a:xfrm>
                    <a:off x="5554607" y="2471789"/>
                    <a:ext cx="338554" cy="246221"/>
                  </a:xfrm>
                  <a:prstGeom prst="rect">
                    <a:avLst/>
                  </a:prstGeom>
                  <a:noFill/>
                </p:spPr>
                <p:txBody>
                  <a:bodyPr vert="vert270" wrap="square" rtlCol="0">
                    <a:spAutoFit/>
                  </a:bodyPr>
                  <a:lstStyle/>
                  <a:p>
                    <a:pPr/>
                    <a14:m>
                      <m:oMathPara xmlns:m="http://schemas.openxmlformats.org/officeDocument/2006/math">
                        <m:oMathParaPr>
                          <m:jc m:val="centerGroup"/>
                        </m:oMathParaPr>
                        <m:oMath xmlns:m="http://schemas.openxmlformats.org/officeDocument/2006/math">
                          <m:r>
                            <a:rPr lang="en-IN" sz="1000" i="1">
                              <a:latin typeface="Cambria Math" panose="02040503050406030204" pitchFamily="18" charset="0"/>
                            </a:rPr>
                            <m:t>2</m:t>
                          </m:r>
                          <m:r>
                            <a:rPr lang="en-IN" sz="1000" b="0" i="1" smtClean="0">
                              <a:latin typeface="Cambria Math" panose="02040503050406030204" pitchFamily="18" charset="0"/>
                            </a:rPr>
                            <m:t>00</m:t>
                          </m:r>
                        </m:oMath>
                      </m:oMathPara>
                    </a14:m>
                    <a:endParaRPr lang="en-IN" sz="1000" dirty="0"/>
                  </a:p>
                </p:txBody>
              </p:sp>
            </mc:Choice>
            <mc:Fallback xmlns="">
              <p:sp>
                <p:nvSpPr>
                  <p:cNvPr id="91" name="TextBox 90">
                    <a:extLst>
                      <a:ext uri="{FF2B5EF4-FFF2-40B4-BE49-F238E27FC236}">
                        <a16:creationId xmlns:a16="http://schemas.microsoft.com/office/drawing/2014/main" id="{09443AFC-B48C-4317-898D-BE820817C191}"/>
                      </a:ext>
                    </a:extLst>
                  </p:cNvPr>
                  <p:cNvSpPr txBox="1">
                    <a:spLocks noRot="1" noChangeAspect="1" noMove="1" noResize="1" noEditPoints="1" noAdjustHandles="1" noChangeArrowheads="1" noChangeShapeType="1" noTextEdit="1"/>
                  </p:cNvSpPr>
                  <p:nvPr/>
                </p:nvSpPr>
                <p:spPr>
                  <a:xfrm>
                    <a:off x="5554607" y="2471789"/>
                    <a:ext cx="338554" cy="246221"/>
                  </a:xfrm>
                  <a:prstGeom prst="rect">
                    <a:avLst/>
                  </a:prstGeom>
                  <a:blipFill>
                    <a:blip r:embed="rId15"/>
                    <a:stretch>
                      <a:fillRect r="-5000"/>
                    </a:stretch>
                  </a:blipFill>
                </p:spPr>
                <p:txBody>
                  <a:bodyPr/>
                  <a:lstStyle/>
                  <a:p>
                    <a:r>
                      <a:rPr lang="en-IN">
                        <a:noFill/>
                      </a:rPr>
                      <a:t> </a:t>
                    </a:r>
                  </a:p>
                </p:txBody>
              </p:sp>
            </mc:Fallback>
          </mc:AlternateContent>
        </p:grpSp>
        <p:grpSp>
          <p:nvGrpSpPr>
            <p:cNvPr id="92" name="Group 91">
              <a:extLst>
                <a:ext uri="{FF2B5EF4-FFF2-40B4-BE49-F238E27FC236}">
                  <a16:creationId xmlns:a16="http://schemas.microsoft.com/office/drawing/2014/main" id="{827BBB8A-D832-4379-AA96-5D04F31A57AE}"/>
                </a:ext>
              </a:extLst>
            </p:cNvPr>
            <p:cNvGrpSpPr/>
            <p:nvPr/>
          </p:nvGrpSpPr>
          <p:grpSpPr>
            <a:xfrm rot="5400000">
              <a:off x="7881833" y="3342608"/>
              <a:ext cx="343421" cy="1201416"/>
              <a:chOff x="5549742" y="2471789"/>
              <a:chExt cx="343421" cy="1201416"/>
            </a:xfrm>
          </p:grpSpPr>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2ACB892D-C685-4BEB-AC35-F83DE10AE4CD}"/>
                      </a:ext>
                    </a:extLst>
                  </p:cNvPr>
                  <p:cNvSpPr txBox="1"/>
                  <p:nvPr/>
                </p:nvSpPr>
                <p:spPr>
                  <a:xfrm>
                    <a:off x="5554609" y="3368298"/>
                    <a:ext cx="338554" cy="304907"/>
                  </a:xfrm>
                  <a:prstGeom prst="rect">
                    <a:avLst/>
                  </a:prstGeom>
                  <a:noFill/>
                </p:spPr>
                <p:txBody>
                  <a:bodyPr vert="vert270" wrap="square" rtlCol="0">
                    <a:spAutoFit/>
                  </a:bodyPr>
                  <a:lstStyle/>
                  <a:p>
                    <a:r>
                      <a:rPr lang="en-IN" sz="1000" dirty="0"/>
                      <a:t>2</a:t>
                    </a:r>
                    <a14:m>
                      <m:oMath xmlns:m="http://schemas.openxmlformats.org/officeDocument/2006/math">
                        <m:r>
                          <a:rPr lang="en-IN" sz="1000" i="1">
                            <a:latin typeface="Cambria Math" panose="02040503050406030204" pitchFamily="18" charset="0"/>
                          </a:rPr>
                          <m:t>5</m:t>
                        </m:r>
                        <m:r>
                          <a:rPr lang="en-IN" sz="1000" b="0" i="1" smtClean="0">
                            <a:latin typeface="Cambria Math" panose="02040503050406030204" pitchFamily="18" charset="0"/>
                          </a:rPr>
                          <m:t>0</m:t>
                        </m:r>
                      </m:oMath>
                    </a14:m>
                    <a:endParaRPr lang="en-IN" sz="1000" dirty="0"/>
                  </a:p>
                </p:txBody>
              </p:sp>
            </mc:Choice>
            <mc:Fallback xmlns="">
              <p:sp>
                <p:nvSpPr>
                  <p:cNvPr id="93" name="TextBox 92">
                    <a:extLst>
                      <a:ext uri="{FF2B5EF4-FFF2-40B4-BE49-F238E27FC236}">
                        <a16:creationId xmlns:a16="http://schemas.microsoft.com/office/drawing/2014/main" id="{2ACB892D-C685-4BEB-AC35-F83DE10AE4CD}"/>
                      </a:ext>
                    </a:extLst>
                  </p:cNvPr>
                  <p:cNvSpPr txBox="1">
                    <a:spLocks noRot="1" noChangeAspect="1" noMove="1" noResize="1" noEditPoints="1" noAdjustHandles="1" noChangeArrowheads="1" noChangeShapeType="1" noTextEdit="1"/>
                  </p:cNvSpPr>
                  <p:nvPr/>
                </p:nvSpPr>
                <p:spPr>
                  <a:xfrm>
                    <a:off x="5554609" y="3368298"/>
                    <a:ext cx="338554" cy="304907"/>
                  </a:xfrm>
                  <a:prstGeom prst="rect">
                    <a:avLst/>
                  </a:prstGeom>
                  <a:blipFill>
                    <a:blip r:embed="rId16"/>
                    <a:stretch>
                      <a:fillRect l="-12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07B6AE31-D34C-4D3A-B2AF-E450AE00856B}"/>
                      </a:ext>
                    </a:extLst>
                  </p:cNvPr>
                  <p:cNvSpPr txBox="1"/>
                  <p:nvPr/>
                </p:nvSpPr>
                <p:spPr>
                  <a:xfrm>
                    <a:off x="5549742" y="3122069"/>
                    <a:ext cx="338554" cy="246221"/>
                  </a:xfrm>
                  <a:prstGeom prst="rect">
                    <a:avLst/>
                  </a:prstGeom>
                  <a:noFill/>
                </p:spPr>
                <p:txBody>
                  <a:bodyPr vert="vert270" wrap="square" rtlCol="0">
                    <a:spAutoFit/>
                  </a:bodyPr>
                  <a:lstStyle/>
                  <a:p>
                    <a:pPr/>
                    <a14:m>
                      <m:oMathPara xmlns:m="http://schemas.openxmlformats.org/officeDocument/2006/math">
                        <m:oMathParaPr>
                          <m:jc m:val="centerGroup"/>
                        </m:oMathParaPr>
                        <m:oMath xmlns:m="http://schemas.openxmlformats.org/officeDocument/2006/math">
                          <m:r>
                            <a:rPr lang="en-IN" sz="1000" i="1" smtClean="0">
                              <a:latin typeface="Cambria Math" panose="02040503050406030204" pitchFamily="18" charset="0"/>
                            </a:rPr>
                            <m:t>3</m:t>
                          </m:r>
                          <m:r>
                            <a:rPr lang="en-IN" sz="1000" b="0" i="1" smtClean="0">
                              <a:latin typeface="Cambria Math" panose="02040503050406030204" pitchFamily="18" charset="0"/>
                            </a:rPr>
                            <m:t>00</m:t>
                          </m:r>
                        </m:oMath>
                      </m:oMathPara>
                    </a14:m>
                    <a:endParaRPr lang="en-IN" sz="1000" dirty="0"/>
                  </a:p>
                </p:txBody>
              </p:sp>
            </mc:Choice>
            <mc:Fallback xmlns="">
              <p:sp>
                <p:nvSpPr>
                  <p:cNvPr id="94" name="TextBox 93">
                    <a:extLst>
                      <a:ext uri="{FF2B5EF4-FFF2-40B4-BE49-F238E27FC236}">
                        <a16:creationId xmlns:a16="http://schemas.microsoft.com/office/drawing/2014/main" id="{07B6AE31-D34C-4D3A-B2AF-E450AE00856B}"/>
                      </a:ext>
                    </a:extLst>
                  </p:cNvPr>
                  <p:cNvSpPr txBox="1">
                    <a:spLocks noRot="1" noChangeAspect="1" noMove="1" noResize="1" noEditPoints="1" noAdjustHandles="1" noChangeArrowheads="1" noChangeShapeType="1" noTextEdit="1"/>
                  </p:cNvSpPr>
                  <p:nvPr/>
                </p:nvSpPr>
                <p:spPr>
                  <a:xfrm>
                    <a:off x="5549742" y="3122069"/>
                    <a:ext cx="338554" cy="246221"/>
                  </a:xfrm>
                  <a:prstGeom prst="rect">
                    <a:avLst/>
                  </a:prstGeom>
                  <a:blipFill>
                    <a:blip r:embed="rId17"/>
                    <a:stretch>
                      <a:fillRect r="-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B581DCB4-DFCA-4614-91D9-E7CE801789F9}"/>
                      </a:ext>
                    </a:extLst>
                  </p:cNvPr>
                  <p:cNvSpPr txBox="1"/>
                  <p:nvPr/>
                </p:nvSpPr>
                <p:spPr>
                  <a:xfrm>
                    <a:off x="5549742" y="2782705"/>
                    <a:ext cx="338554" cy="246221"/>
                  </a:xfrm>
                  <a:prstGeom prst="rect">
                    <a:avLst/>
                  </a:prstGeom>
                  <a:noFill/>
                </p:spPr>
                <p:txBody>
                  <a:bodyPr vert="vert270" wrap="square" rtlCol="0">
                    <a:spAutoFit/>
                  </a:bodyPr>
                  <a:lstStyle/>
                  <a:p>
                    <a:pPr/>
                    <a14:m>
                      <m:oMathPara xmlns:m="http://schemas.openxmlformats.org/officeDocument/2006/math">
                        <m:oMathParaPr>
                          <m:jc m:val="centerGroup"/>
                        </m:oMathParaPr>
                        <m:oMath xmlns:m="http://schemas.openxmlformats.org/officeDocument/2006/math">
                          <m:r>
                            <a:rPr lang="en-IN" sz="1000" i="1">
                              <a:latin typeface="Cambria Math" panose="02040503050406030204" pitchFamily="18" charset="0"/>
                            </a:rPr>
                            <m:t>3</m:t>
                          </m:r>
                          <m:r>
                            <a:rPr lang="en-IN" sz="1000" b="0" i="1" smtClean="0">
                              <a:latin typeface="Cambria Math" panose="02040503050406030204" pitchFamily="18" charset="0"/>
                            </a:rPr>
                            <m:t>50</m:t>
                          </m:r>
                        </m:oMath>
                      </m:oMathPara>
                    </a14:m>
                    <a:endParaRPr lang="en-IN" sz="1000" dirty="0"/>
                  </a:p>
                </p:txBody>
              </p:sp>
            </mc:Choice>
            <mc:Fallback xmlns="">
              <p:sp>
                <p:nvSpPr>
                  <p:cNvPr id="95" name="TextBox 94">
                    <a:extLst>
                      <a:ext uri="{FF2B5EF4-FFF2-40B4-BE49-F238E27FC236}">
                        <a16:creationId xmlns:a16="http://schemas.microsoft.com/office/drawing/2014/main" id="{B581DCB4-DFCA-4614-91D9-E7CE801789F9}"/>
                      </a:ext>
                    </a:extLst>
                  </p:cNvPr>
                  <p:cNvSpPr txBox="1">
                    <a:spLocks noRot="1" noChangeAspect="1" noMove="1" noResize="1" noEditPoints="1" noAdjustHandles="1" noChangeArrowheads="1" noChangeShapeType="1" noTextEdit="1"/>
                  </p:cNvSpPr>
                  <p:nvPr/>
                </p:nvSpPr>
                <p:spPr>
                  <a:xfrm>
                    <a:off x="5549742" y="2782705"/>
                    <a:ext cx="338554" cy="246221"/>
                  </a:xfrm>
                  <a:prstGeom prst="rect">
                    <a:avLst/>
                  </a:prstGeom>
                  <a:blipFill>
                    <a:blip r:embed="rId18"/>
                    <a:stretch>
                      <a:fillRect r="-48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38C94FF-ABFC-4A71-910C-BF742ACE7385}"/>
                      </a:ext>
                    </a:extLst>
                  </p:cNvPr>
                  <p:cNvSpPr txBox="1"/>
                  <p:nvPr/>
                </p:nvSpPr>
                <p:spPr>
                  <a:xfrm>
                    <a:off x="5554607" y="2471789"/>
                    <a:ext cx="338554" cy="246221"/>
                  </a:xfrm>
                  <a:prstGeom prst="rect">
                    <a:avLst/>
                  </a:prstGeom>
                  <a:noFill/>
                </p:spPr>
                <p:txBody>
                  <a:bodyPr vert="vert270" wrap="square" rtlCol="0">
                    <a:spAutoFit/>
                  </a:bodyPr>
                  <a:lstStyle/>
                  <a:p>
                    <a:pPr/>
                    <a14:m>
                      <m:oMathPara xmlns:m="http://schemas.openxmlformats.org/officeDocument/2006/math">
                        <m:oMathParaPr>
                          <m:jc m:val="centerGroup"/>
                        </m:oMathParaPr>
                        <m:oMath xmlns:m="http://schemas.openxmlformats.org/officeDocument/2006/math">
                          <m:r>
                            <a:rPr lang="en-IN" sz="1000" i="1" smtClean="0">
                              <a:latin typeface="Cambria Math" panose="02040503050406030204" pitchFamily="18" charset="0"/>
                            </a:rPr>
                            <m:t>4</m:t>
                          </m:r>
                          <m:r>
                            <a:rPr lang="en-IN" sz="1000" b="0" i="1" smtClean="0">
                              <a:latin typeface="Cambria Math" panose="02040503050406030204" pitchFamily="18" charset="0"/>
                            </a:rPr>
                            <m:t>00</m:t>
                          </m:r>
                        </m:oMath>
                      </m:oMathPara>
                    </a14:m>
                    <a:endParaRPr lang="en-IN" sz="1000" dirty="0"/>
                  </a:p>
                </p:txBody>
              </p:sp>
            </mc:Choice>
            <mc:Fallback xmlns="">
              <p:sp>
                <p:nvSpPr>
                  <p:cNvPr id="96" name="TextBox 95">
                    <a:extLst>
                      <a:ext uri="{FF2B5EF4-FFF2-40B4-BE49-F238E27FC236}">
                        <a16:creationId xmlns:a16="http://schemas.microsoft.com/office/drawing/2014/main" id="{638C94FF-ABFC-4A71-910C-BF742ACE7385}"/>
                      </a:ext>
                    </a:extLst>
                  </p:cNvPr>
                  <p:cNvSpPr txBox="1">
                    <a:spLocks noRot="1" noChangeAspect="1" noMove="1" noResize="1" noEditPoints="1" noAdjustHandles="1" noChangeArrowheads="1" noChangeShapeType="1" noTextEdit="1"/>
                  </p:cNvSpPr>
                  <p:nvPr/>
                </p:nvSpPr>
                <p:spPr>
                  <a:xfrm>
                    <a:off x="5554607" y="2471789"/>
                    <a:ext cx="338554" cy="246221"/>
                  </a:xfrm>
                  <a:prstGeom prst="rect">
                    <a:avLst/>
                  </a:prstGeom>
                  <a:blipFill>
                    <a:blip r:embed="rId19"/>
                    <a:stretch>
                      <a:fillRect r="-4878"/>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8CED1FE-F345-4784-B145-398ED394DA2E}"/>
                    </a:ext>
                  </a:extLst>
                </p:cNvPr>
                <p:cNvSpPr txBox="1"/>
                <p:nvPr/>
              </p:nvSpPr>
              <p:spPr>
                <a:xfrm>
                  <a:off x="5556549" y="2119104"/>
                  <a:ext cx="311076"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000" i="1">
                            <a:latin typeface="Cambria Math" panose="02040503050406030204" pitchFamily="18" charset="0"/>
                          </a:rPr>
                          <m:t>5</m:t>
                        </m:r>
                        <m:r>
                          <a:rPr lang="en-IN" sz="1000" b="0" i="1" smtClean="0">
                            <a:latin typeface="Cambria Math" panose="02040503050406030204" pitchFamily="18" charset="0"/>
                          </a:rPr>
                          <m:t>00</m:t>
                        </m:r>
                      </m:oMath>
                    </m:oMathPara>
                  </a14:m>
                  <a:endParaRPr lang="en-IN" sz="1000" dirty="0"/>
                </a:p>
              </p:txBody>
            </p:sp>
          </mc:Choice>
          <mc:Fallback xmlns="">
            <p:sp>
              <p:nvSpPr>
                <p:cNvPr id="97" name="TextBox 96">
                  <a:extLst>
                    <a:ext uri="{FF2B5EF4-FFF2-40B4-BE49-F238E27FC236}">
                      <a16:creationId xmlns:a16="http://schemas.microsoft.com/office/drawing/2014/main" id="{E8CED1FE-F345-4784-B145-398ED394DA2E}"/>
                    </a:ext>
                  </a:extLst>
                </p:cNvPr>
                <p:cNvSpPr txBox="1">
                  <a:spLocks noRot="1" noChangeAspect="1" noMove="1" noResize="1" noEditPoints="1" noAdjustHandles="1" noChangeArrowheads="1" noChangeShapeType="1" noTextEdit="1"/>
                </p:cNvSpPr>
                <p:nvPr/>
              </p:nvSpPr>
              <p:spPr>
                <a:xfrm>
                  <a:off x="5556549" y="2119104"/>
                  <a:ext cx="311076" cy="246221"/>
                </a:xfrm>
                <a:prstGeom prst="rect">
                  <a:avLst/>
                </a:prstGeom>
                <a:blipFill>
                  <a:blip r:embed="rId20"/>
                  <a:stretch>
                    <a:fillRect r="-11765"/>
                  </a:stretch>
                </a:blipFill>
              </p:spPr>
              <p:txBody>
                <a:bodyPr/>
                <a:lstStyle/>
                <a:p>
                  <a:r>
                    <a:rPr lang="en-IN">
                      <a:noFill/>
                    </a:rPr>
                    <a:t> </a:t>
                  </a:r>
                </a:p>
              </p:txBody>
            </p:sp>
          </mc:Fallback>
        </mc:AlternateContent>
      </p:grpSp>
    </p:spTree>
    <p:extLst>
      <p:ext uri="{BB962C8B-B14F-4D97-AF65-F5344CB8AC3E}">
        <p14:creationId xmlns:p14="http://schemas.microsoft.com/office/powerpoint/2010/main" val="243700108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par>
                                <p:cTn id="8" presetID="10" presetClass="entr" presetSubtype="0" fill="hold" nodeType="with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fade">
                                      <p:cBhvr>
                                        <p:cTn id="10" dur="500"/>
                                        <p:tgtEl>
                                          <p:spTgt spid="53"/>
                                        </p:tgtEl>
                                      </p:cBhvr>
                                    </p:animEffect>
                                  </p:childTnLst>
                                </p:cTn>
                              </p:par>
                              <p:par>
                                <p:cTn id="11" presetID="10"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fade">
                                      <p:cBhvr>
                                        <p:cTn id="49" dur="500"/>
                                        <p:tgtEl>
                                          <p:spTgt spid="45"/>
                                        </p:tgtEl>
                                      </p:cBhvr>
                                    </p:animEffect>
                                  </p:childTnLst>
                                </p:cTn>
                              </p:par>
                              <p:par>
                                <p:cTn id="50" presetID="10" presetClass="entr" presetSubtype="0" fill="hold"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5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fade">
                                      <p:cBhvr>
                                        <p:cTn id="55" dur="500"/>
                                        <p:tgtEl>
                                          <p:spTgt spid="46"/>
                                        </p:tgtEl>
                                      </p:cBhvr>
                                    </p:animEffect>
                                  </p:childTnLst>
                                </p:cTn>
                              </p:par>
                              <p:par>
                                <p:cTn id="56" presetID="10" presetClass="entr" presetSubtype="0" fill="hold"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500"/>
                                        <p:tgtEl>
                                          <p:spTgt spid="38"/>
                                        </p:tgtEl>
                                      </p:cBhvr>
                                    </p:animEffect>
                                  </p:childTnLst>
                                </p:cTn>
                              </p:par>
                              <p:par>
                                <p:cTn id="65" presetID="10" presetClass="entr" presetSubtype="0" fill="hold" nodeType="with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500"/>
                                        <p:tgtEl>
                                          <p:spTgt spid="1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6" grpId="0" animBg="1"/>
      <p:bldP spid="30" grpId="0" animBg="1"/>
      <p:bldP spid="31" grpId="0" animBg="1"/>
      <p:bldP spid="32" grpId="0" animBg="1"/>
      <p:bldP spid="34" grpId="0" animBg="1"/>
      <p:bldP spid="43" grpId="0"/>
      <p:bldP spid="44" grpId="0"/>
      <p:bldP spid="45" grpId="0"/>
      <p:bldP spid="46" grpId="0"/>
      <p:bldP spid="47" grpId="0"/>
      <p:bldP spid="4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screenshot of a computer&#10;&#10;Description automatically generated">
            <a:extLst>
              <a:ext uri="{FF2B5EF4-FFF2-40B4-BE49-F238E27FC236}">
                <a16:creationId xmlns:a16="http://schemas.microsoft.com/office/drawing/2014/main" id="{D2585609-A982-0B7C-BDE4-1B56133F3D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4269" y="1471312"/>
            <a:ext cx="10227728" cy="4350367"/>
          </a:xfrm>
          <a:prstGeom prst="rect">
            <a:avLst/>
          </a:prstGeom>
        </p:spPr>
      </p:pic>
      <p:sp>
        <p:nvSpPr>
          <p:cNvPr id="2" name="Title 1"/>
          <p:cNvSpPr>
            <a:spLocks noGrp="1"/>
          </p:cNvSpPr>
          <p:nvPr>
            <p:ph type="title"/>
          </p:nvPr>
        </p:nvSpPr>
        <p:spPr/>
        <p:txBody>
          <a:bodyPr/>
          <a:lstStyle/>
          <a:p>
            <a:r>
              <a:rPr lang="en-US" dirty="0"/>
              <a:t>Linear Regression</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cxnSp>
        <p:nvCxnSpPr>
          <p:cNvPr id="8" name="Straight Connector 7"/>
          <p:cNvCxnSpPr/>
          <p:nvPr/>
        </p:nvCxnSpPr>
        <p:spPr>
          <a:xfrm>
            <a:off x="1792860" y="2186459"/>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8" y="3433042"/>
            <a:ext cx="1860160" cy="584775"/>
          </a:xfrm>
          <a:prstGeom prst="rect">
            <a:avLst/>
          </a:prstGeom>
          <a:noFill/>
        </p:spPr>
        <p:txBody>
          <a:bodyPr wrap="square" rtlCol="0">
            <a:spAutoFit/>
          </a:bodyPr>
          <a:lstStyle/>
          <a:p>
            <a:pPr algn="ctr"/>
            <a:r>
              <a:rPr lang="en-US" sz="3200" b="1" dirty="0">
                <a:solidFill>
                  <a:schemeClr val="accent1"/>
                </a:solidFill>
              </a:rPr>
              <a:t>Result</a:t>
            </a:r>
          </a:p>
        </p:txBody>
      </p:sp>
      <p:sp>
        <p:nvSpPr>
          <p:cNvPr id="64" name="Rectangle 63">
            <a:extLst>
              <a:ext uri="{FF2B5EF4-FFF2-40B4-BE49-F238E27FC236}">
                <a16:creationId xmlns:a16="http://schemas.microsoft.com/office/drawing/2014/main" id="{2A1005DB-46EE-491F-9AE9-16BD13A21DE8}"/>
              </a:ext>
            </a:extLst>
          </p:cNvPr>
          <p:cNvSpPr/>
          <p:nvPr/>
        </p:nvSpPr>
        <p:spPr>
          <a:xfrm>
            <a:off x="5559655" y="1920322"/>
            <a:ext cx="4834468" cy="1477328"/>
          </a:xfrm>
          <a:prstGeom prst="rect">
            <a:avLst/>
          </a:prstGeom>
          <a:solidFill>
            <a:schemeClr val="bg1"/>
          </a:solidFill>
          <a:ln>
            <a:solidFill>
              <a:schemeClr val="tx1"/>
            </a:solidFill>
          </a:ln>
        </p:spPr>
        <p:txBody>
          <a:bodyPr wrap="square">
            <a:spAutoFit/>
          </a:bodyPr>
          <a:lstStyle/>
          <a:p>
            <a:r>
              <a:rPr lang="en-US" b="1" dirty="0">
                <a:solidFill>
                  <a:srgbClr val="000000"/>
                </a:solidFill>
                <a:latin typeface="+mj-lt"/>
              </a:rPr>
              <a:t>R square </a:t>
            </a:r>
            <a:r>
              <a:rPr lang="en-US" dirty="0">
                <a:solidFill>
                  <a:srgbClr val="000000"/>
                </a:solidFill>
                <a:latin typeface="+mj-lt"/>
              </a:rPr>
              <a:t>– how well our model explains the variations in value of sales</a:t>
            </a:r>
          </a:p>
          <a:p>
            <a:endParaRPr lang="en-US" dirty="0">
              <a:solidFill>
                <a:srgbClr val="000000"/>
              </a:solidFill>
              <a:latin typeface="+mj-lt"/>
            </a:endParaRPr>
          </a:p>
          <a:p>
            <a:r>
              <a:rPr lang="en-US" b="1" dirty="0">
                <a:solidFill>
                  <a:srgbClr val="000000"/>
                </a:solidFill>
                <a:latin typeface="+mj-lt"/>
              </a:rPr>
              <a:t>Adjusted R square </a:t>
            </a:r>
            <a:r>
              <a:rPr lang="en-US" dirty="0">
                <a:solidFill>
                  <a:srgbClr val="000000"/>
                </a:solidFill>
                <a:latin typeface="+mj-lt"/>
              </a:rPr>
              <a:t>– if there are more than one predictor variables, use adjusted R Square</a:t>
            </a:r>
            <a:endParaRPr lang="en-IN" dirty="0">
              <a:latin typeface="+mj-lt"/>
            </a:endParaRPr>
          </a:p>
        </p:txBody>
      </p:sp>
      <p:sp>
        <p:nvSpPr>
          <p:cNvPr id="66" name="Rectangle 65">
            <a:extLst>
              <a:ext uri="{FF2B5EF4-FFF2-40B4-BE49-F238E27FC236}">
                <a16:creationId xmlns:a16="http://schemas.microsoft.com/office/drawing/2014/main" id="{4DAC691E-93EF-479C-8C3D-5F6DD0B68184}"/>
              </a:ext>
            </a:extLst>
          </p:cNvPr>
          <p:cNvSpPr/>
          <p:nvPr/>
        </p:nvSpPr>
        <p:spPr>
          <a:xfrm>
            <a:off x="5553644" y="1920322"/>
            <a:ext cx="4834468" cy="1477328"/>
          </a:xfrm>
          <a:prstGeom prst="rect">
            <a:avLst/>
          </a:prstGeom>
          <a:solidFill>
            <a:schemeClr val="bg1"/>
          </a:solidFill>
          <a:ln>
            <a:solidFill>
              <a:schemeClr val="tx1"/>
            </a:solidFill>
          </a:ln>
        </p:spPr>
        <p:txBody>
          <a:bodyPr wrap="square">
            <a:spAutoFit/>
          </a:bodyPr>
          <a:lstStyle/>
          <a:p>
            <a:r>
              <a:rPr lang="en-US" b="1" dirty="0">
                <a:solidFill>
                  <a:srgbClr val="000000"/>
                </a:solidFill>
                <a:latin typeface="+mj-lt"/>
              </a:rPr>
              <a:t>Significance F </a:t>
            </a:r>
            <a:r>
              <a:rPr lang="en-US" dirty="0">
                <a:solidFill>
                  <a:srgbClr val="000000"/>
                </a:solidFill>
                <a:latin typeface="+mj-lt"/>
              </a:rPr>
              <a:t>– tells if the predictor variables can be used to predict target values. Should be small.</a:t>
            </a:r>
          </a:p>
          <a:p>
            <a:endParaRPr lang="en-US" dirty="0">
              <a:solidFill>
                <a:srgbClr val="000000"/>
              </a:solidFill>
              <a:latin typeface="+mj-lt"/>
            </a:endParaRPr>
          </a:p>
          <a:p>
            <a:r>
              <a:rPr lang="en-US" b="1" dirty="0">
                <a:solidFill>
                  <a:srgbClr val="000000"/>
                </a:solidFill>
                <a:latin typeface="+mj-lt"/>
              </a:rPr>
              <a:t>Rule of thumb </a:t>
            </a:r>
            <a:r>
              <a:rPr lang="en-US" dirty="0">
                <a:solidFill>
                  <a:srgbClr val="000000"/>
                </a:solidFill>
                <a:latin typeface="+mj-lt"/>
              </a:rPr>
              <a:t>– significance F should be less than 0.1, for more than 90% confidence</a:t>
            </a:r>
            <a:endParaRPr lang="en-IN" dirty="0">
              <a:latin typeface="+mj-lt"/>
            </a:endParaRPr>
          </a:p>
        </p:txBody>
      </p:sp>
      <p:sp>
        <p:nvSpPr>
          <p:cNvPr id="67" name="Rectangle 66">
            <a:extLst>
              <a:ext uri="{FF2B5EF4-FFF2-40B4-BE49-F238E27FC236}">
                <a16:creationId xmlns:a16="http://schemas.microsoft.com/office/drawing/2014/main" id="{11BC3169-BBF3-42EE-9BD2-2E8D24F1BDD1}"/>
              </a:ext>
            </a:extLst>
          </p:cNvPr>
          <p:cNvSpPr/>
          <p:nvPr/>
        </p:nvSpPr>
        <p:spPr>
          <a:xfrm>
            <a:off x="5553504" y="1922458"/>
            <a:ext cx="4834468" cy="1477328"/>
          </a:xfrm>
          <a:prstGeom prst="rect">
            <a:avLst/>
          </a:prstGeom>
          <a:solidFill>
            <a:schemeClr val="bg1"/>
          </a:solidFill>
          <a:ln>
            <a:solidFill>
              <a:schemeClr val="tx1"/>
            </a:solidFill>
          </a:ln>
        </p:spPr>
        <p:txBody>
          <a:bodyPr wrap="square">
            <a:spAutoFit/>
          </a:bodyPr>
          <a:lstStyle/>
          <a:p>
            <a:r>
              <a:rPr lang="en-US" b="1" dirty="0">
                <a:solidFill>
                  <a:srgbClr val="000000"/>
                </a:solidFill>
                <a:latin typeface="+mj-lt"/>
              </a:rPr>
              <a:t>P–value </a:t>
            </a:r>
            <a:r>
              <a:rPr lang="en-US" dirty="0">
                <a:solidFill>
                  <a:srgbClr val="000000"/>
                </a:solidFill>
                <a:latin typeface="+mj-lt"/>
              </a:rPr>
              <a:t>– tells if that particular predictor variable has significant relationship with sales</a:t>
            </a:r>
          </a:p>
          <a:p>
            <a:endParaRPr lang="en-US" dirty="0">
              <a:solidFill>
                <a:srgbClr val="000000"/>
              </a:solidFill>
              <a:latin typeface="+mj-lt"/>
            </a:endParaRPr>
          </a:p>
          <a:p>
            <a:r>
              <a:rPr lang="en-US" b="1" dirty="0">
                <a:solidFill>
                  <a:srgbClr val="000000"/>
                </a:solidFill>
                <a:latin typeface="+mj-lt"/>
              </a:rPr>
              <a:t>Rule of thumb </a:t>
            </a:r>
            <a:r>
              <a:rPr lang="en-US" dirty="0">
                <a:solidFill>
                  <a:srgbClr val="000000"/>
                </a:solidFill>
                <a:latin typeface="+mj-lt"/>
              </a:rPr>
              <a:t>– p-value should be less than 0.1, for more than 90% confidence</a:t>
            </a:r>
            <a:endParaRPr lang="en-IN" dirty="0">
              <a:latin typeface="+mj-lt"/>
            </a:endParaRPr>
          </a:p>
        </p:txBody>
      </p:sp>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984E03AC-1FB1-4EC7-B7EA-1EF37CF75D09}"/>
                  </a:ext>
                </a:extLst>
              </p:cNvPr>
              <p:cNvSpPr/>
              <p:nvPr/>
            </p:nvSpPr>
            <p:spPr>
              <a:xfrm>
                <a:off x="5559655" y="1920322"/>
                <a:ext cx="5317067" cy="1477328"/>
              </a:xfrm>
              <a:prstGeom prst="rect">
                <a:avLst/>
              </a:prstGeom>
              <a:solidFill>
                <a:schemeClr val="bg1"/>
              </a:solidFill>
              <a:ln>
                <a:solidFill>
                  <a:schemeClr val="tx1"/>
                </a:solidFill>
              </a:ln>
            </p:spPr>
            <p:txBody>
              <a:bodyPr wrap="square">
                <a:spAutoFit/>
              </a:bodyPr>
              <a:lstStyle/>
              <a:p>
                <a:r>
                  <a:rPr lang="en-US" b="1" dirty="0">
                    <a:solidFill>
                      <a:srgbClr val="000000"/>
                    </a:solidFill>
                    <a:latin typeface="+mj-lt"/>
                  </a:rPr>
                  <a:t>Coefficients </a:t>
                </a:r>
                <a:r>
                  <a:rPr lang="en-US" dirty="0">
                    <a:solidFill>
                      <a:srgbClr val="000000"/>
                    </a:solidFill>
                    <a:latin typeface="+mj-lt"/>
                  </a:rPr>
                  <a:t>– the a’s and b’s of this equation </a:t>
                </a:r>
              </a:p>
              <a:p>
                <a:pPr/>
                <a14:m>
                  <m:oMathPara xmlns:m="http://schemas.openxmlformats.org/officeDocument/2006/math">
                    <m:oMathParaPr>
                      <m:jc m:val="centerGroup"/>
                    </m:oMathParaPr>
                    <m:oMath xmlns:m="http://schemas.openxmlformats.org/officeDocument/2006/math">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𝑎</m:t>
                          </m:r>
                        </m:e>
                        <m:sub>
                          <m:r>
                            <a:rPr lang="en-IN" i="1">
                              <a:solidFill>
                                <a:srgbClr val="000000"/>
                              </a:solidFill>
                              <a:latin typeface="Cambria Math" panose="02040503050406030204" pitchFamily="18" charset="0"/>
                            </a:rPr>
                            <m:t>1</m:t>
                          </m:r>
                        </m:sub>
                      </m:s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𝑥</m:t>
                          </m:r>
                        </m:e>
                        <m:sub>
                          <m:r>
                            <a:rPr lang="en-IN" i="1">
                              <a:solidFill>
                                <a:srgbClr val="000000"/>
                              </a:solidFill>
                              <a:latin typeface="Cambria Math" panose="02040503050406030204" pitchFamily="18" charset="0"/>
                            </a:rPr>
                            <m:t>1</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𝑎</m:t>
                          </m:r>
                        </m:e>
                        <m:sub>
                          <m:r>
                            <a:rPr lang="en-IN" i="1">
                              <a:solidFill>
                                <a:srgbClr val="000000"/>
                              </a:solidFill>
                              <a:latin typeface="Cambria Math" panose="02040503050406030204" pitchFamily="18" charset="0"/>
                            </a:rPr>
                            <m:t>2</m:t>
                          </m:r>
                        </m:sub>
                      </m:s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𝑥</m:t>
                          </m:r>
                        </m:e>
                        <m:sub>
                          <m:r>
                            <a:rPr lang="en-IN" i="1">
                              <a:solidFill>
                                <a:srgbClr val="000000"/>
                              </a:solidFill>
                              <a:latin typeface="Cambria Math" panose="02040503050406030204" pitchFamily="18" charset="0"/>
                            </a:rPr>
                            <m:t>2</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𝑎</m:t>
                          </m:r>
                        </m:e>
                        <m:sub>
                          <m:r>
                            <a:rPr lang="en-IN" i="1">
                              <a:solidFill>
                                <a:srgbClr val="000000"/>
                              </a:solidFill>
                              <a:latin typeface="Cambria Math" panose="02040503050406030204" pitchFamily="18" charset="0"/>
                            </a:rPr>
                            <m:t>3</m:t>
                          </m:r>
                        </m:sub>
                      </m:s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𝑥</m:t>
                          </m:r>
                        </m:e>
                        <m:sub>
                          <m:r>
                            <a:rPr lang="en-IN" i="1">
                              <a:solidFill>
                                <a:srgbClr val="000000"/>
                              </a:solidFill>
                              <a:latin typeface="Cambria Math" panose="02040503050406030204" pitchFamily="18" charset="0"/>
                            </a:rPr>
                            <m:t>3</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𝑎</m:t>
                          </m:r>
                        </m:e>
                        <m:sub>
                          <m:r>
                            <a:rPr lang="en-IN" i="1">
                              <a:solidFill>
                                <a:srgbClr val="000000"/>
                              </a:solidFill>
                              <a:latin typeface="Cambria Math" panose="02040503050406030204" pitchFamily="18" charset="0"/>
                            </a:rPr>
                            <m:t>𝑛</m:t>
                          </m:r>
                        </m:sub>
                      </m:s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𝑥</m:t>
                          </m:r>
                        </m:e>
                        <m:sub>
                          <m:r>
                            <a:rPr lang="en-IN" i="1">
                              <a:solidFill>
                                <a:srgbClr val="000000"/>
                              </a:solidFill>
                              <a:latin typeface="Cambria Math" panose="02040503050406030204" pitchFamily="18" charset="0"/>
                            </a:rPr>
                            <m:t>𝑛</m:t>
                          </m:r>
                        </m:sub>
                      </m:sSub>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𝑏</m:t>
                      </m:r>
                    </m:oMath>
                  </m:oMathPara>
                </a14:m>
                <a:endParaRPr lang="en-IN" dirty="0">
                  <a:solidFill>
                    <a:srgbClr val="000000"/>
                  </a:solidFill>
                </a:endParaRPr>
              </a:p>
              <a:p>
                <a:endParaRPr lang="en-US" dirty="0">
                  <a:solidFill>
                    <a:srgbClr val="000000"/>
                  </a:solidFill>
                  <a:latin typeface="+mj-lt"/>
                </a:endParaRPr>
              </a:p>
              <a:p>
                <a:r>
                  <a:rPr lang="en-US" dirty="0">
                    <a:solidFill>
                      <a:srgbClr val="000000"/>
                    </a:solidFill>
                    <a:latin typeface="+mj-lt"/>
                  </a:rPr>
                  <a:t>Use these to create the final equation</a:t>
                </a:r>
              </a:p>
              <a:p>
                <a:r>
                  <a:rPr lang="en-IN" dirty="0">
                    <a:latin typeface="+mj-lt"/>
                  </a:rPr>
                  <a:t>For </a:t>
                </a:r>
                <a:r>
                  <a:rPr lang="en-IN" dirty="0" err="1">
                    <a:latin typeface="+mj-lt"/>
                  </a:rPr>
                  <a:t>eg.</a:t>
                </a:r>
                <a:r>
                  <a:rPr lang="en-IN" dirty="0">
                    <a:latin typeface="+mj-lt"/>
                  </a:rPr>
                  <a:t> - </a:t>
                </a:r>
                <a14:m>
                  <m:oMath xmlns:m="http://schemas.openxmlformats.org/officeDocument/2006/math">
                    <m:r>
                      <a:rPr lang="en-IN" i="1">
                        <a:latin typeface="Cambria Math" panose="02040503050406030204" pitchFamily="18" charset="0"/>
                      </a:rPr>
                      <m:t>𝑆𝑎</m:t>
                    </m:r>
                    <m:r>
                      <a:rPr lang="en-IN" b="0" i="1" smtClean="0">
                        <a:latin typeface="Cambria Math" panose="02040503050406030204" pitchFamily="18" charset="0"/>
                      </a:rPr>
                      <m:t>𝑙𝑒𝑠</m:t>
                    </m:r>
                    <m:r>
                      <a:rPr lang="en-IN" i="1">
                        <a:latin typeface="Cambria Math" panose="02040503050406030204" pitchFamily="18" charset="0"/>
                      </a:rPr>
                      <m:t>=</m:t>
                    </m:r>
                    <m:r>
                      <a:rPr lang="en-IN" b="0" i="1" smtClean="0">
                        <a:latin typeface="Cambria Math" panose="02040503050406030204" pitchFamily="18" charset="0"/>
                      </a:rPr>
                      <m:t>20</m:t>
                    </m:r>
                    <m:r>
                      <a:rPr lang="en-IN" i="1">
                        <a:latin typeface="Cambria Math" panose="02040503050406030204" pitchFamily="18" charset="0"/>
                      </a:rPr>
                      <m:t>×</m:t>
                    </m:r>
                    <m:d>
                      <m:dPr>
                        <m:ctrlPr>
                          <a:rPr lang="en-IN" i="1">
                            <a:latin typeface="Cambria Math" panose="02040503050406030204" pitchFamily="18" charset="0"/>
                          </a:rPr>
                        </m:ctrlPr>
                      </m:dPr>
                      <m:e>
                        <m:r>
                          <a:rPr lang="en-IN" b="0" i="1" smtClean="0">
                            <a:latin typeface="Cambria Math" panose="02040503050406030204" pitchFamily="18" charset="0"/>
                          </a:rPr>
                          <m:t>𝑆𝑡𝑜𝑟𝑒</m:t>
                        </m:r>
                        <m:r>
                          <a:rPr lang="en-IN" b="0" i="1" smtClean="0">
                            <a:latin typeface="Cambria Math" panose="02040503050406030204" pitchFamily="18" charset="0"/>
                          </a:rPr>
                          <m:t> </m:t>
                        </m:r>
                        <m:r>
                          <a:rPr lang="en-IN" b="0" i="1" smtClean="0">
                            <a:latin typeface="Cambria Math" panose="02040503050406030204" pitchFamily="18" charset="0"/>
                          </a:rPr>
                          <m:t>𝑠𝑖𝑧𝑒</m:t>
                        </m:r>
                      </m:e>
                    </m:d>
                    <m:r>
                      <a:rPr lang="en-IN" b="0" i="1" smtClean="0">
                        <a:latin typeface="Cambria Math" panose="02040503050406030204" pitchFamily="18" charset="0"/>
                      </a:rPr>
                      <m:t> −250</m:t>
                    </m:r>
                  </m:oMath>
                </a14:m>
                <a:r>
                  <a:rPr lang="en-IN" dirty="0">
                    <a:latin typeface="+mj-lt"/>
                  </a:rPr>
                  <a:t> </a:t>
                </a:r>
              </a:p>
            </p:txBody>
          </p:sp>
        </mc:Choice>
        <mc:Fallback xmlns="">
          <p:sp>
            <p:nvSpPr>
              <p:cNvPr id="68" name="Rectangle 67">
                <a:extLst>
                  <a:ext uri="{FF2B5EF4-FFF2-40B4-BE49-F238E27FC236}">
                    <a16:creationId xmlns:a16="http://schemas.microsoft.com/office/drawing/2014/main" id="{984E03AC-1FB1-4EC7-B7EA-1EF37CF75D09}"/>
                  </a:ext>
                </a:extLst>
              </p:cNvPr>
              <p:cNvSpPr>
                <a:spLocks noRot="1" noChangeAspect="1" noMove="1" noResize="1" noEditPoints="1" noAdjustHandles="1" noChangeArrowheads="1" noChangeShapeType="1" noTextEdit="1"/>
              </p:cNvSpPr>
              <p:nvPr/>
            </p:nvSpPr>
            <p:spPr>
              <a:xfrm>
                <a:off x="5559655" y="1920322"/>
                <a:ext cx="5317067" cy="1477328"/>
              </a:xfrm>
              <a:prstGeom prst="rect">
                <a:avLst/>
              </a:prstGeom>
              <a:blipFill>
                <a:blip r:embed="rId4"/>
                <a:stretch>
                  <a:fillRect l="-801" t="-1639" b="-5328"/>
                </a:stretch>
              </a:blipFill>
              <a:ln>
                <a:solidFill>
                  <a:schemeClr val="tx1"/>
                </a:solidFill>
              </a:ln>
            </p:spPr>
            <p:txBody>
              <a:bodyPr/>
              <a:lstStyle/>
              <a:p>
                <a:r>
                  <a:rPr lang="en-IN">
                    <a:noFill/>
                  </a:rPr>
                  <a:t> </a:t>
                </a:r>
              </a:p>
            </p:txBody>
          </p:sp>
        </mc:Fallback>
      </mc:AlternateContent>
      <p:sp>
        <p:nvSpPr>
          <p:cNvPr id="5" name="Rectangle 4">
            <a:extLst>
              <a:ext uri="{FF2B5EF4-FFF2-40B4-BE49-F238E27FC236}">
                <a16:creationId xmlns:a16="http://schemas.microsoft.com/office/drawing/2014/main" id="{A30C0C66-F4A7-FDEA-4DB2-49CD68F970DD}"/>
              </a:ext>
            </a:extLst>
          </p:cNvPr>
          <p:cNvSpPr/>
          <p:nvPr/>
        </p:nvSpPr>
        <p:spPr>
          <a:xfrm>
            <a:off x="2250836" y="5205730"/>
            <a:ext cx="9477120" cy="1809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965590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fade">
                                      <p:cBhvr>
                                        <p:cTn id="17" dur="500"/>
                                        <p:tgtEl>
                                          <p:spTgt spid="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6" grpId="0" animBg="1"/>
      <p:bldP spid="67" grpId="0" animBg="1"/>
      <p:bldP spid="6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Retention</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What</a:t>
            </a:r>
          </a:p>
        </p:txBody>
      </p:sp>
      <p:sp>
        <p:nvSpPr>
          <p:cNvPr id="5" name="Rectangle 4">
            <a:extLst>
              <a:ext uri="{FF2B5EF4-FFF2-40B4-BE49-F238E27FC236}">
                <a16:creationId xmlns:a16="http://schemas.microsoft.com/office/drawing/2014/main" id="{D63B05F1-B5AB-452C-ACE3-D2AE380C2E8F}"/>
              </a:ext>
            </a:extLst>
          </p:cNvPr>
          <p:cNvSpPr/>
          <p:nvPr/>
        </p:nvSpPr>
        <p:spPr>
          <a:xfrm>
            <a:off x="4038599" y="1754769"/>
            <a:ext cx="7229472" cy="369332"/>
          </a:xfrm>
          <a:prstGeom prst="rect">
            <a:avLst/>
          </a:prstGeom>
          <a:ln>
            <a:solidFill>
              <a:schemeClr val="tx1"/>
            </a:solidFill>
          </a:ln>
        </p:spPr>
        <p:txBody>
          <a:bodyPr wrap="square">
            <a:spAutoFit/>
          </a:bodyPr>
          <a:lstStyle/>
          <a:p>
            <a:r>
              <a:rPr lang="en-US" dirty="0">
                <a:solidFill>
                  <a:srgbClr val="000000"/>
                </a:solidFill>
                <a:latin typeface="+mj-lt"/>
              </a:rPr>
              <a:t>Extend Customer lifetime by preventing churn</a:t>
            </a:r>
            <a:endParaRPr lang="en-IN" dirty="0">
              <a:latin typeface="+mj-lt"/>
            </a:endParaRPr>
          </a:p>
        </p:txBody>
      </p:sp>
      <p:sp>
        <p:nvSpPr>
          <p:cNvPr id="27" name="Rectangle 26">
            <a:extLst>
              <a:ext uri="{FF2B5EF4-FFF2-40B4-BE49-F238E27FC236}">
                <a16:creationId xmlns:a16="http://schemas.microsoft.com/office/drawing/2014/main" id="{2554787B-CE6B-446C-A9A9-3278C1C12431}"/>
              </a:ext>
            </a:extLst>
          </p:cNvPr>
          <p:cNvSpPr/>
          <p:nvPr/>
        </p:nvSpPr>
        <p:spPr>
          <a:xfrm>
            <a:off x="4038599" y="2329556"/>
            <a:ext cx="7229472" cy="369332"/>
          </a:xfrm>
          <a:prstGeom prst="rect">
            <a:avLst/>
          </a:prstGeom>
          <a:ln>
            <a:solidFill>
              <a:schemeClr val="tx1"/>
            </a:solidFill>
          </a:ln>
        </p:spPr>
        <p:txBody>
          <a:bodyPr wrap="square">
            <a:spAutoFit/>
          </a:bodyPr>
          <a:lstStyle/>
          <a:p>
            <a:r>
              <a:rPr lang="en-US" dirty="0">
                <a:solidFill>
                  <a:srgbClr val="000000"/>
                </a:solidFill>
                <a:latin typeface="+mj-lt"/>
              </a:rPr>
              <a:t>Acquisition cost, Retention efforts, lost revenue etc. </a:t>
            </a:r>
            <a:endParaRPr lang="en-IN" dirty="0">
              <a:latin typeface="+mj-lt"/>
            </a:endParaRPr>
          </a:p>
        </p:txBody>
      </p:sp>
      <p:sp>
        <p:nvSpPr>
          <p:cNvPr id="28" name="Rectangle 27">
            <a:extLst>
              <a:ext uri="{FF2B5EF4-FFF2-40B4-BE49-F238E27FC236}">
                <a16:creationId xmlns:a16="http://schemas.microsoft.com/office/drawing/2014/main" id="{69B67260-35DE-4249-A6A2-65205B3C7D11}"/>
              </a:ext>
            </a:extLst>
          </p:cNvPr>
          <p:cNvSpPr/>
          <p:nvPr/>
        </p:nvSpPr>
        <p:spPr>
          <a:xfrm>
            <a:off x="4038599" y="2907656"/>
            <a:ext cx="7229472" cy="369332"/>
          </a:xfrm>
          <a:prstGeom prst="rect">
            <a:avLst/>
          </a:prstGeom>
          <a:ln>
            <a:solidFill>
              <a:schemeClr val="tx1"/>
            </a:solidFill>
          </a:ln>
        </p:spPr>
        <p:txBody>
          <a:bodyPr wrap="square">
            <a:spAutoFit/>
          </a:bodyPr>
          <a:lstStyle/>
          <a:p>
            <a:r>
              <a:rPr lang="en-US" dirty="0">
                <a:solidFill>
                  <a:srgbClr val="000000"/>
                </a:solidFill>
                <a:latin typeface="+mj-lt"/>
              </a:rPr>
              <a:t>Overall Customer churn rate  is the key KPI for Business Growth</a:t>
            </a:r>
            <a:endParaRPr lang="en-IN" dirty="0">
              <a:latin typeface="+mj-lt"/>
            </a:endParaRPr>
          </a:p>
        </p:txBody>
      </p:sp>
      <p:sp>
        <p:nvSpPr>
          <p:cNvPr id="29" name="Rectangle 28">
            <a:extLst>
              <a:ext uri="{FF2B5EF4-FFF2-40B4-BE49-F238E27FC236}">
                <a16:creationId xmlns:a16="http://schemas.microsoft.com/office/drawing/2014/main" id="{0FD48AB6-04D1-4B10-986A-8DA7F6C3FD7F}"/>
              </a:ext>
            </a:extLst>
          </p:cNvPr>
          <p:cNvSpPr/>
          <p:nvPr/>
        </p:nvSpPr>
        <p:spPr>
          <a:xfrm>
            <a:off x="4639487" y="3675431"/>
            <a:ext cx="2576763"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Time Series forecasting to predict overall churn</a:t>
            </a:r>
          </a:p>
        </p:txBody>
      </p:sp>
      <p:sp>
        <p:nvSpPr>
          <p:cNvPr id="31" name="Rectangle 30">
            <a:extLst>
              <a:ext uri="{FF2B5EF4-FFF2-40B4-BE49-F238E27FC236}">
                <a16:creationId xmlns:a16="http://schemas.microsoft.com/office/drawing/2014/main" id="{F9569A14-3BB3-4F47-B85F-E79D14447031}"/>
              </a:ext>
            </a:extLst>
          </p:cNvPr>
          <p:cNvSpPr/>
          <p:nvPr/>
        </p:nvSpPr>
        <p:spPr>
          <a:xfrm>
            <a:off x="7989307" y="3675431"/>
            <a:ext cx="2576763" cy="5184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ML models to predict probability of churn</a:t>
            </a:r>
          </a:p>
        </p:txBody>
      </p:sp>
      <p:sp>
        <p:nvSpPr>
          <p:cNvPr id="35" name="Rectangle 34">
            <a:extLst>
              <a:ext uri="{FF2B5EF4-FFF2-40B4-BE49-F238E27FC236}">
                <a16:creationId xmlns:a16="http://schemas.microsoft.com/office/drawing/2014/main" id="{48A5E9A3-3DEE-4AF5-8DAE-A60DD54D6DB3}"/>
              </a:ext>
            </a:extLst>
          </p:cNvPr>
          <p:cNvSpPr/>
          <p:nvPr/>
        </p:nvSpPr>
        <p:spPr>
          <a:xfrm>
            <a:off x="4038599" y="4555467"/>
            <a:ext cx="7229472" cy="369332"/>
          </a:xfrm>
          <a:prstGeom prst="rect">
            <a:avLst/>
          </a:prstGeom>
          <a:ln>
            <a:solidFill>
              <a:schemeClr val="tx1"/>
            </a:solidFill>
          </a:ln>
        </p:spPr>
        <p:txBody>
          <a:bodyPr wrap="square">
            <a:spAutoFit/>
          </a:bodyPr>
          <a:lstStyle/>
          <a:p>
            <a:r>
              <a:rPr lang="en-US" dirty="0">
                <a:solidFill>
                  <a:srgbClr val="000000"/>
                </a:solidFill>
                <a:latin typeface="+mj-lt"/>
              </a:rPr>
              <a:t>Logistic regression can help predict probability of churn</a:t>
            </a:r>
            <a:endParaRPr lang="en-IN" dirty="0">
              <a:latin typeface="+mj-lt"/>
            </a:endParaRPr>
          </a:p>
        </p:txBody>
      </p:sp>
      <p:sp>
        <p:nvSpPr>
          <p:cNvPr id="36" name="Rectangle 35">
            <a:extLst>
              <a:ext uri="{FF2B5EF4-FFF2-40B4-BE49-F238E27FC236}">
                <a16:creationId xmlns:a16="http://schemas.microsoft.com/office/drawing/2014/main" id="{F8DF2DE5-1B33-4EBD-B3FB-629ACCC53D2F}"/>
              </a:ext>
            </a:extLst>
          </p:cNvPr>
          <p:cNvSpPr/>
          <p:nvPr/>
        </p:nvSpPr>
        <p:spPr>
          <a:xfrm>
            <a:off x="4038599" y="5128115"/>
            <a:ext cx="7229472" cy="369332"/>
          </a:xfrm>
          <a:prstGeom prst="rect">
            <a:avLst/>
          </a:prstGeom>
          <a:ln>
            <a:solidFill>
              <a:schemeClr val="tx1"/>
            </a:solidFill>
          </a:ln>
        </p:spPr>
        <p:txBody>
          <a:bodyPr wrap="square">
            <a:spAutoFit/>
          </a:bodyPr>
          <a:lstStyle/>
          <a:p>
            <a:r>
              <a:rPr lang="en-US" dirty="0">
                <a:solidFill>
                  <a:srgbClr val="000000"/>
                </a:solidFill>
                <a:latin typeface="+mj-lt"/>
              </a:rPr>
              <a:t>Pitch alternate options/ offers to the customers to retain the customers</a:t>
            </a:r>
            <a:endParaRPr lang="en-IN" dirty="0">
              <a:latin typeface="+mj-lt"/>
            </a:endParaRPr>
          </a:p>
        </p:txBody>
      </p:sp>
    </p:spTree>
    <p:extLst>
      <p:ext uri="{BB962C8B-B14F-4D97-AF65-F5344CB8AC3E}">
        <p14:creationId xmlns:p14="http://schemas.microsoft.com/office/powerpoint/2010/main" val="371868511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1" grpId="0" animBg="1"/>
      <p:bldP spid="35" grpId="0" animBg="1"/>
      <p:bldP spid="3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What</a:t>
            </a:r>
          </a:p>
        </p:txBody>
      </p:sp>
      <p:sp>
        <p:nvSpPr>
          <p:cNvPr id="5" name="Rectangle 4">
            <a:extLst>
              <a:ext uri="{FF2B5EF4-FFF2-40B4-BE49-F238E27FC236}">
                <a16:creationId xmlns:a16="http://schemas.microsoft.com/office/drawing/2014/main" id="{D63B05F1-B5AB-452C-ACE3-D2AE380C2E8F}"/>
              </a:ext>
            </a:extLst>
          </p:cNvPr>
          <p:cNvSpPr/>
          <p:nvPr/>
        </p:nvSpPr>
        <p:spPr>
          <a:xfrm>
            <a:off x="4038599" y="2233647"/>
            <a:ext cx="7229472" cy="369332"/>
          </a:xfrm>
          <a:prstGeom prst="rect">
            <a:avLst/>
          </a:prstGeom>
          <a:ln>
            <a:solidFill>
              <a:schemeClr val="tx1"/>
            </a:solidFill>
          </a:ln>
        </p:spPr>
        <p:txBody>
          <a:bodyPr wrap="square">
            <a:spAutoFit/>
          </a:bodyPr>
          <a:lstStyle/>
          <a:p>
            <a:r>
              <a:rPr lang="en-US" dirty="0">
                <a:solidFill>
                  <a:srgbClr val="000000"/>
                </a:solidFill>
                <a:latin typeface="+mj-lt"/>
              </a:rPr>
              <a:t>Uses historical data to train, same as linear regression</a:t>
            </a:r>
            <a:endParaRPr lang="en-IN" dirty="0">
              <a:latin typeface="+mj-lt"/>
            </a:endParaRPr>
          </a:p>
        </p:txBody>
      </p:sp>
      <p:sp>
        <p:nvSpPr>
          <p:cNvPr id="29" name="Rectangle 28">
            <a:extLst>
              <a:ext uri="{FF2B5EF4-FFF2-40B4-BE49-F238E27FC236}">
                <a16:creationId xmlns:a16="http://schemas.microsoft.com/office/drawing/2014/main" id="{0FD48AB6-04D1-4B10-986A-8DA7F6C3FD7F}"/>
              </a:ext>
            </a:extLst>
          </p:cNvPr>
          <p:cNvSpPr/>
          <p:nvPr/>
        </p:nvSpPr>
        <p:spPr>
          <a:xfrm>
            <a:off x="4407036" y="3124242"/>
            <a:ext cx="2576763" cy="10477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Linear Regression – predicts continuous variable</a:t>
            </a:r>
          </a:p>
        </p:txBody>
      </p:sp>
      <p:sp>
        <p:nvSpPr>
          <p:cNvPr id="31" name="Rectangle 30">
            <a:extLst>
              <a:ext uri="{FF2B5EF4-FFF2-40B4-BE49-F238E27FC236}">
                <a16:creationId xmlns:a16="http://schemas.microsoft.com/office/drawing/2014/main" id="{F9569A14-3BB3-4F47-B85F-E79D14447031}"/>
              </a:ext>
            </a:extLst>
          </p:cNvPr>
          <p:cNvSpPr/>
          <p:nvPr/>
        </p:nvSpPr>
        <p:spPr>
          <a:xfrm>
            <a:off x="7989307" y="3129622"/>
            <a:ext cx="2576763" cy="10423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Logistic Regression – predicts categorical variable</a:t>
            </a:r>
          </a:p>
        </p:txBody>
      </p:sp>
      <p:sp>
        <p:nvSpPr>
          <p:cNvPr id="35" name="Rectangle 34">
            <a:extLst>
              <a:ext uri="{FF2B5EF4-FFF2-40B4-BE49-F238E27FC236}">
                <a16:creationId xmlns:a16="http://schemas.microsoft.com/office/drawing/2014/main" id="{48A5E9A3-3DEE-4AF5-8DAE-A60DD54D6DB3}"/>
              </a:ext>
            </a:extLst>
          </p:cNvPr>
          <p:cNvSpPr/>
          <p:nvPr/>
        </p:nvSpPr>
        <p:spPr>
          <a:xfrm>
            <a:off x="4038599" y="4693213"/>
            <a:ext cx="7229472" cy="646331"/>
          </a:xfrm>
          <a:prstGeom prst="rect">
            <a:avLst/>
          </a:prstGeom>
          <a:ln>
            <a:solidFill>
              <a:schemeClr val="tx1"/>
            </a:solidFill>
          </a:ln>
        </p:spPr>
        <p:txBody>
          <a:bodyPr wrap="square">
            <a:spAutoFit/>
          </a:bodyPr>
          <a:lstStyle/>
          <a:p>
            <a:r>
              <a:rPr lang="en-US" dirty="0">
                <a:solidFill>
                  <a:srgbClr val="000000"/>
                </a:solidFill>
                <a:latin typeface="+mj-lt"/>
              </a:rPr>
              <a:t>Output of logistic regression corresponds to probability of belonging to one of the categories</a:t>
            </a:r>
            <a:endParaRPr lang="en-IN" dirty="0">
              <a:latin typeface="+mj-lt"/>
            </a:endParaRPr>
          </a:p>
        </p:txBody>
      </p:sp>
    </p:spTree>
    <p:extLst>
      <p:ext uri="{BB962C8B-B14F-4D97-AF65-F5344CB8AC3E}">
        <p14:creationId xmlns:p14="http://schemas.microsoft.com/office/powerpoint/2010/main" val="15492401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P spid="3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Example</a:t>
            </a:r>
          </a:p>
        </p:txBody>
      </p:sp>
      <p:sp>
        <p:nvSpPr>
          <p:cNvPr id="35" name="Rectangle 34">
            <a:extLst>
              <a:ext uri="{FF2B5EF4-FFF2-40B4-BE49-F238E27FC236}">
                <a16:creationId xmlns:a16="http://schemas.microsoft.com/office/drawing/2014/main" id="{48A5E9A3-3DEE-4AF5-8DAE-A60DD54D6DB3}"/>
              </a:ext>
            </a:extLst>
          </p:cNvPr>
          <p:cNvSpPr/>
          <p:nvPr/>
        </p:nvSpPr>
        <p:spPr>
          <a:xfrm>
            <a:off x="4335865" y="3814242"/>
            <a:ext cx="6634929" cy="369332"/>
          </a:xfrm>
          <a:prstGeom prst="rect">
            <a:avLst/>
          </a:prstGeom>
          <a:ln>
            <a:solidFill>
              <a:schemeClr val="tx1"/>
            </a:solidFill>
          </a:ln>
        </p:spPr>
        <p:txBody>
          <a:bodyPr wrap="square">
            <a:spAutoFit/>
          </a:bodyPr>
          <a:lstStyle/>
          <a:p>
            <a:r>
              <a:rPr lang="en-US" dirty="0">
                <a:solidFill>
                  <a:srgbClr val="000000"/>
                </a:solidFill>
                <a:latin typeface="+mj-lt"/>
              </a:rPr>
              <a:t>Use this data to train our logistic regression model</a:t>
            </a:r>
            <a:endParaRPr lang="en-IN" dirty="0">
              <a:latin typeface="+mj-lt"/>
            </a:endParaRPr>
          </a:p>
        </p:txBody>
      </p:sp>
      <p:graphicFrame>
        <p:nvGraphicFramePr>
          <p:cNvPr id="3" name="Table 2">
            <a:extLst>
              <a:ext uri="{FF2B5EF4-FFF2-40B4-BE49-F238E27FC236}">
                <a16:creationId xmlns:a16="http://schemas.microsoft.com/office/drawing/2014/main" id="{3077A637-81A3-4448-B727-B7BC68E340F0}"/>
              </a:ext>
            </a:extLst>
          </p:cNvPr>
          <p:cNvGraphicFramePr>
            <a:graphicFrameLocks noGrp="1"/>
          </p:cNvGraphicFramePr>
          <p:nvPr>
            <p:extLst>
              <p:ext uri="{D42A27DB-BD31-4B8C-83A1-F6EECF244321}">
                <p14:modId xmlns:p14="http://schemas.microsoft.com/office/powerpoint/2010/main" val="2670439854"/>
              </p:ext>
            </p:extLst>
          </p:nvPr>
        </p:nvGraphicFramePr>
        <p:xfrm>
          <a:off x="4335865" y="1503644"/>
          <a:ext cx="6634928" cy="2124000"/>
        </p:xfrm>
        <a:graphic>
          <a:graphicData uri="http://schemas.openxmlformats.org/drawingml/2006/table">
            <a:tbl>
              <a:tblPr firstRow="1" bandRow="1">
                <a:tableStyleId>{5C22544A-7EE6-4342-B048-85BDC9FD1C3A}</a:tableStyleId>
              </a:tblPr>
              <a:tblGrid>
                <a:gridCol w="1658732">
                  <a:extLst>
                    <a:ext uri="{9D8B030D-6E8A-4147-A177-3AD203B41FA5}">
                      <a16:colId xmlns:a16="http://schemas.microsoft.com/office/drawing/2014/main" val="1306272156"/>
                    </a:ext>
                  </a:extLst>
                </a:gridCol>
                <a:gridCol w="1658732">
                  <a:extLst>
                    <a:ext uri="{9D8B030D-6E8A-4147-A177-3AD203B41FA5}">
                      <a16:colId xmlns:a16="http://schemas.microsoft.com/office/drawing/2014/main" val="1388930746"/>
                    </a:ext>
                  </a:extLst>
                </a:gridCol>
                <a:gridCol w="1768463">
                  <a:extLst>
                    <a:ext uri="{9D8B030D-6E8A-4147-A177-3AD203B41FA5}">
                      <a16:colId xmlns:a16="http://schemas.microsoft.com/office/drawing/2014/main" val="2804240013"/>
                    </a:ext>
                  </a:extLst>
                </a:gridCol>
                <a:gridCol w="1549001">
                  <a:extLst>
                    <a:ext uri="{9D8B030D-6E8A-4147-A177-3AD203B41FA5}">
                      <a16:colId xmlns:a16="http://schemas.microsoft.com/office/drawing/2014/main" val="1805845221"/>
                    </a:ext>
                  </a:extLst>
                </a:gridCol>
              </a:tblGrid>
              <a:tr h="640248">
                <a:tc>
                  <a:txBody>
                    <a:bodyPr/>
                    <a:lstStyle/>
                    <a:p>
                      <a:pPr algn="ctr"/>
                      <a:r>
                        <a:rPr lang="en-IN" dirty="0"/>
                        <a:t> Annual Income</a:t>
                      </a:r>
                    </a:p>
                  </a:txBody>
                  <a:tcPr/>
                </a:tc>
                <a:tc>
                  <a:txBody>
                    <a:bodyPr/>
                    <a:lstStyle/>
                    <a:p>
                      <a:pPr algn="ctr"/>
                      <a:r>
                        <a:rPr lang="en-IN" dirty="0"/>
                        <a:t>Satisfaction score</a:t>
                      </a:r>
                    </a:p>
                  </a:txBody>
                  <a:tcPr/>
                </a:tc>
                <a:tc>
                  <a:txBody>
                    <a:bodyPr/>
                    <a:lstStyle/>
                    <a:p>
                      <a:pPr algn="ctr"/>
                      <a:r>
                        <a:rPr lang="en-IN" dirty="0" err="1"/>
                        <a:t>Avg</a:t>
                      </a:r>
                      <a:r>
                        <a:rPr lang="en-IN" dirty="0"/>
                        <a:t> Transaction (Per Month)</a:t>
                      </a:r>
                    </a:p>
                  </a:txBody>
                  <a:tcPr/>
                </a:tc>
                <a:tc>
                  <a:txBody>
                    <a:bodyPr/>
                    <a:lstStyle/>
                    <a:p>
                      <a:pPr algn="ctr"/>
                      <a:r>
                        <a:rPr lang="en-IN" dirty="0"/>
                        <a:t>Churned?</a:t>
                      </a:r>
                    </a:p>
                  </a:txBody>
                  <a:tcPr/>
                </a:tc>
                <a:extLst>
                  <a:ext uri="{0D108BD9-81ED-4DB2-BD59-A6C34878D82A}">
                    <a16:rowId xmlns:a16="http://schemas.microsoft.com/office/drawing/2014/main" val="4108855493"/>
                  </a:ext>
                </a:extLst>
              </a:tr>
              <a:tr h="370938">
                <a:tc>
                  <a:txBody>
                    <a:bodyPr/>
                    <a:lstStyle/>
                    <a:p>
                      <a:pPr algn="ctr"/>
                      <a:r>
                        <a:rPr lang="en-IN" dirty="0"/>
                        <a:t>140</a:t>
                      </a:r>
                    </a:p>
                  </a:txBody>
                  <a:tcPr/>
                </a:tc>
                <a:tc>
                  <a:txBody>
                    <a:bodyPr/>
                    <a:lstStyle/>
                    <a:p>
                      <a:pPr algn="ctr"/>
                      <a:r>
                        <a:rPr lang="en-IN" dirty="0"/>
                        <a:t>2</a:t>
                      </a:r>
                    </a:p>
                  </a:txBody>
                  <a:tcPr/>
                </a:tc>
                <a:tc>
                  <a:txBody>
                    <a:bodyPr/>
                    <a:lstStyle/>
                    <a:p>
                      <a:pPr algn="ctr"/>
                      <a:r>
                        <a:rPr lang="en-IN" dirty="0"/>
                        <a:t>34</a:t>
                      </a:r>
                    </a:p>
                  </a:txBody>
                  <a:tcPr/>
                </a:tc>
                <a:tc>
                  <a:txBody>
                    <a:bodyPr/>
                    <a:lstStyle/>
                    <a:p>
                      <a:pPr algn="ctr"/>
                      <a:r>
                        <a:rPr lang="en-IN" dirty="0"/>
                        <a:t>1</a:t>
                      </a:r>
                    </a:p>
                  </a:txBody>
                  <a:tcPr/>
                </a:tc>
                <a:extLst>
                  <a:ext uri="{0D108BD9-81ED-4DB2-BD59-A6C34878D82A}">
                    <a16:rowId xmlns:a16="http://schemas.microsoft.com/office/drawing/2014/main" val="2846496206"/>
                  </a:ext>
                </a:extLst>
              </a:tr>
              <a:tr h="370938">
                <a:tc>
                  <a:txBody>
                    <a:bodyPr/>
                    <a:lstStyle/>
                    <a:p>
                      <a:pPr algn="ctr"/>
                      <a:r>
                        <a:rPr lang="en-IN" dirty="0"/>
                        <a:t>150</a:t>
                      </a:r>
                    </a:p>
                  </a:txBody>
                  <a:tcPr/>
                </a:tc>
                <a:tc>
                  <a:txBody>
                    <a:bodyPr/>
                    <a:lstStyle/>
                    <a:p>
                      <a:pPr algn="ctr"/>
                      <a:r>
                        <a:rPr lang="en-IN" dirty="0"/>
                        <a:t>4</a:t>
                      </a:r>
                    </a:p>
                  </a:txBody>
                  <a:tcPr/>
                </a:tc>
                <a:tc>
                  <a:txBody>
                    <a:bodyPr/>
                    <a:lstStyle/>
                    <a:p>
                      <a:pPr algn="ctr"/>
                      <a:r>
                        <a:rPr lang="en-IN" dirty="0"/>
                        <a:t>60</a:t>
                      </a:r>
                    </a:p>
                  </a:txBody>
                  <a:tcPr/>
                </a:tc>
                <a:tc>
                  <a:txBody>
                    <a:bodyPr/>
                    <a:lstStyle/>
                    <a:p>
                      <a:pPr algn="ctr"/>
                      <a:r>
                        <a:rPr lang="en-IN" dirty="0"/>
                        <a:t>0</a:t>
                      </a:r>
                    </a:p>
                  </a:txBody>
                  <a:tcPr/>
                </a:tc>
                <a:extLst>
                  <a:ext uri="{0D108BD9-81ED-4DB2-BD59-A6C34878D82A}">
                    <a16:rowId xmlns:a16="http://schemas.microsoft.com/office/drawing/2014/main" val="417986467"/>
                  </a:ext>
                </a:extLst>
              </a:tr>
              <a:tr h="370938">
                <a:tc>
                  <a:txBody>
                    <a:bodyPr/>
                    <a:lstStyle/>
                    <a:p>
                      <a:pPr algn="ctr"/>
                      <a:r>
                        <a:rPr lang="en-IN" dirty="0"/>
                        <a:t>220</a:t>
                      </a:r>
                    </a:p>
                  </a:txBody>
                  <a:tcPr/>
                </a:tc>
                <a:tc>
                  <a:txBody>
                    <a:bodyPr/>
                    <a:lstStyle/>
                    <a:p>
                      <a:pPr algn="ctr"/>
                      <a:r>
                        <a:rPr lang="en-IN" dirty="0"/>
                        <a:t>4</a:t>
                      </a:r>
                    </a:p>
                  </a:txBody>
                  <a:tcPr/>
                </a:tc>
                <a:tc>
                  <a:txBody>
                    <a:bodyPr/>
                    <a:lstStyle/>
                    <a:p>
                      <a:pPr algn="ctr"/>
                      <a:r>
                        <a:rPr lang="en-IN" dirty="0"/>
                        <a:t>100</a:t>
                      </a:r>
                    </a:p>
                  </a:txBody>
                  <a:tcPr/>
                </a:tc>
                <a:tc>
                  <a:txBody>
                    <a:bodyPr/>
                    <a:lstStyle/>
                    <a:p>
                      <a:pPr algn="ctr"/>
                      <a:r>
                        <a:rPr lang="en-IN" dirty="0"/>
                        <a:t>0</a:t>
                      </a:r>
                    </a:p>
                  </a:txBody>
                  <a:tcPr/>
                </a:tc>
                <a:extLst>
                  <a:ext uri="{0D108BD9-81ED-4DB2-BD59-A6C34878D82A}">
                    <a16:rowId xmlns:a16="http://schemas.microsoft.com/office/drawing/2014/main" val="2446032790"/>
                  </a:ext>
                </a:extLst>
              </a:tr>
              <a:tr h="370938">
                <a:tc>
                  <a:txBody>
                    <a:bodyPr/>
                    <a:lstStyle/>
                    <a:p>
                      <a:pPr algn="ctr"/>
                      <a:r>
                        <a:rPr lang="en-IN" dirty="0"/>
                        <a:t>…</a:t>
                      </a:r>
                    </a:p>
                  </a:txBody>
                  <a:tcPr/>
                </a:tc>
                <a:tc>
                  <a:txBody>
                    <a:bodyPr/>
                    <a:lstStyle/>
                    <a:p>
                      <a:pPr algn="ctr"/>
                      <a:r>
                        <a:rPr lang="en-IN" dirty="0"/>
                        <a:t>…</a:t>
                      </a:r>
                    </a:p>
                  </a:txBody>
                  <a:tcPr/>
                </a:tc>
                <a:tc>
                  <a:txBody>
                    <a:bodyPr/>
                    <a:lstStyle/>
                    <a:p>
                      <a:pPr algn="ctr"/>
                      <a:r>
                        <a:rPr lang="en-IN" dirty="0"/>
                        <a:t>…</a:t>
                      </a:r>
                    </a:p>
                  </a:txBody>
                  <a:tcPr/>
                </a:tc>
                <a:tc>
                  <a:txBody>
                    <a:bodyPr/>
                    <a:lstStyle/>
                    <a:p>
                      <a:pPr algn="ctr"/>
                      <a:r>
                        <a:rPr lang="en-IN" dirty="0"/>
                        <a:t>…</a:t>
                      </a:r>
                    </a:p>
                  </a:txBody>
                  <a:tcPr/>
                </a:tc>
                <a:extLst>
                  <a:ext uri="{0D108BD9-81ED-4DB2-BD59-A6C34878D82A}">
                    <a16:rowId xmlns:a16="http://schemas.microsoft.com/office/drawing/2014/main" val="1362519699"/>
                  </a:ext>
                </a:extLst>
              </a:tr>
            </a:tbl>
          </a:graphicData>
        </a:graphic>
      </p:graphicFrame>
      <p:graphicFrame>
        <p:nvGraphicFramePr>
          <p:cNvPr id="10" name="Table 9">
            <a:extLst>
              <a:ext uri="{FF2B5EF4-FFF2-40B4-BE49-F238E27FC236}">
                <a16:creationId xmlns:a16="http://schemas.microsoft.com/office/drawing/2014/main" id="{12187F33-6AA8-4F62-9A9C-618DD9598B1C}"/>
              </a:ext>
            </a:extLst>
          </p:cNvPr>
          <p:cNvGraphicFramePr>
            <a:graphicFrameLocks noGrp="1"/>
          </p:cNvGraphicFramePr>
          <p:nvPr>
            <p:extLst>
              <p:ext uri="{D42A27DB-BD31-4B8C-83A1-F6EECF244321}">
                <p14:modId xmlns:p14="http://schemas.microsoft.com/office/powerpoint/2010/main" val="1352037938"/>
              </p:ext>
            </p:extLst>
          </p:nvPr>
        </p:nvGraphicFramePr>
        <p:xfrm>
          <a:off x="4335865" y="4349249"/>
          <a:ext cx="6634928" cy="1381760"/>
        </p:xfrm>
        <a:graphic>
          <a:graphicData uri="http://schemas.openxmlformats.org/drawingml/2006/table">
            <a:tbl>
              <a:tblPr firstRow="1" bandRow="1">
                <a:tableStyleId>{5C22544A-7EE6-4342-B048-85BDC9FD1C3A}</a:tableStyleId>
              </a:tblPr>
              <a:tblGrid>
                <a:gridCol w="1658732">
                  <a:extLst>
                    <a:ext uri="{9D8B030D-6E8A-4147-A177-3AD203B41FA5}">
                      <a16:colId xmlns:a16="http://schemas.microsoft.com/office/drawing/2014/main" val="1306272156"/>
                    </a:ext>
                  </a:extLst>
                </a:gridCol>
                <a:gridCol w="1658732">
                  <a:extLst>
                    <a:ext uri="{9D8B030D-6E8A-4147-A177-3AD203B41FA5}">
                      <a16:colId xmlns:a16="http://schemas.microsoft.com/office/drawing/2014/main" val="1388930746"/>
                    </a:ext>
                  </a:extLst>
                </a:gridCol>
                <a:gridCol w="1849486">
                  <a:extLst>
                    <a:ext uri="{9D8B030D-6E8A-4147-A177-3AD203B41FA5}">
                      <a16:colId xmlns:a16="http://schemas.microsoft.com/office/drawing/2014/main" val="2804240013"/>
                    </a:ext>
                  </a:extLst>
                </a:gridCol>
                <a:gridCol w="1467978">
                  <a:extLst>
                    <a:ext uri="{9D8B030D-6E8A-4147-A177-3AD203B41FA5}">
                      <a16:colId xmlns:a16="http://schemas.microsoft.com/office/drawing/2014/main" val="1805845221"/>
                    </a:ext>
                  </a:extLst>
                </a:gridCol>
              </a:tblGrid>
              <a:tr h="370840">
                <a:tc>
                  <a:txBody>
                    <a:bodyPr/>
                    <a:lstStyle/>
                    <a:p>
                      <a:pPr algn="ctr"/>
                      <a:r>
                        <a:rPr lang="en-IN" dirty="0"/>
                        <a:t>Annual Income</a:t>
                      </a:r>
                    </a:p>
                  </a:txBody>
                  <a:tcPr/>
                </a:tc>
                <a:tc>
                  <a:txBody>
                    <a:bodyPr/>
                    <a:lstStyle/>
                    <a:p>
                      <a:pPr algn="ctr"/>
                      <a:r>
                        <a:rPr lang="en-IN" dirty="0"/>
                        <a:t>Satisfaction score</a:t>
                      </a:r>
                    </a:p>
                  </a:txBody>
                  <a:tcPr/>
                </a:tc>
                <a:tc>
                  <a:txBody>
                    <a:bodyPr/>
                    <a:lstStyle/>
                    <a:p>
                      <a:pPr algn="ctr"/>
                      <a:r>
                        <a:rPr lang="en-IN" dirty="0" err="1"/>
                        <a:t>Avg</a:t>
                      </a:r>
                      <a:r>
                        <a:rPr lang="en-IN" dirty="0"/>
                        <a:t> Transaction (Per Month)</a:t>
                      </a:r>
                    </a:p>
                  </a:txBody>
                  <a:tcPr/>
                </a:tc>
                <a:tc>
                  <a:txBody>
                    <a:bodyPr/>
                    <a:lstStyle/>
                    <a:p>
                      <a:pPr algn="ctr"/>
                      <a:r>
                        <a:rPr lang="en-IN" dirty="0"/>
                        <a:t>Churned?</a:t>
                      </a:r>
                    </a:p>
                  </a:txBody>
                  <a:tcPr/>
                </a:tc>
                <a:extLst>
                  <a:ext uri="{0D108BD9-81ED-4DB2-BD59-A6C34878D82A}">
                    <a16:rowId xmlns:a16="http://schemas.microsoft.com/office/drawing/2014/main" val="4108855493"/>
                  </a:ext>
                </a:extLst>
              </a:tr>
              <a:tr h="370840">
                <a:tc>
                  <a:txBody>
                    <a:bodyPr/>
                    <a:lstStyle/>
                    <a:p>
                      <a:pPr algn="ctr"/>
                      <a:r>
                        <a:rPr lang="en-IN" dirty="0"/>
                        <a:t>200</a:t>
                      </a:r>
                    </a:p>
                  </a:txBody>
                  <a:tcPr/>
                </a:tc>
                <a:tc>
                  <a:txBody>
                    <a:bodyPr/>
                    <a:lstStyle/>
                    <a:p>
                      <a:pPr algn="ctr"/>
                      <a:r>
                        <a:rPr lang="en-IN" dirty="0"/>
                        <a:t>2</a:t>
                      </a:r>
                    </a:p>
                  </a:txBody>
                  <a:tcPr/>
                </a:tc>
                <a:tc>
                  <a:txBody>
                    <a:bodyPr/>
                    <a:lstStyle/>
                    <a:p>
                      <a:pPr algn="ctr"/>
                      <a:r>
                        <a:rPr lang="en-IN" dirty="0"/>
                        <a:t>20</a:t>
                      </a:r>
                    </a:p>
                  </a:txBody>
                  <a:tcPr/>
                </a:tc>
                <a:tc>
                  <a:txBody>
                    <a:bodyPr/>
                    <a:lstStyle/>
                    <a:p>
                      <a:pPr algn="ctr"/>
                      <a:r>
                        <a:rPr lang="en-IN" dirty="0"/>
                        <a:t>0.75</a:t>
                      </a:r>
                    </a:p>
                  </a:txBody>
                  <a:tcPr/>
                </a:tc>
                <a:extLst>
                  <a:ext uri="{0D108BD9-81ED-4DB2-BD59-A6C34878D82A}">
                    <a16:rowId xmlns:a16="http://schemas.microsoft.com/office/drawing/2014/main" val="2846496206"/>
                  </a:ext>
                </a:extLst>
              </a:tr>
              <a:tr h="370840">
                <a:tc>
                  <a:txBody>
                    <a:bodyPr/>
                    <a:lstStyle/>
                    <a:p>
                      <a:pPr algn="ctr"/>
                      <a:r>
                        <a:rPr lang="en-IN" dirty="0"/>
                        <a:t>150</a:t>
                      </a:r>
                    </a:p>
                  </a:txBody>
                  <a:tcPr/>
                </a:tc>
                <a:tc>
                  <a:txBody>
                    <a:bodyPr/>
                    <a:lstStyle/>
                    <a:p>
                      <a:pPr algn="ctr"/>
                      <a:r>
                        <a:rPr lang="en-IN" dirty="0"/>
                        <a:t>4</a:t>
                      </a:r>
                    </a:p>
                  </a:txBody>
                  <a:tcPr/>
                </a:tc>
                <a:tc>
                  <a:txBody>
                    <a:bodyPr/>
                    <a:lstStyle/>
                    <a:p>
                      <a:pPr algn="ctr"/>
                      <a:r>
                        <a:rPr lang="en-IN" dirty="0"/>
                        <a:t>80</a:t>
                      </a:r>
                    </a:p>
                  </a:txBody>
                  <a:tcPr/>
                </a:tc>
                <a:tc>
                  <a:txBody>
                    <a:bodyPr/>
                    <a:lstStyle/>
                    <a:p>
                      <a:pPr algn="ctr"/>
                      <a:r>
                        <a:rPr lang="en-IN" dirty="0"/>
                        <a:t>0.32</a:t>
                      </a:r>
                    </a:p>
                  </a:txBody>
                  <a:tcPr/>
                </a:tc>
                <a:extLst>
                  <a:ext uri="{0D108BD9-81ED-4DB2-BD59-A6C34878D82A}">
                    <a16:rowId xmlns:a16="http://schemas.microsoft.com/office/drawing/2014/main" val="417986467"/>
                  </a:ext>
                </a:extLst>
              </a:tr>
            </a:tbl>
          </a:graphicData>
        </a:graphic>
      </p:graphicFrame>
    </p:spTree>
    <p:extLst>
      <p:ext uri="{BB962C8B-B14F-4D97-AF65-F5344CB8AC3E}">
        <p14:creationId xmlns:p14="http://schemas.microsoft.com/office/powerpoint/2010/main" val="386468631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cxnSp>
        <p:nvCxnSpPr>
          <p:cNvPr id="8" name="Straight Connector 7"/>
          <p:cNvCxnSpPr/>
          <p:nvPr/>
        </p:nvCxnSpPr>
        <p:spPr>
          <a:xfrm>
            <a:off x="3401527" y="2092463"/>
            <a:ext cx="0" cy="3247081"/>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8707" y="3433042"/>
            <a:ext cx="3113903" cy="584775"/>
          </a:xfrm>
          <a:prstGeom prst="rect">
            <a:avLst/>
          </a:prstGeom>
          <a:noFill/>
        </p:spPr>
        <p:txBody>
          <a:bodyPr wrap="square" rtlCol="0">
            <a:spAutoFit/>
          </a:bodyPr>
          <a:lstStyle/>
          <a:p>
            <a:pPr algn="ctr"/>
            <a:r>
              <a:rPr lang="en-US" sz="3200" b="1" dirty="0">
                <a:solidFill>
                  <a:schemeClr val="accent1"/>
                </a:solidFill>
              </a:rPr>
              <a:t>Confusion Matrix</a:t>
            </a:r>
          </a:p>
        </p:txBody>
      </p:sp>
      <p:sp>
        <p:nvSpPr>
          <p:cNvPr id="35" name="Rectangle 34">
            <a:extLst>
              <a:ext uri="{FF2B5EF4-FFF2-40B4-BE49-F238E27FC236}">
                <a16:creationId xmlns:a16="http://schemas.microsoft.com/office/drawing/2014/main" id="{48A5E9A3-3DEE-4AF5-8DAE-A60DD54D6DB3}"/>
              </a:ext>
            </a:extLst>
          </p:cNvPr>
          <p:cNvSpPr/>
          <p:nvPr/>
        </p:nvSpPr>
        <p:spPr>
          <a:xfrm>
            <a:off x="3708400" y="2968455"/>
            <a:ext cx="6073775" cy="1200329"/>
          </a:xfrm>
          <a:prstGeom prst="rect">
            <a:avLst/>
          </a:prstGeom>
          <a:ln>
            <a:solidFill>
              <a:schemeClr val="tx1"/>
            </a:solidFill>
          </a:ln>
        </p:spPr>
        <p:txBody>
          <a:bodyPr wrap="square">
            <a:spAutoFit/>
          </a:bodyPr>
          <a:lstStyle/>
          <a:p>
            <a:r>
              <a:rPr lang="en-US" dirty="0"/>
              <a:t>True Positive - the model correctly predicted the churn. </a:t>
            </a:r>
          </a:p>
          <a:p>
            <a:r>
              <a:rPr lang="en-US" dirty="0"/>
              <a:t>False Positive - the model incorrectly predicted the churn. </a:t>
            </a:r>
          </a:p>
          <a:p>
            <a:r>
              <a:rPr lang="en-US" dirty="0"/>
              <a:t>True Negative - the model correctly predicted the retention. </a:t>
            </a:r>
          </a:p>
          <a:p>
            <a:r>
              <a:rPr lang="en-US" dirty="0"/>
              <a:t>False Negative - the model incorrectly predicted the retention.</a:t>
            </a:r>
            <a:endParaRPr lang="en-IN" dirty="0">
              <a:latin typeface="+mj-lt"/>
            </a:endParaRPr>
          </a:p>
        </p:txBody>
      </p:sp>
      <p:graphicFrame>
        <p:nvGraphicFramePr>
          <p:cNvPr id="4" name="Table 3">
            <a:extLst>
              <a:ext uri="{FF2B5EF4-FFF2-40B4-BE49-F238E27FC236}">
                <a16:creationId xmlns:a16="http://schemas.microsoft.com/office/drawing/2014/main" id="{2DC5F035-5674-4A0D-87E7-3EC215BB72A8}"/>
              </a:ext>
            </a:extLst>
          </p:cNvPr>
          <p:cNvGraphicFramePr>
            <a:graphicFrameLocks noGrp="1"/>
          </p:cNvGraphicFramePr>
          <p:nvPr/>
        </p:nvGraphicFramePr>
        <p:xfrm>
          <a:off x="3708400" y="1620894"/>
          <a:ext cx="5680076" cy="1112520"/>
        </p:xfrm>
        <a:graphic>
          <a:graphicData uri="http://schemas.openxmlformats.org/drawingml/2006/table">
            <a:tbl>
              <a:tblPr>
                <a:tableStyleId>{5C22544A-7EE6-4342-B048-85BDC9FD1C3A}</a:tableStyleId>
              </a:tblPr>
              <a:tblGrid>
                <a:gridCol w="1725740">
                  <a:extLst>
                    <a:ext uri="{9D8B030D-6E8A-4147-A177-3AD203B41FA5}">
                      <a16:colId xmlns:a16="http://schemas.microsoft.com/office/drawing/2014/main" val="2526302005"/>
                    </a:ext>
                  </a:extLst>
                </a:gridCol>
                <a:gridCol w="1930718">
                  <a:extLst>
                    <a:ext uri="{9D8B030D-6E8A-4147-A177-3AD203B41FA5}">
                      <a16:colId xmlns:a16="http://schemas.microsoft.com/office/drawing/2014/main" val="190161901"/>
                    </a:ext>
                  </a:extLst>
                </a:gridCol>
                <a:gridCol w="2023618">
                  <a:extLst>
                    <a:ext uri="{9D8B030D-6E8A-4147-A177-3AD203B41FA5}">
                      <a16:colId xmlns:a16="http://schemas.microsoft.com/office/drawing/2014/main" val="689991232"/>
                    </a:ext>
                  </a:extLst>
                </a:gridCol>
              </a:tblGrid>
              <a:tr h="370840">
                <a:tc>
                  <a:txBody>
                    <a:bodyPr/>
                    <a:lstStyle/>
                    <a:p>
                      <a:endParaRPr lang="en-IN" dirty="0"/>
                    </a:p>
                  </a:txBody>
                  <a:tcPr/>
                </a:tc>
                <a:tc>
                  <a:txBody>
                    <a:bodyPr/>
                    <a:lstStyle/>
                    <a:p>
                      <a:r>
                        <a:rPr lang="en-IN" sz="1800" b="1" i="0" u="none" strike="noStrike" kern="1200" dirty="0">
                          <a:solidFill>
                            <a:schemeClr val="dk1"/>
                          </a:solidFill>
                          <a:effectLst/>
                          <a:latin typeface="+mn-lt"/>
                          <a:ea typeface="+mn-ea"/>
                          <a:cs typeface="+mn-cs"/>
                        </a:rPr>
                        <a:t>Predicted Positive</a:t>
                      </a:r>
                      <a:endParaRPr lang="en-IN" dirty="0"/>
                    </a:p>
                  </a:txBody>
                  <a:tcPr/>
                </a:tc>
                <a:tc>
                  <a:txBody>
                    <a:bodyPr/>
                    <a:lstStyle/>
                    <a:p>
                      <a:r>
                        <a:rPr lang="en-IN" sz="1800" b="1" i="0" u="none" strike="noStrike" kern="1200" dirty="0">
                          <a:solidFill>
                            <a:schemeClr val="dk1"/>
                          </a:solidFill>
                          <a:effectLst/>
                          <a:latin typeface="+mn-lt"/>
                          <a:ea typeface="+mn-ea"/>
                          <a:cs typeface="+mn-cs"/>
                        </a:rPr>
                        <a:t>Predicted Negative</a:t>
                      </a:r>
                      <a:endParaRPr lang="en-IN" dirty="0"/>
                    </a:p>
                  </a:txBody>
                  <a:tcPr/>
                </a:tc>
                <a:extLst>
                  <a:ext uri="{0D108BD9-81ED-4DB2-BD59-A6C34878D82A}">
                    <a16:rowId xmlns:a16="http://schemas.microsoft.com/office/drawing/2014/main" val="30827230"/>
                  </a:ext>
                </a:extLst>
              </a:tr>
              <a:tr h="370840">
                <a:tc>
                  <a:txBody>
                    <a:bodyPr/>
                    <a:lstStyle/>
                    <a:p>
                      <a:r>
                        <a:rPr lang="en-IN" sz="1800" b="1" i="0" u="none" strike="noStrike" kern="1200" dirty="0">
                          <a:solidFill>
                            <a:schemeClr val="dk1"/>
                          </a:solidFill>
                          <a:effectLst/>
                          <a:latin typeface="+mn-lt"/>
                          <a:ea typeface="+mn-ea"/>
                          <a:cs typeface="+mn-cs"/>
                        </a:rPr>
                        <a:t>Actual Positive</a:t>
                      </a:r>
                      <a:endParaRPr lang="en-IN" b="1" dirty="0"/>
                    </a:p>
                  </a:txBody>
                  <a:tcPr/>
                </a:tc>
                <a:tc>
                  <a:txBody>
                    <a:bodyPr/>
                    <a:lstStyle/>
                    <a:p>
                      <a:r>
                        <a:rPr lang="en-IN" sz="1800" b="0" i="0" u="none" strike="noStrike" kern="1200" dirty="0">
                          <a:solidFill>
                            <a:schemeClr val="dk1"/>
                          </a:solidFill>
                          <a:effectLst/>
                          <a:latin typeface="+mn-lt"/>
                          <a:ea typeface="+mn-ea"/>
                          <a:cs typeface="+mn-cs"/>
                        </a:rPr>
                        <a:t>True Positive</a:t>
                      </a:r>
                      <a:endParaRPr lang="en-IN" dirty="0"/>
                    </a:p>
                  </a:txBody>
                  <a:tcPr/>
                </a:tc>
                <a:tc>
                  <a:txBody>
                    <a:bodyPr/>
                    <a:lstStyle/>
                    <a:p>
                      <a:r>
                        <a:rPr lang="en-IN" sz="1800" b="0" i="0" u="none" strike="noStrike" kern="1200" dirty="0">
                          <a:solidFill>
                            <a:schemeClr val="dk1"/>
                          </a:solidFill>
                          <a:effectLst/>
                          <a:latin typeface="+mn-lt"/>
                          <a:ea typeface="+mn-ea"/>
                          <a:cs typeface="+mn-cs"/>
                        </a:rPr>
                        <a:t>False Negative</a:t>
                      </a:r>
                      <a:endParaRPr lang="en-IN" dirty="0"/>
                    </a:p>
                  </a:txBody>
                  <a:tcPr/>
                </a:tc>
                <a:extLst>
                  <a:ext uri="{0D108BD9-81ED-4DB2-BD59-A6C34878D82A}">
                    <a16:rowId xmlns:a16="http://schemas.microsoft.com/office/drawing/2014/main" val="3479064350"/>
                  </a:ext>
                </a:extLst>
              </a:tr>
              <a:tr h="370840">
                <a:tc>
                  <a:txBody>
                    <a:bodyPr/>
                    <a:lstStyle/>
                    <a:p>
                      <a:r>
                        <a:rPr lang="en-IN" sz="1800" b="1" i="0" u="none" strike="noStrike" kern="1200" dirty="0">
                          <a:solidFill>
                            <a:schemeClr val="dk1"/>
                          </a:solidFill>
                          <a:effectLst/>
                          <a:latin typeface="+mn-lt"/>
                          <a:ea typeface="+mn-ea"/>
                          <a:cs typeface="+mn-cs"/>
                        </a:rPr>
                        <a:t>Actual Negative</a:t>
                      </a:r>
                      <a:endParaRPr lang="en-IN" b="1" dirty="0"/>
                    </a:p>
                  </a:txBody>
                  <a:tcPr/>
                </a:tc>
                <a:tc>
                  <a:txBody>
                    <a:bodyPr/>
                    <a:lstStyle/>
                    <a:p>
                      <a:r>
                        <a:rPr lang="en-IN" sz="1800" b="0" i="0" u="none" strike="noStrike" kern="1200" dirty="0">
                          <a:solidFill>
                            <a:schemeClr val="dk1"/>
                          </a:solidFill>
                          <a:effectLst/>
                          <a:latin typeface="+mn-lt"/>
                          <a:ea typeface="+mn-ea"/>
                          <a:cs typeface="+mn-cs"/>
                        </a:rPr>
                        <a:t>False Positive</a:t>
                      </a:r>
                      <a:endParaRPr lang="en-IN" dirty="0"/>
                    </a:p>
                  </a:txBody>
                  <a:tcPr/>
                </a:tc>
                <a:tc>
                  <a:txBody>
                    <a:bodyPr/>
                    <a:lstStyle/>
                    <a:p>
                      <a:r>
                        <a:rPr lang="en-IN" sz="1800" b="0" i="0" u="none" strike="noStrike" kern="1200" dirty="0">
                          <a:solidFill>
                            <a:schemeClr val="dk1"/>
                          </a:solidFill>
                          <a:effectLst/>
                          <a:latin typeface="+mn-lt"/>
                          <a:ea typeface="+mn-ea"/>
                          <a:cs typeface="+mn-cs"/>
                        </a:rPr>
                        <a:t>True Negative</a:t>
                      </a:r>
                      <a:endParaRPr lang="en-IN" dirty="0"/>
                    </a:p>
                  </a:txBody>
                  <a:tcPr/>
                </a:tc>
                <a:extLst>
                  <a:ext uri="{0D108BD9-81ED-4DB2-BD59-A6C34878D82A}">
                    <a16:rowId xmlns:a16="http://schemas.microsoft.com/office/drawing/2014/main" val="528065457"/>
                  </a:ext>
                </a:extLst>
              </a:tr>
            </a:tbl>
          </a:graphicData>
        </a:graphic>
      </p:graphicFrame>
      <p:sp>
        <p:nvSpPr>
          <p:cNvPr id="9" name="Rectangle 8">
            <a:extLst>
              <a:ext uri="{FF2B5EF4-FFF2-40B4-BE49-F238E27FC236}">
                <a16:creationId xmlns:a16="http://schemas.microsoft.com/office/drawing/2014/main" id="{3A1A4061-1D0D-41D1-848B-2775A6E9178F}"/>
              </a:ext>
            </a:extLst>
          </p:cNvPr>
          <p:cNvSpPr/>
          <p:nvPr/>
        </p:nvSpPr>
        <p:spPr>
          <a:xfrm>
            <a:off x="3708400" y="4403825"/>
            <a:ext cx="6073773" cy="369332"/>
          </a:xfrm>
          <a:prstGeom prst="rect">
            <a:avLst/>
          </a:prstGeom>
          <a:ln>
            <a:solidFill>
              <a:schemeClr val="tx1"/>
            </a:solidFill>
          </a:ln>
        </p:spPr>
        <p:txBody>
          <a:bodyPr wrap="square">
            <a:spAutoFit/>
          </a:bodyPr>
          <a:lstStyle/>
          <a:p>
            <a:r>
              <a:rPr lang="en-US" dirty="0"/>
              <a:t>Accuracy = (True positive + True Negative)/ Total cases</a:t>
            </a:r>
            <a:endParaRPr lang="en-IN" dirty="0">
              <a:latin typeface="+mj-lt"/>
            </a:endParaRPr>
          </a:p>
        </p:txBody>
      </p:sp>
      <p:graphicFrame>
        <p:nvGraphicFramePr>
          <p:cNvPr id="12" name="Table 11">
            <a:extLst>
              <a:ext uri="{FF2B5EF4-FFF2-40B4-BE49-F238E27FC236}">
                <a16:creationId xmlns:a16="http://schemas.microsoft.com/office/drawing/2014/main" id="{27612574-28E1-464A-9C75-440F6DA33362}"/>
              </a:ext>
            </a:extLst>
          </p:cNvPr>
          <p:cNvGraphicFramePr>
            <a:graphicFrameLocks noGrp="1"/>
          </p:cNvGraphicFramePr>
          <p:nvPr/>
        </p:nvGraphicFramePr>
        <p:xfrm>
          <a:off x="3708400" y="5008198"/>
          <a:ext cx="5680076" cy="1112520"/>
        </p:xfrm>
        <a:graphic>
          <a:graphicData uri="http://schemas.openxmlformats.org/drawingml/2006/table">
            <a:tbl>
              <a:tblPr>
                <a:tableStyleId>{5C22544A-7EE6-4342-B048-85BDC9FD1C3A}</a:tableStyleId>
              </a:tblPr>
              <a:tblGrid>
                <a:gridCol w="1725740">
                  <a:extLst>
                    <a:ext uri="{9D8B030D-6E8A-4147-A177-3AD203B41FA5}">
                      <a16:colId xmlns:a16="http://schemas.microsoft.com/office/drawing/2014/main" val="2526302005"/>
                    </a:ext>
                  </a:extLst>
                </a:gridCol>
                <a:gridCol w="1930718">
                  <a:extLst>
                    <a:ext uri="{9D8B030D-6E8A-4147-A177-3AD203B41FA5}">
                      <a16:colId xmlns:a16="http://schemas.microsoft.com/office/drawing/2014/main" val="190161901"/>
                    </a:ext>
                  </a:extLst>
                </a:gridCol>
                <a:gridCol w="2023618">
                  <a:extLst>
                    <a:ext uri="{9D8B030D-6E8A-4147-A177-3AD203B41FA5}">
                      <a16:colId xmlns:a16="http://schemas.microsoft.com/office/drawing/2014/main" val="689991232"/>
                    </a:ext>
                  </a:extLst>
                </a:gridCol>
              </a:tblGrid>
              <a:tr h="370840">
                <a:tc>
                  <a:txBody>
                    <a:bodyPr/>
                    <a:lstStyle/>
                    <a:p>
                      <a:endParaRPr lang="en-IN" dirty="0"/>
                    </a:p>
                  </a:txBody>
                  <a:tcPr/>
                </a:tc>
                <a:tc>
                  <a:txBody>
                    <a:bodyPr/>
                    <a:lstStyle/>
                    <a:p>
                      <a:r>
                        <a:rPr lang="en-IN" sz="1800" b="1" i="0" u="none" strike="noStrike" kern="1200" dirty="0">
                          <a:solidFill>
                            <a:schemeClr val="dk1"/>
                          </a:solidFill>
                          <a:effectLst/>
                          <a:latin typeface="+mn-lt"/>
                          <a:ea typeface="+mn-ea"/>
                          <a:cs typeface="+mn-cs"/>
                        </a:rPr>
                        <a:t>Predicted Positive</a:t>
                      </a:r>
                      <a:endParaRPr lang="en-IN" dirty="0"/>
                    </a:p>
                  </a:txBody>
                  <a:tcPr/>
                </a:tc>
                <a:tc>
                  <a:txBody>
                    <a:bodyPr/>
                    <a:lstStyle/>
                    <a:p>
                      <a:r>
                        <a:rPr lang="en-IN" sz="1800" b="1" i="0" u="none" strike="noStrike" kern="1200" dirty="0">
                          <a:solidFill>
                            <a:schemeClr val="dk1"/>
                          </a:solidFill>
                          <a:effectLst/>
                          <a:latin typeface="+mn-lt"/>
                          <a:ea typeface="+mn-ea"/>
                          <a:cs typeface="+mn-cs"/>
                        </a:rPr>
                        <a:t>Predicted Negative</a:t>
                      </a:r>
                      <a:endParaRPr lang="en-IN" dirty="0"/>
                    </a:p>
                  </a:txBody>
                  <a:tcPr/>
                </a:tc>
                <a:extLst>
                  <a:ext uri="{0D108BD9-81ED-4DB2-BD59-A6C34878D82A}">
                    <a16:rowId xmlns:a16="http://schemas.microsoft.com/office/drawing/2014/main" val="30827230"/>
                  </a:ext>
                </a:extLst>
              </a:tr>
              <a:tr h="370840">
                <a:tc>
                  <a:txBody>
                    <a:bodyPr/>
                    <a:lstStyle/>
                    <a:p>
                      <a:r>
                        <a:rPr lang="en-IN" sz="1800" b="1" i="0" u="none" strike="noStrike" kern="1200" dirty="0">
                          <a:solidFill>
                            <a:schemeClr val="dk1"/>
                          </a:solidFill>
                          <a:effectLst/>
                          <a:latin typeface="+mn-lt"/>
                          <a:ea typeface="+mn-ea"/>
                          <a:cs typeface="+mn-cs"/>
                        </a:rPr>
                        <a:t>Actual Positive</a:t>
                      </a:r>
                      <a:endParaRPr lang="en-IN" b="1" dirty="0"/>
                    </a:p>
                  </a:txBody>
                  <a:tcPr/>
                </a:tc>
                <a:tc>
                  <a:txBody>
                    <a:bodyPr/>
                    <a:lstStyle/>
                    <a:p>
                      <a:r>
                        <a:rPr lang="en-IN" sz="1800" b="0" i="0" u="none" strike="noStrike" kern="1200" dirty="0">
                          <a:solidFill>
                            <a:schemeClr val="dk1"/>
                          </a:solidFill>
                          <a:effectLst/>
                          <a:latin typeface="+mn-lt"/>
                          <a:ea typeface="+mn-ea"/>
                          <a:cs typeface="+mn-cs"/>
                        </a:rPr>
                        <a:t>63</a:t>
                      </a:r>
                      <a:endParaRPr lang="en-IN" dirty="0"/>
                    </a:p>
                  </a:txBody>
                  <a:tcPr/>
                </a:tc>
                <a:tc>
                  <a:txBody>
                    <a:bodyPr/>
                    <a:lstStyle/>
                    <a:p>
                      <a:r>
                        <a:rPr lang="en-IN" dirty="0"/>
                        <a:t>27</a:t>
                      </a:r>
                    </a:p>
                  </a:txBody>
                  <a:tcPr/>
                </a:tc>
                <a:extLst>
                  <a:ext uri="{0D108BD9-81ED-4DB2-BD59-A6C34878D82A}">
                    <a16:rowId xmlns:a16="http://schemas.microsoft.com/office/drawing/2014/main" val="3479064350"/>
                  </a:ext>
                </a:extLst>
              </a:tr>
              <a:tr h="370840">
                <a:tc>
                  <a:txBody>
                    <a:bodyPr/>
                    <a:lstStyle/>
                    <a:p>
                      <a:r>
                        <a:rPr lang="en-IN" sz="1800" b="1" i="0" u="none" strike="noStrike" kern="1200" dirty="0">
                          <a:solidFill>
                            <a:schemeClr val="dk1"/>
                          </a:solidFill>
                          <a:effectLst/>
                          <a:latin typeface="+mn-lt"/>
                          <a:ea typeface="+mn-ea"/>
                          <a:cs typeface="+mn-cs"/>
                        </a:rPr>
                        <a:t>Actual Negative</a:t>
                      </a:r>
                      <a:endParaRPr lang="en-IN" b="1" dirty="0"/>
                    </a:p>
                  </a:txBody>
                  <a:tcPr/>
                </a:tc>
                <a:tc>
                  <a:txBody>
                    <a:bodyPr/>
                    <a:lstStyle/>
                    <a:p>
                      <a:r>
                        <a:rPr lang="en-IN" sz="1800" b="0" i="0" u="none" strike="noStrike" kern="1200" dirty="0">
                          <a:solidFill>
                            <a:schemeClr val="dk1"/>
                          </a:solidFill>
                          <a:effectLst/>
                          <a:latin typeface="+mn-lt"/>
                          <a:ea typeface="+mn-ea"/>
                          <a:cs typeface="+mn-cs"/>
                        </a:rPr>
                        <a:t>38</a:t>
                      </a:r>
                      <a:endParaRPr lang="en-IN" dirty="0"/>
                    </a:p>
                  </a:txBody>
                  <a:tcPr/>
                </a:tc>
                <a:tc>
                  <a:txBody>
                    <a:bodyPr/>
                    <a:lstStyle/>
                    <a:p>
                      <a:r>
                        <a:rPr lang="en-IN" dirty="0"/>
                        <a:t>122</a:t>
                      </a:r>
                    </a:p>
                  </a:txBody>
                  <a:tcPr/>
                </a:tc>
                <a:extLst>
                  <a:ext uri="{0D108BD9-81ED-4DB2-BD59-A6C34878D82A}">
                    <a16:rowId xmlns:a16="http://schemas.microsoft.com/office/drawing/2014/main" val="528065457"/>
                  </a:ext>
                </a:extLst>
              </a:tr>
            </a:tbl>
          </a:graphicData>
        </a:graphic>
      </p:graphicFrame>
      <p:sp>
        <p:nvSpPr>
          <p:cNvPr id="13" name="Rectangle 12">
            <a:extLst>
              <a:ext uri="{FF2B5EF4-FFF2-40B4-BE49-F238E27FC236}">
                <a16:creationId xmlns:a16="http://schemas.microsoft.com/office/drawing/2014/main" id="{369BD2FC-6FE8-4593-93D6-4FD9EDB07C72}"/>
              </a:ext>
            </a:extLst>
          </p:cNvPr>
          <p:cNvSpPr/>
          <p:nvPr/>
        </p:nvSpPr>
        <p:spPr>
          <a:xfrm>
            <a:off x="9695348" y="5013742"/>
            <a:ext cx="1639402" cy="923330"/>
          </a:xfrm>
          <a:prstGeom prst="rect">
            <a:avLst/>
          </a:prstGeom>
          <a:ln>
            <a:solidFill>
              <a:schemeClr val="tx1"/>
            </a:solidFill>
          </a:ln>
        </p:spPr>
        <p:txBody>
          <a:bodyPr wrap="square">
            <a:spAutoFit/>
          </a:bodyPr>
          <a:lstStyle/>
          <a:p>
            <a:r>
              <a:rPr lang="en-US" dirty="0"/>
              <a:t>Accuracy = (63+122)/250 = 185/250 = 74 %</a:t>
            </a:r>
            <a:endParaRPr lang="en-IN" dirty="0">
              <a:latin typeface="+mj-lt"/>
            </a:endParaRPr>
          </a:p>
        </p:txBody>
      </p:sp>
    </p:spTree>
    <p:extLst>
      <p:ext uri="{BB962C8B-B14F-4D97-AF65-F5344CB8AC3E}">
        <p14:creationId xmlns:p14="http://schemas.microsoft.com/office/powerpoint/2010/main" val="152982086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9"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 Tim</a:t>
            </a:r>
          </a:p>
        </p:txBody>
      </p:sp>
      <p:sp>
        <p:nvSpPr>
          <p:cNvPr id="11" name="TextBox 10"/>
          <p:cNvSpPr txBox="1"/>
          <p:nvPr/>
        </p:nvSpPr>
        <p:spPr>
          <a:xfrm>
            <a:off x="2954341" y="1117312"/>
            <a:ext cx="9237660" cy="496276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Tim</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2400" b="1" dirty="0">
                <a:solidFill>
                  <a:prstClr val="black"/>
                </a:solidFill>
                <a:latin typeface="Calibri" panose="020F0502020204030204"/>
              </a:rPr>
              <a:t>Customer</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Analytics Manager at STA superstore</a:t>
            </a:r>
            <a:endParaRPr lang="en-US" sz="2400" b="1" dirty="0">
              <a:solidFill>
                <a:prstClr val="black"/>
              </a:solidFill>
              <a:latin typeface="Calibri" panose="020F0502020204030204"/>
            </a:endParaRPr>
          </a:p>
          <a:p>
            <a:pPr lvl="0">
              <a:lnSpc>
                <a:spcPct val="130000"/>
              </a:lnSpc>
              <a:defRPr/>
            </a:pPr>
            <a:r>
              <a:rPr lang="en-US" sz="2200" dirty="0"/>
              <a:t>STA Superstore is a supermarket that serves a large customer base and has extensive data on its customers' shopping habits. </a:t>
            </a:r>
          </a:p>
          <a:p>
            <a:pPr lvl="0">
              <a:lnSpc>
                <a:spcPct val="130000"/>
              </a:lnSpc>
              <a:defRPr/>
            </a:pPr>
            <a:endParaRPr lang="en-US" sz="2200" dirty="0"/>
          </a:p>
          <a:p>
            <a:pPr lvl="0">
              <a:lnSpc>
                <a:spcPct val="130000"/>
              </a:lnSpc>
              <a:defRPr/>
            </a:pPr>
            <a:r>
              <a:rPr lang="en-US" sz="2200" dirty="0"/>
              <a:t>Tim has been tasked with reducing customer churn. He believes that by using a logistic regression model, he can predict which customers are likely to stop shopping at the store. After identifying these at-risk customers, Tim thinks TA Superstore can improve retention by addressing their preferences and offering targeted discounts.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pic>
        <p:nvPicPr>
          <p:cNvPr id="4" name="Picture 3" descr="Businessman thinking">
            <a:extLst>
              <a:ext uri="{FF2B5EF4-FFF2-40B4-BE49-F238E27FC236}">
                <a16:creationId xmlns:a16="http://schemas.microsoft.com/office/drawing/2014/main" id="{262C0EAD-8FA9-BDC2-EE4B-A0205B22C5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9759" y="1342598"/>
            <a:ext cx="1664671" cy="4970497"/>
          </a:xfrm>
          <a:prstGeom prst="rect">
            <a:avLst/>
          </a:prstGeom>
        </p:spPr>
      </p:pic>
    </p:spTree>
    <p:extLst>
      <p:ext uri="{BB962C8B-B14F-4D97-AF65-F5344CB8AC3E}">
        <p14:creationId xmlns:p14="http://schemas.microsoft.com/office/powerpoint/2010/main" val="3392597633"/>
      </p:ext>
    </p:extLst>
  </p:cSld>
  <p:clrMapOvr>
    <a:masterClrMapping/>
  </p:clrMapOvr>
  <p:transition spd="med">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Clustering</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3" name="TextBox 2">
            <a:extLst>
              <a:ext uri="{FF2B5EF4-FFF2-40B4-BE49-F238E27FC236}">
                <a16:creationId xmlns:a16="http://schemas.microsoft.com/office/drawing/2014/main" id="{B2965203-8CEF-ED7D-7D05-59C0401CB241}"/>
              </a:ext>
            </a:extLst>
          </p:cNvPr>
          <p:cNvSpPr txBox="1"/>
          <p:nvPr/>
        </p:nvSpPr>
        <p:spPr>
          <a:xfrm>
            <a:off x="5375873" y="1562829"/>
            <a:ext cx="6465964" cy="4353499"/>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b="1" dirty="0"/>
              <a:t>Definition</a:t>
            </a:r>
            <a:r>
              <a:rPr lang="en-US" sz="2000" dirty="0"/>
              <a:t>: Clustering is a technique used in data analytics to group objects in such a way that objects in the same group (or cluster) are more similar to each other than to those in other groups.</a:t>
            </a:r>
            <a:endParaRPr lang="en-US" sz="1000" dirty="0">
              <a:solidFill>
                <a:prstClr val="black"/>
              </a:solidFill>
              <a:latin typeface="Calibri" panose="020F0502020204030204"/>
            </a:endParaRP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b="1" dirty="0"/>
              <a:t>Unsupervised Learning</a:t>
            </a:r>
            <a:r>
              <a:rPr lang="en-US" sz="2000" dirty="0"/>
              <a:t>: Unlike forecasting, regression, and classification, clustering is an unsupervised learning method, meaning it does not rely on predefined labels or outcomes. Instead, it discovers the natural groupings within the data.</a:t>
            </a:r>
            <a:endParaRPr lang="en-US" sz="2000" dirty="0">
              <a:solidFill>
                <a:prstClr val="black"/>
              </a:solidFill>
              <a:latin typeface="Calibri" panose="020F0502020204030204"/>
            </a:endParaRPr>
          </a:p>
        </p:txBody>
      </p:sp>
      <p:pic>
        <p:nvPicPr>
          <p:cNvPr id="5" name="Picture 4">
            <a:extLst>
              <a:ext uri="{FF2B5EF4-FFF2-40B4-BE49-F238E27FC236}">
                <a16:creationId xmlns:a16="http://schemas.microsoft.com/office/drawing/2014/main" id="{B865B3A5-0316-C615-AE38-016AD70AE7DD}"/>
              </a:ext>
            </a:extLst>
          </p:cNvPr>
          <p:cNvPicPr>
            <a:picLocks noChangeAspect="1"/>
          </p:cNvPicPr>
          <p:nvPr/>
        </p:nvPicPr>
        <p:blipFill rotWithShape="1">
          <a:blip r:embed="rId2"/>
          <a:srcRect l="9154" r="8777"/>
          <a:stretch/>
        </p:blipFill>
        <p:spPr>
          <a:xfrm>
            <a:off x="81980" y="2099966"/>
            <a:ext cx="5293893" cy="3279227"/>
          </a:xfrm>
          <a:prstGeom prst="rect">
            <a:avLst/>
          </a:prstGeom>
        </p:spPr>
      </p:pic>
    </p:spTree>
    <p:extLst>
      <p:ext uri="{BB962C8B-B14F-4D97-AF65-F5344CB8AC3E}">
        <p14:creationId xmlns:p14="http://schemas.microsoft.com/office/powerpoint/2010/main" val="2112101403"/>
      </p:ext>
    </p:extLst>
  </p:cSld>
  <p:clrMapOvr>
    <a:masterClrMapping/>
  </p:clrMapOvr>
  <p:transition spd="med">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Clustering</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3" name="TextBox 2">
            <a:extLst>
              <a:ext uri="{FF2B5EF4-FFF2-40B4-BE49-F238E27FC236}">
                <a16:creationId xmlns:a16="http://schemas.microsoft.com/office/drawing/2014/main" id="{B2965203-8CEF-ED7D-7D05-59C0401CB241}"/>
              </a:ext>
            </a:extLst>
          </p:cNvPr>
          <p:cNvSpPr txBox="1"/>
          <p:nvPr/>
        </p:nvSpPr>
        <p:spPr>
          <a:xfrm>
            <a:off x="5707116" y="2024494"/>
            <a:ext cx="6109495" cy="3891835"/>
          </a:xfrm>
          <a:prstGeom prst="rect">
            <a:avLst/>
          </a:prstGeom>
          <a:noFill/>
        </p:spPr>
        <p:txBody>
          <a:bodyPr wrap="square" rtlCol="0">
            <a:spAutoFit/>
          </a:bodyPr>
          <a:lstStyle/>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b="1" dirty="0"/>
              <a:t>Scenario: </a:t>
            </a:r>
            <a:r>
              <a:rPr lang="en-US" sz="2000" dirty="0"/>
              <a:t>Imagine you are a store manager tasked with dividing a group of 300 customers into three distinct groups for targeted marketing and engagement strategies.</a:t>
            </a:r>
          </a:p>
          <a:p>
            <a:pPr marL="216000" marR="0" lvl="0" indent="-2160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lang="en-US" sz="2000" b="1" dirty="0"/>
              <a:t>Data Collection: </a:t>
            </a:r>
            <a:r>
              <a:rPr lang="en-US" sz="2000" dirty="0"/>
              <a:t>Each of the 300 customers has been assessed on three criteria: purchase frequency, average transaction value, and product preferences. The scores range from 1 to 10 for each criterion.</a:t>
            </a:r>
            <a:endParaRPr lang="en-US" sz="2000" dirty="0">
              <a:solidFill>
                <a:prstClr val="black"/>
              </a:solidFill>
              <a:latin typeface="Calibri" panose="020F0502020204030204"/>
            </a:endParaRPr>
          </a:p>
        </p:txBody>
      </p:sp>
      <p:pic>
        <p:nvPicPr>
          <p:cNvPr id="6" name="Picture 5">
            <a:extLst>
              <a:ext uri="{FF2B5EF4-FFF2-40B4-BE49-F238E27FC236}">
                <a16:creationId xmlns:a16="http://schemas.microsoft.com/office/drawing/2014/main" id="{C88D2E37-FF00-6A3F-9832-BED50AEC432E}"/>
              </a:ext>
            </a:extLst>
          </p:cNvPr>
          <p:cNvPicPr>
            <a:picLocks noChangeAspect="1"/>
          </p:cNvPicPr>
          <p:nvPr/>
        </p:nvPicPr>
        <p:blipFill>
          <a:blip r:embed="rId2"/>
          <a:stretch>
            <a:fillRect/>
          </a:stretch>
        </p:blipFill>
        <p:spPr>
          <a:xfrm>
            <a:off x="705770" y="1640281"/>
            <a:ext cx="4461641" cy="4461641"/>
          </a:xfrm>
          <a:prstGeom prst="rect">
            <a:avLst/>
          </a:prstGeom>
        </p:spPr>
      </p:pic>
    </p:spTree>
    <p:extLst>
      <p:ext uri="{BB962C8B-B14F-4D97-AF65-F5344CB8AC3E}">
        <p14:creationId xmlns:p14="http://schemas.microsoft.com/office/powerpoint/2010/main" val="1214191383"/>
      </p:ext>
    </p:extLst>
  </p:cSld>
  <p:clrMapOvr>
    <a:masterClrMapping/>
  </p:clrMapOvr>
  <p:transition spd="med">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7" name="Footer Placeholder 3"/>
          <p:cNvSpPr>
            <a:spLocks noGrp="1"/>
          </p:cNvSpPr>
          <p:nvPr>
            <p:ph type="ftr" sz="quarter" idx="4294967295"/>
          </p:nvPr>
        </p:nvSpPr>
        <p:spPr>
          <a:xfrm>
            <a:off x="4038600" y="6356350"/>
            <a:ext cx="4114800" cy="365125"/>
          </a:xfrm>
        </p:spPr>
        <p:txBody>
          <a:bodyPr/>
          <a:lstStyle/>
          <a:p>
            <a:r>
              <a:rPr lang="en-US" sz="1400" dirty="0">
                <a:solidFill>
                  <a:schemeClr val="bg1"/>
                </a:solidFill>
              </a:rPr>
              <a:t>Start-Tech Academy</a:t>
            </a:r>
          </a:p>
        </p:txBody>
      </p:sp>
      <p:sp>
        <p:nvSpPr>
          <p:cNvPr id="3" name="TextBox 2">
            <a:extLst>
              <a:ext uri="{FF2B5EF4-FFF2-40B4-BE49-F238E27FC236}">
                <a16:creationId xmlns:a16="http://schemas.microsoft.com/office/drawing/2014/main" id="{B2965203-8CEF-ED7D-7D05-59C0401CB241}"/>
              </a:ext>
            </a:extLst>
          </p:cNvPr>
          <p:cNvSpPr txBox="1"/>
          <p:nvPr/>
        </p:nvSpPr>
        <p:spPr>
          <a:xfrm>
            <a:off x="5127586" y="1501603"/>
            <a:ext cx="7064414" cy="4199611"/>
          </a:xfrm>
          <a:prstGeom prst="rect">
            <a:avLst/>
          </a:prstGeom>
          <a:noFill/>
        </p:spPr>
        <p:txBody>
          <a:bodyPr wrap="square" rtlCol="0">
            <a:spAutoFit/>
          </a:bodyPr>
          <a:lstStyle/>
          <a:p>
            <a:pPr marR="0" lvl="0" algn="l" defTabSz="914400" rtl="0" eaLnBrk="1" fontAlgn="auto" latinLnBrk="0" hangingPunct="1">
              <a:lnSpc>
                <a:spcPct val="150000"/>
              </a:lnSpc>
              <a:spcBef>
                <a:spcPts val="600"/>
              </a:spcBef>
              <a:spcAft>
                <a:spcPts val="600"/>
              </a:spcAft>
              <a:buClrTx/>
              <a:buSzTx/>
              <a:tabLst/>
              <a:defRPr/>
            </a:pPr>
            <a:r>
              <a:rPr lang="en-US" sz="2000" b="1" dirty="0"/>
              <a:t>Cluster Analysis:</a:t>
            </a:r>
          </a:p>
          <a:p>
            <a:pPr marL="457200" marR="0" lvl="0" indent="-457200" algn="l" defTabSz="914400" rtl="0" eaLnBrk="1" fontAlgn="auto" latinLnBrk="0" hangingPunct="1">
              <a:lnSpc>
                <a:spcPct val="150000"/>
              </a:lnSpc>
              <a:spcBef>
                <a:spcPts val="600"/>
              </a:spcBef>
              <a:spcAft>
                <a:spcPts val="600"/>
              </a:spcAft>
              <a:buClrTx/>
              <a:buSzTx/>
              <a:buFont typeface="+mj-lt"/>
              <a:buAutoNum type="arabicPeriod"/>
              <a:tabLst/>
              <a:defRPr/>
            </a:pPr>
            <a:r>
              <a:rPr lang="en-US" sz="2000" dirty="0"/>
              <a:t>Cluster 1: Customers with high purchase frequency but lower average transaction value and limited product preferences.</a:t>
            </a:r>
          </a:p>
          <a:p>
            <a:pPr marL="457200" marR="0" lvl="0" indent="-457200" algn="l" defTabSz="914400" rtl="0" eaLnBrk="1" fontAlgn="auto" latinLnBrk="0" hangingPunct="1">
              <a:lnSpc>
                <a:spcPct val="150000"/>
              </a:lnSpc>
              <a:spcBef>
                <a:spcPts val="600"/>
              </a:spcBef>
              <a:spcAft>
                <a:spcPts val="600"/>
              </a:spcAft>
              <a:buClrTx/>
              <a:buSzTx/>
              <a:buFont typeface="+mj-lt"/>
              <a:buAutoNum type="arabicPeriod"/>
              <a:tabLst/>
              <a:defRPr/>
            </a:pPr>
            <a:r>
              <a:rPr lang="en-US" sz="2000" dirty="0"/>
              <a:t>Cluster 2: Customers with moderate scores across all three criteria: purchase frequency, average transaction value, and product preferences.</a:t>
            </a:r>
          </a:p>
          <a:p>
            <a:pPr marL="457200" marR="0" lvl="0" indent="-457200" algn="l" defTabSz="914400" rtl="0" eaLnBrk="1" fontAlgn="auto" latinLnBrk="0" hangingPunct="1">
              <a:lnSpc>
                <a:spcPct val="150000"/>
              </a:lnSpc>
              <a:spcBef>
                <a:spcPts val="600"/>
              </a:spcBef>
              <a:spcAft>
                <a:spcPts val="600"/>
              </a:spcAft>
              <a:buClrTx/>
              <a:buSzTx/>
              <a:buFont typeface="+mj-lt"/>
              <a:buAutoNum type="arabicPeriod"/>
              <a:tabLst/>
              <a:defRPr/>
            </a:pPr>
            <a:r>
              <a:rPr lang="en-US" sz="2000" dirty="0"/>
              <a:t>Cluster 3: Customers with high average transaction value and diverse product preferences but lower purchase frequency.</a:t>
            </a:r>
            <a:endParaRPr lang="en-US" sz="2000" dirty="0">
              <a:solidFill>
                <a:prstClr val="black"/>
              </a:solidFill>
              <a:latin typeface="Calibri" panose="020F0502020204030204"/>
            </a:endParaRPr>
          </a:p>
        </p:txBody>
      </p:sp>
      <p:pic>
        <p:nvPicPr>
          <p:cNvPr id="7" name="Picture 6">
            <a:extLst>
              <a:ext uri="{FF2B5EF4-FFF2-40B4-BE49-F238E27FC236}">
                <a16:creationId xmlns:a16="http://schemas.microsoft.com/office/drawing/2014/main" id="{B229A06A-DFD4-A664-D03B-2F7C264E5FD8}"/>
              </a:ext>
            </a:extLst>
          </p:cNvPr>
          <p:cNvPicPr>
            <a:picLocks noChangeAspect="1"/>
          </p:cNvPicPr>
          <p:nvPr/>
        </p:nvPicPr>
        <p:blipFill>
          <a:blip r:embed="rId2"/>
          <a:stretch>
            <a:fillRect/>
          </a:stretch>
        </p:blipFill>
        <p:spPr>
          <a:xfrm>
            <a:off x="683656" y="1643603"/>
            <a:ext cx="4244597" cy="4244597"/>
          </a:xfrm>
          <a:prstGeom prst="rect">
            <a:avLst/>
          </a:prstGeom>
        </p:spPr>
      </p:pic>
    </p:spTree>
    <p:extLst>
      <p:ext uri="{BB962C8B-B14F-4D97-AF65-F5344CB8AC3E}">
        <p14:creationId xmlns:p14="http://schemas.microsoft.com/office/powerpoint/2010/main" val="458586428"/>
      </p:ext>
    </p:extLst>
  </p:cSld>
  <p:clrMapOvr>
    <a:masterClrMapping/>
  </p:clrMapOvr>
  <p:transition spd="med">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4488939-8AAB-DB72-AF38-CE122D104602}"/>
              </a:ext>
            </a:extLst>
          </p:cNvPr>
          <p:cNvSpPr/>
          <p:nvPr/>
        </p:nvSpPr>
        <p:spPr>
          <a:xfrm>
            <a:off x="2976081" y="1510398"/>
            <a:ext cx="6073773" cy="954107"/>
          </a:xfrm>
          <a:prstGeom prst="rect">
            <a:avLst/>
          </a:prstGeom>
          <a:ln>
            <a:solidFill>
              <a:schemeClr val="tx1"/>
            </a:solidFill>
          </a:ln>
        </p:spPr>
        <p:txBody>
          <a:bodyPr wrap="square">
            <a:spAutoFit/>
          </a:bodyPr>
          <a:lstStyle/>
          <a:p>
            <a:pPr algn="ctr"/>
            <a:r>
              <a:rPr lang="en-US" dirty="0"/>
              <a:t>Suppose point represents purchase frequency</a:t>
            </a:r>
            <a:br>
              <a:rPr lang="en-US" dirty="0"/>
            </a:br>
            <a:r>
              <a:rPr lang="en-US" dirty="0"/>
              <a:t>12 Customers</a:t>
            </a:r>
            <a:br>
              <a:rPr lang="en-IN" dirty="0">
                <a:latin typeface="+mj-lt"/>
              </a:rPr>
            </a:br>
            <a:r>
              <a:rPr lang="en-IN" dirty="0"/>
              <a:t>Create 3 groups</a:t>
            </a:r>
            <a:endParaRPr lang="en-US" dirty="0"/>
          </a:p>
        </p:txBody>
      </p:sp>
      <p:sp>
        <p:nvSpPr>
          <p:cNvPr id="4" name="TextBox 3">
            <a:extLst>
              <a:ext uri="{FF2B5EF4-FFF2-40B4-BE49-F238E27FC236}">
                <a16:creationId xmlns:a16="http://schemas.microsoft.com/office/drawing/2014/main" id="{625616E0-F9C7-980D-1E56-53D241984578}"/>
              </a:ext>
            </a:extLst>
          </p:cNvPr>
          <p:cNvSpPr txBox="1"/>
          <p:nvPr/>
        </p:nvSpPr>
        <p:spPr>
          <a:xfrm>
            <a:off x="924560" y="3952240"/>
            <a:ext cx="365109" cy="369332"/>
          </a:xfrm>
          <a:prstGeom prst="rect">
            <a:avLst/>
          </a:prstGeom>
          <a:noFill/>
          <a:ln w="38100">
            <a:solidFill>
              <a:schemeClr val="accent3">
                <a:lumMod val="20000"/>
                <a:lumOff val="80000"/>
              </a:schemeClr>
            </a:solidFill>
          </a:ln>
        </p:spPr>
        <p:txBody>
          <a:bodyPr wrap="square" rtlCol="0">
            <a:spAutoFit/>
          </a:bodyPr>
          <a:lstStyle/>
          <a:p>
            <a:r>
              <a:rPr lang="en-IN" dirty="0"/>
              <a:t>0</a:t>
            </a:r>
          </a:p>
        </p:txBody>
      </p:sp>
      <p:sp>
        <p:nvSpPr>
          <p:cNvPr id="11" name="TextBox 10">
            <a:extLst>
              <a:ext uri="{FF2B5EF4-FFF2-40B4-BE49-F238E27FC236}">
                <a16:creationId xmlns:a16="http://schemas.microsoft.com/office/drawing/2014/main" id="{45E294FD-7ABC-AAEA-430B-51A0277A8476}"/>
              </a:ext>
            </a:extLst>
          </p:cNvPr>
          <p:cNvSpPr txBox="1"/>
          <p:nvPr/>
        </p:nvSpPr>
        <p:spPr>
          <a:xfrm>
            <a:off x="10718800" y="3952240"/>
            <a:ext cx="477520" cy="369332"/>
          </a:xfrm>
          <a:prstGeom prst="rect">
            <a:avLst/>
          </a:prstGeom>
          <a:noFill/>
          <a:ln w="38100">
            <a:solidFill>
              <a:schemeClr val="accent3">
                <a:lumMod val="20000"/>
                <a:lumOff val="80000"/>
              </a:schemeClr>
            </a:solidFill>
          </a:ln>
        </p:spPr>
        <p:txBody>
          <a:bodyPr wrap="square" rtlCol="0">
            <a:spAutoFit/>
          </a:bodyPr>
          <a:lstStyle/>
          <a:p>
            <a:r>
              <a:rPr lang="en-IN" dirty="0"/>
              <a:t>10</a:t>
            </a:r>
          </a:p>
        </p:txBody>
      </p:sp>
    </p:spTree>
    <p:extLst>
      <p:ext uri="{BB962C8B-B14F-4D97-AF65-F5344CB8AC3E}">
        <p14:creationId xmlns:p14="http://schemas.microsoft.com/office/powerpoint/2010/main" val="229293655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AB2B852-D6A5-D6E0-E8B0-8B949504DA30}"/>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Randomly choose 3 points (centroids)</a:t>
            </a:r>
            <a:endParaRPr lang="en-IN" dirty="0">
              <a:latin typeface="+mj-lt"/>
            </a:endParaRPr>
          </a:p>
        </p:txBody>
      </p:sp>
    </p:spTree>
    <p:extLst>
      <p:ext uri="{BB962C8B-B14F-4D97-AF65-F5344CB8AC3E}">
        <p14:creationId xmlns:p14="http://schemas.microsoft.com/office/powerpoint/2010/main" val="320958848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centroids</a:t>
            </a:r>
            <a:endParaRPr lang="en-IN" dirty="0">
              <a:latin typeface="+mj-lt"/>
            </a:endParaRPr>
          </a:p>
        </p:txBody>
      </p:sp>
      <p:cxnSp>
        <p:nvCxnSpPr>
          <p:cNvPr id="22" name="Straight Arrow Connector 21">
            <a:extLst>
              <a:ext uri="{FF2B5EF4-FFF2-40B4-BE49-F238E27FC236}">
                <a16:creationId xmlns:a16="http://schemas.microsoft.com/office/drawing/2014/main" id="{1950D05B-DDB1-AF12-583D-34373813E2B3}"/>
              </a:ext>
            </a:extLst>
          </p:cNvPr>
          <p:cNvCxnSpPr>
            <a:cxnSpLocks/>
          </p:cNvCxnSpPr>
          <p:nvPr/>
        </p:nvCxnSpPr>
        <p:spPr>
          <a:xfrm>
            <a:off x="1563939" y="3143644"/>
            <a:ext cx="3563007"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5F28CE3-7819-2757-77BA-0ED176506E09}"/>
              </a:ext>
            </a:extLst>
          </p:cNvPr>
          <p:cNvCxnSpPr>
            <a:cxnSpLocks/>
          </p:cNvCxnSpPr>
          <p:nvPr/>
        </p:nvCxnSpPr>
        <p:spPr>
          <a:xfrm>
            <a:off x="1563939" y="2872477"/>
            <a:ext cx="4590919" cy="0"/>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9C38B01-9111-D97F-A749-E5129FB6332A}"/>
              </a:ext>
            </a:extLst>
          </p:cNvPr>
          <p:cNvCxnSpPr>
            <a:cxnSpLocks/>
          </p:cNvCxnSpPr>
          <p:nvPr/>
        </p:nvCxnSpPr>
        <p:spPr>
          <a:xfrm>
            <a:off x="1563939" y="2601310"/>
            <a:ext cx="7838615" cy="0"/>
          </a:xfrm>
          <a:prstGeom prst="straightConnector1">
            <a:avLst/>
          </a:prstGeom>
          <a:ln w="1905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Arrow: Up 26">
            <a:extLst>
              <a:ext uri="{FF2B5EF4-FFF2-40B4-BE49-F238E27FC236}">
                <a16:creationId xmlns:a16="http://schemas.microsoft.com/office/drawing/2014/main" id="{D17EF433-3EA6-6652-B7AC-6B466A73B713}"/>
              </a:ext>
            </a:extLst>
          </p:cNvPr>
          <p:cNvSpPr/>
          <p:nvPr/>
        </p:nvSpPr>
        <p:spPr>
          <a:xfrm>
            <a:off x="1393276" y="3916954"/>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13887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centroids</a:t>
            </a:r>
            <a:endParaRPr lang="en-IN" dirty="0">
              <a:latin typeface="+mj-lt"/>
            </a:endParaRPr>
          </a:p>
        </p:txBody>
      </p:sp>
      <p:cxnSp>
        <p:nvCxnSpPr>
          <p:cNvPr id="22" name="Straight Arrow Connector 21">
            <a:extLst>
              <a:ext uri="{FF2B5EF4-FFF2-40B4-BE49-F238E27FC236}">
                <a16:creationId xmlns:a16="http://schemas.microsoft.com/office/drawing/2014/main" id="{1950D05B-DDB1-AF12-583D-34373813E2B3}"/>
              </a:ext>
            </a:extLst>
          </p:cNvPr>
          <p:cNvCxnSpPr>
            <a:cxnSpLocks/>
          </p:cNvCxnSpPr>
          <p:nvPr/>
        </p:nvCxnSpPr>
        <p:spPr>
          <a:xfrm>
            <a:off x="1563939" y="3143644"/>
            <a:ext cx="3563007"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5F28CE3-7819-2757-77BA-0ED176506E09}"/>
              </a:ext>
            </a:extLst>
          </p:cNvPr>
          <p:cNvCxnSpPr>
            <a:cxnSpLocks/>
          </p:cNvCxnSpPr>
          <p:nvPr/>
        </p:nvCxnSpPr>
        <p:spPr>
          <a:xfrm>
            <a:off x="1563939" y="2872477"/>
            <a:ext cx="4590919" cy="0"/>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9C38B01-9111-D97F-A749-E5129FB6332A}"/>
              </a:ext>
            </a:extLst>
          </p:cNvPr>
          <p:cNvCxnSpPr>
            <a:cxnSpLocks/>
          </p:cNvCxnSpPr>
          <p:nvPr/>
        </p:nvCxnSpPr>
        <p:spPr>
          <a:xfrm>
            <a:off x="1563939" y="2601310"/>
            <a:ext cx="7838615" cy="0"/>
          </a:xfrm>
          <a:prstGeom prst="straightConnector1">
            <a:avLst/>
          </a:prstGeom>
          <a:ln w="1905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2155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centroids</a:t>
            </a:r>
            <a:endParaRPr lang="en-IN" dirty="0">
              <a:latin typeface="+mj-lt"/>
            </a:endParaRPr>
          </a:p>
        </p:txBody>
      </p:sp>
    </p:spTree>
    <p:extLst>
      <p:ext uri="{BB962C8B-B14F-4D97-AF65-F5344CB8AC3E}">
        <p14:creationId xmlns:p14="http://schemas.microsoft.com/office/powerpoint/2010/main" val="393926274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centroids</a:t>
            </a:r>
            <a:endParaRPr lang="en-IN" dirty="0">
              <a:latin typeface="+mj-lt"/>
            </a:endParaRPr>
          </a:p>
        </p:txBody>
      </p:sp>
      <p:cxnSp>
        <p:nvCxnSpPr>
          <p:cNvPr id="21" name="Straight Arrow Connector 20">
            <a:extLst>
              <a:ext uri="{FF2B5EF4-FFF2-40B4-BE49-F238E27FC236}">
                <a16:creationId xmlns:a16="http://schemas.microsoft.com/office/drawing/2014/main" id="{BA900A6E-F458-135C-183D-551EAA909456}"/>
              </a:ext>
            </a:extLst>
          </p:cNvPr>
          <p:cNvCxnSpPr>
            <a:cxnSpLocks/>
          </p:cNvCxnSpPr>
          <p:nvPr/>
        </p:nvCxnSpPr>
        <p:spPr>
          <a:xfrm flipH="1">
            <a:off x="5126946" y="3143644"/>
            <a:ext cx="655846"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4935FE0-F815-8F3B-F66C-4C5A301C8C9F}"/>
              </a:ext>
            </a:extLst>
          </p:cNvPr>
          <p:cNvCxnSpPr>
            <a:cxnSpLocks/>
          </p:cNvCxnSpPr>
          <p:nvPr/>
        </p:nvCxnSpPr>
        <p:spPr>
          <a:xfrm>
            <a:off x="5738648" y="2872477"/>
            <a:ext cx="416210" cy="0"/>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Arrow: Up 26">
            <a:extLst>
              <a:ext uri="{FF2B5EF4-FFF2-40B4-BE49-F238E27FC236}">
                <a16:creationId xmlns:a16="http://schemas.microsoft.com/office/drawing/2014/main" id="{294217D9-0DDF-E4AF-7BEC-EDBD02D0B134}"/>
              </a:ext>
            </a:extLst>
          </p:cNvPr>
          <p:cNvSpPr/>
          <p:nvPr/>
        </p:nvSpPr>
        <p:spPr>
          <a:xfrm>
            <a:off x="5607437" y="3963446"/>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13157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centroids</a:t>
            </a:r>
            <a:endParaRPr lang="en-IN" dirty="0">
              <a:latin typeface="+mj-lt"/>
            </a:endParaRPr>
          </a:p>
        </p:txBody>
      </p:sp>
    </p:spTree>
    <p:extLst>
      <p:ext uri="{BB962C8B-B14F-4D97-AF65-F5344CB8AC3E}">
        <p14:creationId xmlns:p14="http://schemas.microsoft.com/office/powerpoint/2010/main" val="412262128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centroids</a:t>
            </a:r>
            <a:endParaRPr lang="en-IN" dirty="0">
              <a:latin typeface="+mj-lt"/>
            </a:endParaRPr>
          </a:p>
        </p:txBody>
      </p:sp>
      <p:cxnSp>
        <p:nvCxnSpPr>
          <p:cNvPr id="21" name="Straight Arrow Connector 20">
            <a:extLst>
              <a:ext uri="{FF2B5EF4-FFF2-40B4-BE49-F238E27FC236}">
                <a16:creationId xmlns:a16="http://schemas.microsoft.com/office/drawing/2014/main" id="{74C101ED-BC89-72D0-F7B9-9FBB845C75EC}"/>
              </a:ext>
            </a:extLst>
          </p:cNvPr>
          <p:cNvCxnSpPr>
            <a:cxnSpLocks/>
          </p:cNvCxnSpPr>
          <p:nvPr/>
        </p:nvCxnSpPr>
        <p:spPr>
          <a:xfrm flipH="1">
            <a:off x="6217920" y="2872477"/>
            <a:ext cx="1513490" cy="0"/>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5394BC0-3643-5FC0-2C2A-EB204C7A39ED}"/>
              </a:ext>
            </a:extLst>
          </p:cNvPr>
          <p:cNvCxnSpPr>
            <a:cxnSpLocks/>
          </p:cNvCxnSpPr>
          <p:nvPr/>
        </p:nvCxnSpPr>
        <p:spPr>
          <a:xfrm>
            <a:off x="7693572" y="2601310"/>
            <a:ext cx="1708982" cy="0"/>
          </a:xfrm>
          <a:prstGeom prst="straightConnector1">
            <a:avLst/>
          </a:prstGeom>
          <a:ln w="1905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Arrow: Up 27">
            <a:extLst>
              <a:ext uri="{FF2B5EF4-FFF2-40B4-BE49-F238E27FC236}">
                <a16:creationId xmlns:a16="http://schemas.microsoft.com/office/drawing/2014/main" id="{FF163F20-48A9-4BB1-6A28-BBDB69549167}"/>
              </a:ext>
            </a:extLst>
          </p:cNvPr>
          <p:cNvSpPr/>
          <p:nvPr/>
        </p:nvSpPr>
        <p:spPr>
          <a:xfrm>
            <a:off x="7565538" y="3985523"/>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19056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centroids</a:t>
            </a:r>
            <a:endParaRPr lang="en-IN" dirty="0">
              <a:latin typeface="+mj-lt"/>
            </a:endParaRPr>
          </a:p>
        </p:txBody>
      </p:sp>
      <p:cxnSp>
        <p:nvCxnSpPr>
          <p:cNvPr id="21" name="Straight Arrow Connector 20">
            <a:extLst>
              <a:ext uri="{FF2B5EF4-FFF2-40B4-BE49-F238E27FC236}">
                <a16:creationId xmlns:a16="http://schemas.microsoft.com/office/drawing/2014/main" id="{74C101ED-BC89-72D0-F7B9-9FBB845C75EC}"/>
              </a:ext>
            </a:extLst>
          </p:cNvPr>
          <p:cNvCxnSpPr>
            <a:cxnSpLocks/>
          </p:cNvCxnSpPr>
          <p:nvPr/>
        </p:nvCxnSpPr>
        <p:spPr>
          <a:xfrm flipH="1">
            <a:off x="6217920" y="2872477"/>
            <a:ext cx="1513490" cy="0"/>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5394BC0-3643-5FC0-2C2A-EB204C7A39ED}"/>
              </a:ext>
            </a:extLst>
          </p:cNvPr>
          <p:cNvCxnSpPr>
            <a:cxnSpLocks/>
          </p:cNvCxnSpPr>
          <p:nvPr/>
        </p:nvCxnSpPr>
        <p:spPr>
          <a:xfrm>
            <a:off x="7693572" y="2601310"/>
            <a:ext cx="1708982" cy="0"/>
          </a:xfrm>
          <a:prstGeom prst="straightConnector1">
            <a:avLst/>
          </a:prstGeom>
          <a:ln w="1905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15789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IN" dirty="0"/>
              <a:t>End of 1</a:t>
            </a:r>
            <a:r>
              <a:rPr lang="en-IN" baseline="30000" dirty="0"/>
              <a:t>st</a:t>
            </a:r>
            <a:r>
              <a:rPr lang="en-IN" dirty="0"/>
              <a:t> cycle</a:t>
            </a:r>
            <a:endParaRPr lang="en-IN" dirty="0">
              <a:latin typeface="+mj-lt"/>
            </a:endParaRPr>
          </a:p>
        </p:txBody>
      </p:sp>
    </p:spTree>
    <p:extLst>
      <p:ext uri="{BB962C8B-B14F-4D97-AF65-F5344CB8AC3E}">
        <p14:creationId xmlns:p14="http://schemas.microsoft.com/office/powerpoint/2010/main" val="283779025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436884"/>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312339"/>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312339"/>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312339"/>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312339"/>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312339"/>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312339"/>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312339"/>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312339"/>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312339"/>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312339"/>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312339"/>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312339"/>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010450"/>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010450"/>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010450"/>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646331"/>
          </a:xfrm>
          <a:prstGeom prst="rect">
            <a:avLst/>
          </a:prstGeom>
          <a:ln>
            <a:solidFill>
              <a:schemeClr val="tx1"/>
            </a:solidFill>
          </a:ln>
        </p:spPr>
        <p:txBody>
          <a:bodyPr wrap="square">
            <a:spAutoFit/>
          </a:bodyPr>
          <a:lstStyle/>
          <a:p>
            <a:pPr algn="ctr"/>
            <a:r>
              <a:rPr lang="en-IN" dirty="0"/>
              <a:t>Take the average of each cluster and shift the centroid to that point </a:t>
            </a:r>
            <a:endParaRPr lang="en-IN" dirty="0">
              <a:latin typeface="+mj-lt"/>
            </a:endParaRPr>
          </a:p>
        </p:txBody>
      </p:sp>
      <p:cxnSp>
        <p:nvCxnSpPr>
          <p:cNvPr id="21" name="Straight Arrow Connector 20">
            <a:extLst>
              <a:ext uri="{FF2B5EF4-FFF2-40B4-BE49-F238E27FC236}">
                <a16:creationId xmlns:a16="http://schemas.microsoft.com/office/drawing/2014/main" id="{130C7A3C-837D-8A33-8EB2-611F1E9FFF0D}"/>
              </a:ext>
            </a:extLst>
          </p:cNvPr>
          <p:cNvCxnSpPr/>
          <p:nvPr/>
        </p:nvCxnSpPr>
        <p:spPr>
          <a:xfrm>
            <a:off x="737826" y="5051271"/>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2" name="Oval 21">
            <a:extLst>
              <a:ext uri="{FF2B5EF4-FFF2-40B4-BE49-F238E27FC236}">
                <a16:creationId xmlns:a16="http://schemas.microsoft.com/office/drawing/2014/main" id="{16E010F9-EDE5-C20A-82A1-4E43C2960044}"/>
              </a:ext>
            </a:extLst>
          </p:cNvPr>
          <p:cNvSpPr/>
          <p:nvPr/>
        </p:nvSpPr>
        <p:spPr>
          <a:xfrm>
            <a:off x="1464618" y="492672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3" name="Oval 22">
            <a:extLst>
              <a:ext uri="{FF2B5EF4-FFF2-40B4-BE49-F238E27FC236}">
                <a16:creationId xmlns:a16="http://schemas.microsoft.com/office/drawing/2014/main" id="{BADAA910-208A-BE10-F9E9-B0698E850CE3}"/>
              </a:ext>
            </a:extLst>
          </p:cNvPr>
          <p:cNvSpPr/>
          <p:nvPr/>
        </p:nvSpPr>
        <p:spPr>
          <a:xfrm>
            <a:off x="1899746" y="492672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700149C-258D-A273-6132-A6DC81E32FD3}"/>
              </a:ext>
            </a:extLst>
          </p:cNvPr>
          <p:cNvSpPr/>
          <p:nvPr/>
        </p:nvSpPr>
        <p:spPr>
          <a:xfrm>
            <a:off x="2933964" y="492672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375F6C5-083A-D7A9-755B-06881A10FA4A}"/>
              </a:ext>
            </a:extLst>
          </p:cNvPr>
          <p:cNvSpPr/>
          <p:nvPr/>
        </p:nvSpPr>
        <p:spPr>
          <a:xfrm>
            <a:off x="4554660" y="492672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2FE5335-F066-8AE2-87B5-FCB46C86EABE}"/>
              </a:ext>
            </a:extLst>
          </p:cNvPr>
          <p:cNvSpPr/>
          <p:nvPr/>
        </p:nvSpPr>
        <p:spPr>
          <a:xfrm>
            <a:off x="5017381" y="492672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7EFAA8-FF80-BEEB-D520-450559E5FB2B}"/>
              </a:ext>
            </a:extLst>
          </p:cNvPr>
          <p:cNvSpPr/>
          <p:nvPr/>
        </p:nvSpPr>
        <p:spPr>
          <a:xfrm>
            <a:off x="5678779" y="492672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FF7739D-309B-84FE-EBA7-6804F6EE0D2A}"/>
              </a:ext>
            </a:extLst>
          </p:cNvPr>
          <p:cNvSpPr/>
          <p:nvPr/>
        </p:nvSpPr>
        <p:spPr>
          <a:xfrm>
            <a:off x="6091087" y="492672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31BB141-CC11-2111-6591-10993664079E}"/>
              </a:ext>
            </a:extLst>
          </p:cNvPr>
          <p:cNvSpPr/>
          <p:nvPr/>
        </p:nvSpPr>
        <p:spPr>
          <a:xfrm>
            <a:off x="7636880" y="492672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034FF50-9892-E978-7740-1600D020C765}"/>
              </a:ext>
            </a:extLst>
          </p:cNvPr>
          <p:cNvSpPr/>
          <p:nvPr/>
        </p:nvSpPr>
        <p:spPr>
          <a:xfrm>
            <a:off x="8028855" y="492672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750E5F0-4155-E67F-8B3D-6593B7D24BCE}"/>
              </a:ext>
            </a:extLst>
          </p:cNvPr>
          <p:cNvSpPr/>
          <p:nvPr/>
        </p:nvSpPr>
        <p:spPr>
          <a:xfrm>
            <a:off x="8296285" y="492672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1A62A54-001E-BCFD-16B1-E20B27AF8AC4}"/>
              </a:ext>
            </a:extLst>
          </p:cNvPr>
          <p:cNvSpPr/>
          <p:nvPr/>
        </p:nvSpPr>
        <p:spPr>
          <a:xfrm>
            <a:off x="8674657" y="492672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A09F374-1AB6-5DDB-494C-31D1FC4680DD}"/>
              </a:ext>
            </a:extLst>
          </p:cNvPr>
          <p:cNvSpPr/>
          <p:nvPr/>
        </p:nvSpPr>
        <p:spPr>
          <a:xfrm>
            <a:off x="9258036" y="492672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0D221085-8972-6233-F484-37637C679C8D}"/>
              </a:ext>
            </a:extLst>
          </p:cNvPr>
          <p:cNvSpPr/>
          <p:nvPr/>
        </p:nvSpPr>
        <p:spPr>
          <a:xfrm>
            <a:off x="3081380" y="4624837"/>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B78E227B-7700-8D69-3348-43B1FBC1448D}"/>
              </a:ext>
            </a:extLst>
          </p:cNvPr>
          <p:cNvSpPr/>
          <p:nvPr/>
        </p:nvSpPr>
        <p:spPr>
          <a:xfrm>
            <a:off x="6496335" y="4624837"/>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3A64DA52-BA91-BE64-DC63-2491002F9B04}"/>
              </a:ext>
            </a:extLst>
          </p:cNvPr>
          <p:cNvSpPr/>
          <p:nvPr/>
        </p:nvSpPr>
        <p:spPr>
          <a:xfrm>
            <a:off x="8539136" y="4624837"/>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Up 36">
            <a:extLst>
              <a:ext uri="{FF2B5EF4-FFF2-40B4-BE49-F238E27FC236}">
                <a16:creationId xmlns:a16="http://schemas.microsoft.com/office/drawing/2014/main" id="{DE99A970-65E4-39B3-FBBA-BE69D1E40063}"/>
              </a:ext>
            </a:extLst>
          </p:cNvPr>
          <p:cNvSpPr/>
          <p:nvPr/>
        </p:nvSpPr>
        <p:spPr>
          <a:xfrm rot="10800000">
            <a:off x="5927869" y="3941224"/>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809904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3081380"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496335"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85391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new centroids and reassign</a:t>
            </a:r>
            <a:endParaRPr lang="en-IN" dirty="0"/>
          </a:p>
        </p:txBody>
      </p:sp>
      <p:sp>
        <p:nvSpPr>
          <p:cNvPr id="21" name="Arrow: Up 20">
            <a:extLst>
              <a:ext uri="{FF2B5EF4-FFF2-40B4-BE49-F238E27FC236}">
                <a16:creationId xmlns:a16="http://schemas.microsoft.com/office/drawing/2014/main" id="{9E965726-1AE0-DF42-8838-691442E1A330}"/>
              </a:ext>
            </a:extLst>
          </p:cNvPr>
          <p:cNvSpPr/>
          <p:nvPr/>
        </p:nvSpPr>
        <p:spPr>
          <a:xfrm>
            <a:off x="4958267" y="3956369"/>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Arrow: Up 21">
            <a:extLst>
              <a:ext uri="{FF2B5EF4-FFF2-40B4-BE49-F238E27FC236}">
                <a16:creationId xmlns:a16="http://schemas.microsoft.com/office/drawing/2014/main" id="{F40BB7E1-755E-F786-3CAB-B156AF798FDE}"/>
              </a:ext>
            </a:extLst>
          </p:cNvPr>
          <p:cNvSpPr/>
          <p:nvPr/>
        </p:nvSpPr>
        <p:spPr>
          <a:xfrm>
            <a:off x="7565538" y="3956369"/>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360959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3081380"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496335"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85391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new centroids and reassign</a:t>
            </a:r>
            <a:endParaRPr lang="en-IN" dirty="0"/>
          </a:p>
        </p:txBody>
      </p:sp>
      <p:sp>
        <p:nvSpPr>
          <p:cNvPr id="21" name="Arrow: Up 20">
            <a:extLst>
              <a:ext uri="{FF2B5EF4-FFF2-40B4-BE49-F238E27FC236}">
                <a16:creationId xmlns:a16="http://schemas.microsoft.com/office/drawing/2014/main" id="{9E965726-1AE0-DF42-8838-691442E1A330}"/>
              </a:ext>
            </a:extLst>
          </p:cNvPr>
          <p:cNvSpPr/>
          <p:nvPr/>
        </p:nvSpPr>
        <p:spPr>
          <a:xfrm>
            <a:off x="4958267" y="3956369"/>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Arrow: Up 21">
            <a:extLst>
              <a:ext uri="{FF2B5EF4-FFF2-40B4-BE49-F238E27FC236}">
                <a16:creationId xmlns:a16="http://schemas.microsoft.com/office/drawing/2014/main" id="{F40BB7E1-755E-F786-3CAB-B156AF798FDE}"/>
              </a:ext>
            </a:extLst>
          </p:cNvPr>
          <p:cNvSpPr/>
          <p:nvPr/>
        </p:nvSpPr>
        <p:spPr>
          <a:xfrm>
            <a:off x="7565538" y="3956369"/>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71257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3081380"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496335"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85391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B065C-4E04-296C-27EF-987BF9D63EEB}"/>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new centroids and reassign</a:t>
            </a:r>
            <a:endParaRPr lang="en-IN" dirty="0"/>
          </a:p>
        </p:txBody>
      </p:sp>
      <p:sp>
        <p:nvSpPr>
          <p:cNvPr id="21" name="Arrow: Up 20">
            <a:extLst>
              <a:ext uri="{FF2B5EF4-FFF2-40B4-BE49-F238E27FC236}">
                <a16:creationId xmlns:a16="http://schemas.microsoft.com/office/drawing/2014/main" id="{9E965726-1AE0-DF42-8838-691442E1A330}"/>
              </a:ext>
            </a:extLst>
          </p:cNvPr>
          <p:cNvSpPr/>
          <p:nvPr/>
        </p:nvSpPr>
        <p:spPr>
          <a:xfrm>
            <a:off x="4958267" y="3956369"/>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Arrow: Up 21">
            <a:extLst>
              <a:ext uri="{FF2B5EF4-FFF2-40B4-BE49-F238E27FC236}">
                <a16:creationId xmlns:a16="http://schemas.microsoft.com/office/drawing/2014/main" id="{F40BB7E1-755E-F786-3CAB-B156AF798FDE}"/>
              </a:ext>
            </a:extLst>
          </p:cNvPr>
          <p:cNvSpPr/>
          <p:nvPr/>
        </p:nvSpPr>
        <p:spPr>
          <a:xfrm>
            <a:off x="7565538" y="3956369"/>
            <a:ext cx="391773" cy="365125"/>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58838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3081380"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496335"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85391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8FB0467-C2C3-1294-7FCC-9896895107B9}"/>
              </a:ext>
            </a:extLst>
          </p:cNvPr>
          <p:cNvSpPr/>
          <p:nvPr/>
        </p:nvSpPr>
        <p:spPr>
          <a:xfrm>
            <a:off x="2976081" y="1510398"/>
            <a:ext cx="6073773" cy="923330"/>
          </a:xfrm>
          <a:prstGeom prst="rect">
            <a:avLst/>
          </a:prstGeom>
          <a:ln>
            <a:solidFill>
              <a:schemeClr val="tx1"/>
            </a:solidFill>
          </a:ln>
        </p:spPr>
        <p:txBody>
          <a:bodyPr wrap="square">
            <a:spAutoFit/>
          </a:bodyPr>
          <a:lstStyle/>
          <a:p>
            <a:pPr algn="ctr"/>
            <a:r>
              <a:rPr lang="en-US" dirty="0"/>
              <a:t>End of cycle 2</a:t>
            </a:r>
            <a:br>
              <a:rPr lang="en-US" dirty="0"/>
            </a:br>
            <a:r>
              <a:rPr lang="en-US" dirty="0"/>
              <a:t>Now again, t</a:t>
            </a:r>
            <a:r>
              <a:rPr lang="en-IN" dirty="0" err="1"/>
              <a:t>ake</a:t>
            </a:r>
            <a:r>
              <a:rPr lang="en-IN" dirty="0"/>
              <a:t> the average of each cluster and shift the centroid to that point </a:t>
            </a:r>
          </a:p>
        </p:txBody>
      </p:sp>
    </p:spTree>
    <p:extLst>
      <p:ext uri="{BB962C8B-B14F-4D97-AF65-F5344CB8AC3E}">
        <p14:creationId xmlns:p14="http://schemas.microsoft.com/office/powerpoint/2010/main" val="40221055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71435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Oval 7">
            <a:extLst>
              <a:ext uri="{FF2B5EF4-FFF2-40B4-BE49-F238E27FC236}">
                <a16:creationId xmlns:a16="http://schemas.microsoft.com/office/drawing/2014/main" id="{04D69F12-B671-EF6B-DCF6-0FD888AB06B3}"/>
              </a:ext>
            </a:extLst>
          </p:cNvPr>
          <p:cNvSpPr/>
          <p:nvPr/>
        </p:nvSpPr>
        <p:spPr>
          <a:xfrm>
            <a:off x="1899746"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589811"/>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Oval 12">
            <a:extLst>
              <a:ext uri="{FF2B5EF4-FFF2-40B4-BE49-F238E27FC236}">
                <a16:creationId xmlns:a16="http://schemas.microsoft.com/office/drawing/2014/main" id="{79F63634-CFB2-CAFF-183C-C29020C6A3FC}"/>
              </a:ext>
            </a:extLst>
          </p:cNvPr>
          <p:cNvSpPr/>
          <p:nvPr/>
        </p:nvSpPr>
        <p:spPr>
          <a:xfrm>
            <a:off x="5678779"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589811"/>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589811"/>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589811"/>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3081380" y="328792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496335" y="328792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8539136" y="328792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8FB0467-C2C3-1294-7FCC-9896895107B9}"/>
              </a:ext>
            </a:extLst>
          </p:cNvPr>
          <p:cNvSpPr/>
          <p:nvPr/>
        </p:nvSpPr>
        <p:spPr>
          <a:xfrm>
            <a:off x="2976081" y="1510398"/>
            <a:ext cx="6073773" cy="646331"/>
          </a:xfrm>
          <a:prstGeom prst="rect">
            <a:avLst/>
          </a:prstGeom>
          <a:ln>
            <a:solidFill>
              <a:schemeClr val="tx1"/>
            </a:solidFill>
          </a:ln>
        </p:spPr>
        <p:txBody>
          <a:bodyPr wrap="square">
            <a:spAutoFit/>
          </a:bodyPr>
          <a:lstStyle/>
          <a:p>
            <a:pPr algn="ctr"/>
            <a:r>
              <a:rPr lang="en-US" dirty="0"/>
              <a:t>Now again, t</a:t>
            </a:r>
            <a:r>
              <a:rPr lang="en-IN" dirty="0" err="1"/>
              <a:t>ake</a:t>
            </a:r>
            <a:r>
              <a:rPr lang="en-IN" dirty="0"/>
              <a:t> the average of each cluster and shift the centroid to that point </a:t>
            </a:r>
          </a:p>
        </p:txBody>
      </p:sp>
      <p:cxnSp>
        <p:nvCxnSpPr>
          <p:cNvPr id="20" name="Straight Arrow Connector 19">
            <a:extLst>
              <a:ext uri="{FF2B5EF4-FFF2-40B4-BE49-F238E27FC236}">
                <a16:creationId xmlns:a16="http://schemas.microsoft.com/office/drawing/2014/main" id="{C696A9A9-0997-0B7B-FFF5-E1DFD2B864A0}"/>
              </a:ext>
            </a:extLst>
          </p:cNvPr>
          <p:cNvCxnSpPr/>
          <p:nvPr/>
        </p:nvCxnSpPr>
        <p:spPr>
          <a:xfrm>
            <a:off x="737826" y="5248570"/>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1" name="Oval 20">
            <a:extLst>
              <a:ext uri="{FF2B5EF4-FFF2-40B4-BE49-F238E27FC236}">
                <a16:creationId xmlns:a16="http://schemas.microsoft.com/office/drawing/2014/main" id="{A6627FFD-9D2C-FCEB-AA30-0408B979E2F9}"/>
              </a:ext>
            </a:extLst>
          </p:cNvPr>
          <p:cNvSpPr/>
          <p:nvPr/>
        </p:nvSpPr>
        <p:spPr>
          <a:xfrm>
            <a:off x="1464618" y="5124025"/>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2" name="Oval 21">
            <a:extLst>
              <a:ext uri="{FF2B5EF4-FFF2-40B4-BE49-F238E27FC236}">
                <a16:creationId xmlns:a16="http://schemas.microsoft.com/office/drawing/2014/main" id="{7783555E-F3E5-7D41-32DE-BD7B268DF1AE}"/>
              </a:ext>
            </a:extLst>
          </p:cNvPr>
          <p:cNvSpPr/>
          <p:nvPr/>
        </p:nvSpPr>
        <p:spPr>
          <a:xfrm>
            <a:off x="1899746" y="5124025"/>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D4BBE18-8FBD-FA3D-0DF3-1850A3E29702}"/>
              </a:ext>
            </a:extLst>
          </p:cNvPr>
          <p:cNvSpPr/>
          <p:nvPr/>
        </p:nvSpPr>
        <p:spPr>
          <a:xfrm>
            <a:off x="2933964" y="5124025"/>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75ACCF7-F397-580C-36ED-17E878A28AA3}"/>
              </a:ext>
            </a:extLst>
          </p:cNvPr>
          <p:cNvSpPr/>
          <p:nvPr/>
        </p:nvSpPr>
        <p:spPr>
          <a:xfrm>
            <a:off x="4554660" y="5124025"/>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4F9956D-12AE-EEB0-0300-972815964C1C}"/>
              </a:ext>
            </a:extLst>
          </p:cNvPr>
          <p:cNvSpPr/>
          <p:nvPr/>
        </p:nvSpPr>
        <p:spPr>
          <a:xfrm>
            <a:off x="5017381" y="5124025"/>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27" name="Oval 26">
            <a:extLst>
              <a:ext uri="{FF2B5EF4-FFF2-40B4-BE49-F238E27FC236}">
                <a16:creationId xmlns:a16="http://schemas.microsoft.com/office/drawing/2014/main" id="{A090FF2A-3CDA-A15B-B766-B6BB2F4BD8CF}"/>
              </a:ext>
            </a:extLst>
          </p:cNvPr>
          <p:cNvSpPr/>
          <p:nvPr/>
        </p:nvSpPr>
        <p:spPr>
          <a:xfrm>
            <a:off x="5678779" y="5124025"/>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4062238-FDF2-B0C9-45CD-BC00EEEF335F}"/>
              </a:ext>
            </a:extLst>
          </p:cNvPr>
          <p:cNvSpPr/>
          <p:nvPr/>
        </p:nvSpPr>
        <p:spPr>
          <a:xfrm>
            <a:off x="6091087" y="5124025"/>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BF0A9AC-3C31-1E61-BB14-CA0F7C67FE8D}"/>
              </a:ext>
            </a:extLst>
          </p:cNvPr>
          <p:cNvSpPr/>
          <p:nvPr/>
        </p:nvSpPr>
        <p:spPr>
          <a:xfrm>
            <a:off x="7636880" y="5124025"/>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197DB7A-2ACC-6A25-8C5A-3406076B7CD8}"/>
              </a:ext>
            </a:extLst>
          </p:cNvPr>
          <p:cNvSpPr/>
          <p:nvPr/>
        </p:nvSpPr>
        <p:spPr>
          <a:xfrm>
            <a:off x="8028855" y="5124025"/>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1BF1B52-726A-4EE2-6427-F65EC1E58988}"/>
              </a:ext>
            </a:extLst>
          </p:cNvPr>
          <p:cNvSpPr/>
          <p:nvPr/>
        </p:nvSpPr>
        <p:spPr>
          <a:xfrm>
            <a:off x="8296285" y="5124025"/>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8D50098-8485-1098-A0C2-A79FA189A765}"/>
              </a:ext>
            </a:extLst>
          </p:cNvPr>
          <p:cNvSpPr/>
          <p:nvPr/>
        </p:nvSpPr>
        <p:spPr>
          <a:xfrm>
            <a:off x="8674657" y="5124025"/>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7F3E9D1-E6F3-D4A6-58BC-5700B22FE2EB}"/>
              </a:ext>
            </a:extLst>
          </p:cNvPr>
          <p:cNvSpPr/>
          <p:nvPr/>
        </p:nvSpPr>
        <p:spPr>
          <a:xfrm>
            <a:off x="9258036" y="5124025"/>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65DB8278-34E7-05C2-CC17-606771981E70}"/>
              </a:ext>
            </a:extLst>
          </p:cNvPr>
          <p:cNvSpPr/>
          <p:nvPr/>
        </p:nvSpPr>
        <p:spPr>
          <a:xfrm>
            <a:off x="2665173" y="4822136"/>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6AF55DB8-9039-51AC-3885-19FC63542060}"/>
              </a:ext>
            </a:extLst>
          </p:cNvPr>
          <p:cNvSpPr/>
          <p:nvPr/>
        </p:nvSpPr>
        <p:spPr>
          <a:xfrm>
            <a:off x="5550408" y="4822136"/>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564E434C-0FDB-BDA5-8A3C-26C3957002B0}"/>
              </a:ext>
            </a:extLst>
          </p:cNvPr>
          <p:cNvSpPr/>
          <p:nvPr/>
        </p:nvSpPr>
        <p:spPr>
          <a:xfrm>
            <a:off x="8476076" y="4822136"/>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08864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sp>
        <p:nvSpPr>
          <p:cNvPr id="23" name="Rectangle 22">
            <a:extLst>
              <a:ext uri="{FF2B5EF4-FFF2-40B4-BE49-F238E27FC236}">
                <a16:creationId xmlns:a16="http://schemas.microsoft.com/office/drawing/2014/main" id="{48FB0467-C2C3-1294-7FCC-9896895107B9}"/>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IN" dirty="0"/>
              <a:t>Reassign points</a:t>
            </a:r>
          </a:p>
        </p:txBody>
      </p:sp>
      <p:cxnSp>
        <p:nvCxnSpPr>
          <p:cNvPr id="20" name="Straight Arrow Connector 19">
            <a:extLst>
              <a:ext uri="{FF2B5EF4-FFF2-40B4-BE49-F238E27FC236}">
                <a16:creationId xmlns:a16="http://schemas.microsoft.com/office/drawing/2014/main" id="{C696A9A9-0997-0B7B-FFF5-E1DFD2B864A0}"/>
              </a:ext>
            </a:extLst>
          </p:cNvPr>
          <p:cNvCxnSpPr/>
          <p:nvPr/>
        </p:nvCxnSpPr>
        <p:spPr>
          <a:xfrm>
            <a:off x="737826" y="3861207"/>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1" name="Oval 20">
            <a:extLst>
              <a:ext uri="{FF2B5EF4-FFF2-40B4-BE49-F238E27FC236}">
                <a16:creationId xmlns:a16="http://schemas.microsoft.com/office/drawing/2014/main" id="{A6627FFD-9D2C-FCEB-AA30-0408B979E2F9}"/>
              </a:ext>
            </a:extLst>
          </p:cNvPr>
          <p:cNvSpPr/>
          <p:nvPr/>
        </p:nvSpPr>
        <p:spPr>
          <a:xfrm>
            <a:off x="1464618" y="373666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2" name="Oval 21">
            <a:extLst>
              <a:ext uri="{FF2B5EF4-FFF2-40B4-BE49-F238E27FC236}">
                <a16:creationId xmlns:a16="http://schemas.microsoft.com/office/drawing/2014/main" id="{7783555E-F3E5-7D41-32DE-BD7B268DF1AE}"/>
              </a:ext>
            </a:extLst>
          </p:cNvPr>
          <p:cNvSpPr/>
          <p:nvPr/>
        </p:nvSpPr>
        <p:spPr>
          <a:xfrm>
            <a:off x="1899746" y="373666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D4BBE18-8FBD-FA3D-0DF3-1850A3E29702}"/>
              </a:ext>
            </a:extLst>
          </p:cNvPr>
          <p:cNvSpPr/>
          <p:nvPr/>
        </p:nvSpPr>
        <p:spPr>
          <a:xfrm>
            <a:off x="2933964" y="373666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75ACCF7-F397-580C-36ED-17E878A28AA3}"/>
              </a:ext>
            </a:extLst>
          </p:cNvPr>
          <p:cNvSpPr/>
          <p:nvPr/>
        </p:nvSpPr>
        <p:spPr>
          <a:xfrm>
            <a:off x="4554660" y="373666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4F9956D-12AE-EEB0-0300-972815964C1C}"/>
              </a:ext>
            </a:extLst>
          </p:cNvPr>
          <p:cNvSpPr/>
          <p:nvPr/>
        </p:nvSpPr>
        <p:spPr>
          <a:xfrm>
            <a:off x="5017381" y="373666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27" name="Oval 26">
            <a:extLst>
              <a:ext uri="{FF2B5EF4-FFF2-40B4-BE49-F238E27FC236}">
                <a16:creationId xmlns:a16="http://schemas.microsoft.com/office/drawing/2014/main" id="{A090FF2A-3CDA-A15B-B766-B6BB2F4BD8CF}"/>
              </a:ext>
            </a:extLst>
          </p:cNvPr>
          <p:cNvSpPr/>
          <p:nvPr/>
        </p:nvSpPr>
        <p:spPr>
          <a:xfrm>
            <a:off x="5678779" y="373666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4062238-FDF2-B0C9-45CD-BC00EEEF335F}"/>
              </a:ext>
            </a:extLst>
          </p:cNvPr>
          <p:cNvSpPr/>
          <p:nvPr/>
        </p:nvSpPr>
        <p:spPr>
          <a:xfrm>
            <a:off x="6091087" y="373666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BF0A9AC-3C31-1E61-BB14-CA0F7C67FE8D}"/>
              </a:ext>
            </a:extLst>
          </p:cNvPr>
          <p:cNvSpPr/>
          <p:nvPr/>
        </p:nvSpPr>
        <p:spPr>
          <a:xfrm>
            <a:off x="7636880" y="3736662"/>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197DB7A-2ACC-6A25-8C5A-3406076B7CD8}"/>
              </a:ext>
            </a:extLst>
          </p:cNvPr>
          <p:cNvSpPr/>
          <p:nvPr/>
        </p:nvSpPr>
        <p:spPr>
          <a:xfrm>
            <a:off x="8028855" y="373666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1BF1B52-726A-4EE2-6427-F65EC1E58988}"/>
              </a:ext>
            </a:extLst>
          </p:cNvPr>
          <p:cNvSpPr/>
          <p:nvPr/>
        </p:nvSpPr>
        <p:spPr>
          <a:xfrm>
            <a:off x="8296285" y="373666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8D50098-8485-1098-A0C2-A79FA189A765}"/>
              </a:ext>
            </a:extLst>
          </p:cNvPr>
          <p:cNvSpPr/>
          <p:nvPr/>
        </p:nvSpPr>
        <p:spPr>
          <a:xfrm>
            <a:off x="8674657" y="373666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7F3E9D1-E6F3-D4A6-58BC-5700B22FE2EB}"/>
              </a:ext>
            </a:extLst>
          </p:cNvPr>
          <p:cNvSpPr/>
          <p:nvPr/>
        </p:nvSpPr>
        <p:spPr>
          <a:xfrm>
            <a:off x="9258036" y="373666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65DB8278-34E7-05C2-CC17-606771981E70}"/>
              </a:ext>
            </a:extLst>
          </p:cNvPr>
          <p:cNvSpPr/>
          <p:nvPr/>
        </p:nvSpPr>
        <p:spPr>
          <a:xfrm>
            <a:off x="2665173" y="3434773"/>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6AF55DB8-9039-51AC-3885-19FC63542060}"/>
              </a:ext>
            </a:extLst>
          </p:cNvPr>
          <p:cNvSpPr/>
          <p:nvPr/>
        </p:nvSpPr>
        <p:spPr>
          <a:xfrm>
            <a:off x="5550408" y="3434773"/>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564E434C-0FDB-BDA5-8A3C-26C3957002B0}"/>
              </a:ext>
            </a:extLst>
          </p:cNvPr>
          <p:cNvSpPr/>
          <p:nvPr/>
        </p:nvSpPr>
        <p:spPr>
          <a:xfrm>
            <a:off x="8476076" y="3434773"/>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824636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20" name="Straight Arrow Connector 19">
            <a:extLst>
              <a:ext uri="{FF2B5EF4-FFF2-40B4-BE49-F238E27FC236}">
                <a16:creationId xmlns:a16="http://schemas.microsoft.com/office/drawing/2014/main" id="{C696A9A9-0997-0B7B-FFF5-E1DFD2B864A0}"/>
              </a:ext>
            </a:extLst>
          </p:cNvPr>
          <p:cNvCxnSpPr/>
          <p:nvPr/>
        </p:nvCxnSpPr>
        <p:spPr>
          <a:xfrm>
            <a:off x="737826" y="3861207"/>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1" name="Oval 20">
            <a:extLst>
              <a:ext uri="{FF2B5EF4-FFF2-40B4-BE49-F238E27FC236}">
                <a16:creationId xmlns:a16="http://schemas.microsoft.com/office/drawing/2014/main" id="{A6627FFD-9D2C-FCEB-AA30-0408B979E2F9}"/>
              </a:ext>
            </a:extLst>
          </p:cNvPr>
          <p:cNvSpPr/>
          <p:nvPr/>
        </p:nvSpPr>
        <p:spPr>
          <a:xfrm>
            <a:off x="1464618" y="373666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2" name="Oval 21">
            <a:extLst>
              <a:ext uri="{FF2B5EF4-FFF2-40B4-BE49-F238E27FC236}">
                <a16:creationId xmlns:a16="http://schemas.microsoft.com/office/drawing/2014/main" id="{7783555E-F3E5-7D41-32DE-BD7B268DF1AE}"/>
              </a:ext>
            </a:extLst>
          </p:cNvPr>
          <p:cNvSpPr/>
          <p:nvPr/>
        </p:nvSpPr>
        <p:spPr>
          <a:xfrm>
            <a:off x="1899746" y="373666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D4BBE18-8FBD-FA3D-0DF3-1850A3E29702}"/>
              </a:ext>
            </a:extLst>
          </p:cNvPr>
          <p:cNvSpPr/>
          <p:nvPr/>
        </p:nvSpPr>
        <p:spPr>
          <a:xfrm>
            <a:off x="2933964" y="373666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75ACCF7-F397-580C-36ED-17E878A28AA3}"/>
              </a:ext>
            </a:extLst>
          </p:cNvPr>
          <p:cNvSpPr/>
          <p:nvPr/>
        </p:nvSpPr>
        <p:spPr>
          <a:xfrm>
            <a:off x="4554660" y="373666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4F9956D-12AE-EEB0-0300-972815964C1C}"/>
              </a:ext>
            </a:extLst>
          </p:cNvPr>
          <p:cNvSpPr/>
          <p:nvPr/>
        </p:nvSpPr>
        <p:spPr>
          <a:xfrm>
            <a:off x="5017381" y="373666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27" name="Oval 26">
            <a:extLst>
              <a:ext uri="{FF2B5EF4-FFF2-40B4-BE49-F238E27FC236}">
                <a16:creationId xmlns:a16="http://schemas.microsoft.com/office/drawing/2014/main" id="{A090FF2A-3CDA-A15B-B766-B6BB2F4BD8CF}"/>
              </a:ext>
            </a:extLst>
          </p:cNvPr>
          <p:cNvSpPr/>
          <p:nvPr/>
        </p:nvSpPr>
        <p:spPr>
          <a:xfrm>
            <a:off x="5678779" y="373666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4062238-FDF2-B0C9-45CD-BC00EEEF335F}"/>
              </a:ext>
            </a:extLst>
          </p:cNvPr>
          <p:cNvSpPr/>
          <p:nvPr/>
        </p:nvSpPr>
        <p:spPr>
          <a:xfrm>
            <a:off x="6091087" y="373666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BF0A9AC-3C31-1E61-BB14-CA0F7C67FE8D}"/>
              </a:ext>
            </a:extLst>
          </p:cNvPr>
          <p:cNvSpPr/>
          <p:nvPr/>
        </p:nvSpPr>
        <p:spPr>
          <a:xfrm>
            <a:off x="7636880" y="3736662"/>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197DB7A-2ACC-6A25-8C5A-3406076B7CD8}"/>
              </a:ext>
            </a:extLst>
          </p:cNvPr>
          <p:cNvSpPr/>
          <p:nvPr/>
        </p:nvSpPr>
        <p:spPr>
          <a:xfrm>
            <a:off x="8028855" y="373666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1BF1B52-726A-4EE2-6427-F65EC1E58988}"/>
              </a:ext>
            </a:extLst>
          </p:cNvPr>
          <p:cNvSpPr/>
          <p:nvPr/>
        </p:nvSpPr>
        <p:spPr>
          <a:xfrm>
            <a:off x="8296285" y="373666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8D50098-8485-1098-A0C2-A79FA189A765}"/>
              </a:ext>
            </a:extLst>
          </p:cNvPr>
          <p:cNvSpPr/>
          <p:nvPr/>
        </p:nvSpPr>
        <p:spPr>
          <a:xfrm>
            <a:off x="8674657" y="373666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7F3E9D1-E6F3-D4A6-58BC-5700B22FE2EB}"/>
              </a:ext>
            </a:extLst>
          </p:cNvPr>
          <p:cNvSpPr/>
          <p:nvPr/>
        </p:nvSpPr>
        <p:spPr>
          <a:xfrm>
            <a:off x="9258036" y="373666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65DB8278-34E7-05C2-CC17-606771981E70}"/>
              </a:ext>
            </a:extLst>
          </p:cNvPr>
          <p:cNvSpPr/>
          <p:nvPr/>
        </p:nvSpPr>
        <p:spPr>
          <a:xfrm>
            <a:off x="2665173" y="3434773"/>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6AF55DB8-9039-51AC-3885-19FC63542060}"/>
              </a:ext>
            </a:extLst>
          </p:cNvPr>
          <p:cNvSpPr/>
          <p:nvPr/>
        </p:nvSpPr>
        <p:spPr>
          <a:xfrm>
            <a:off x="5550408" y="3434773"/>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564E434C-0FDB-BDA5-8A3C-26C3957002B0}"/>
              </a:ext>
            </a:extLst>
          </p:cNvPr>
          <p:cNvSpPr/>
          <p:nvPr/>
        </p:nvSpPr>
        <p:spPr>
          <a:xfrm>
            <a:off x="8476076" y="3434773"/>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905309-DCB1-D903-FC9F-7223B0212ADF}"/>
              </a:ext>
            </a:extLst>
          </p:cNvPr>
          <p:cNvSpPr/>
          <p:nvPr/>
        </p:nvSpPr>
        <p:spPr>
          <a:xfrm>
            <a:off x="2976081" y="1510398"/>
            <a:ext cx="6073773" cy="646331"/>
          </a:xfrm>
          <a:prstGeom prst="rect">
            <a:avLst/>
          </a:prstGeom>
          <a:ln>
            <a:solidFill>
              <a:schemeClr val="tx1"/>
            </a:solidFill>
          </a:ln>
        </p:spPr>
        <p:txBody>
          <a:bodyPr wrap="square">
            <a:spAutoFit/>
          </a:bodyPr>
          <a:lstStyle/>
          <a:p>
            <a:pPr algn="ctr"/>
            <a:r>
              <a:rPr lang="en-US" dirty="0"/>
              <a:t>End of cycle 3. Now again, t</a:t>
            </a:r>
            <a:r>
              <a:rPr lang="en-IN" dirty="0" err="1"/>
              <a:t>ake</a:t>
            </a:r>
            <a:r>
              <a:rPr lang="en-IN" dirty="0"/>
              <a:t> the average of each cluster and shift the centroid to that point </a:t>
            </a:r>
          </a:p>
        </p:txBody>
      </p:sp>
      <p:cxnSp>
        <p:nvCxnSpPr>
          <p:cNvPr id="4" name="Straight Arrow Connector 3">
            <a:extLst>
              <a:ext uri="{FF2B5EF4-FFF2-40B4-BE49-F238E27FC236}">
                <a16:creationId xmlns:a16="http://schemas.microsoft.com/office/drawing/2014/main" id="{2F7C7EFC-AA31-1BB1-FFF1-4D2EE17EB5D9}"/>
              </a:ext>
            </a:extLst>
          </p:cNvPr>
          <p:cNvCxnSpPr/>
          <p:nvPr/>
        </p:nvCxnSpPr>
        <p:spPr>
          <a:xfrm>
            <a:off x="737826" y="5058517"/>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195FB006-2D84-85AC-93AA-6D73C1A43E87}"/>
              </a:ext>
            </a:extLst>
          </p:cNvPr>
          <p:cNvSpPr/>
          <p:nvPr/>
        </p:nvSpPr>
        <p:spPr>
          <a:xfrm>
            <a:off x="1464618" y="493397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7" name="Oval 6">
            <a:extLst>
              <a:ext uri="{FF2B5EF4-FFF2-40B4-BE49-F238E27FC236}">
                <a16:creationId xmlns:a16="http://schemas.microsoft.com/office/drawing/2014/main" id="{DD0956A8-D212-CD59-0F19-ED0A19E3D609}"/>
              </a:ext>
            </a:extLst>
          </p:cNvPr>
          <p:cNvSpPr/>
          <p:nvPr/>
        </p:nvSpPr>
        <p:spPr>
          <a:xfrm>
            <a:off x="1899746" y="493397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BF62254-5B41-CC56-E79F-A768FD55D90B}"/>
              </a:ext>
            </a:extLst>
          </p:cNvPr>
          <p:cNvSpPr/>
          <p:nvPr/>
        </p:nvSpPr>
        <p:spPr>
          <a:xfrm>
            <a:off x="2933964" y="4933972"/>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D5B2638-4A21-62A0-9B60-DA7246EEAF0B}"/>
              </a:ext>
            </a:extLst>
          </p:cNvPr>
          <p:cNvSpPr/>
          <p:nvPr/>
        </p:nvSpPr>
        <p:spPr>
          <a:xfrm>
            <a:off x="4554660" y="493397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9B6F0B4-001B-4F20-56B4-A91549E4E15D}"/>
              </a:ext>
            </a:extLst>
          </p:cNvPr>
          <p:cNvSpPr/>
          <p:nvPr/>
        </p:nvSpPr>
        <p:spPr>
          <a:xfrm>
            <a:off x="5017381" y="493397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Oval 10">
            <a:extLst>
              <a:ext uri="{FF2B5EF4-FFF2-40B4-BE49-F238E27FC236}">
                <a16:creationId xmlns:a16="http://schemas.microsoft.com/office/drawing/2014/main" id="{1EE988DB-E01E-09ED-2C58-91108F4581D1}"/>
              </a:ext>
            </a:extLst>
          </p:cNvPr>
          <p:cNvSpPr/>
          <p:nvPr/>
        </p:nvSpPr>
        <p:spPr>
          <a:xfrm>
            <a:off x="5678779" y="493397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F425A64-FC09-0BCB-C78C-CCD2CDA1E005}"/>
              </a:ext>
            </a:extLst>
          </p:cNvPr>
          <p:cNvSpPr/>
          <p:nvPr/>
        </p:nvSpPr>
        <p:spPr>
          <a:xfrm>
            <a:off x="6091087" y="4933972"/>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59BE952-B87C-AB90-A30B-F14EA1AF9C95}"/>
              </a:ext>
            </a:extLst>
          </p:cNvPr>
          <p:cNvSpPr/>
          <p:nvPr/>
        </p:nvSpPr>
        <p:spPr>
          <a:xfrm>
            <a:off x="7636880" y="4933972"/>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D18BC0A-9A2F-F991-EB16-AC06E7F34055}"/>
              </a:ext>
            </a:extLst>
          </p:cNvPr>
          <p:cNvSpPr/>
          <p:nvPr/>
        </p:nvSpPr>
        <p:spPr>
          <a:xfrm>
            <a:off x="8028855" y="493397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AD168D0-4FAD-6DD9-4D45-B454CB869E8F}"/>
              </a:ext>
            </a:extLst>
          </p:cNvPr>
          <p:cNvSpPr/>
          <p:nvPr/>
        </p:nvSpPr>
        <p:spPr>
          <a:xfrm>
            <a:off x="8296285" y="493397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BE0EC3F-0BD4-217F-D1E8-AF543348DCD8}"/>
              </a:ext>
            </a:extLst>
          </p:cNvPr>
          <p:cNvSpPr/>
          <p:nvPr/>
        </p:nvSpPr>
        <p:spPr>
          <a:xfrm>
            <a:off x="8674657" y="493397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83A30FE-DFE7-0D52-70CD-7CDA081C31B5}"/>
              </a:ext>
            </a:extLst>
          </p:cNvPr>
          <p:cNvSpPr/>
          <p:nvPr/>
        </p:nvSpPr>
        <p:spPr>
          <a:xfrm>
            <a:off x="9258036" y="4933972"/>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E801840C-471F-0CAC-4E70-8F7D85B78133}"/>
              </a:ext>
            </a:extLst>
          </p:cNvPr>
          <p:cNvSpPr/>
          <p:nvPr/>
        </p:nvSpPr>
        <p:spPr>
          <a:xfrm>
            <a:off x="2274190" y="4632083"/>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7CADA653-6492-6169-973B-01137BC3D0E4}"/>
              </a:ext>
            </a:extLst>
          </p:cNvPr>
          <p:cNvSpPr/>
          <p:nvPr/>
        </p:nvSpPr>
        <p:spPr>
          <a:xfrm>
            <a:off x="5380142" y="4632083"/>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A050D7B2-CCE7-111F-964D-F4C02084F166}"/>
              </a:ext>
            </a:extLst>
          </p:cNvPr>
          <p:cNvSpPr/>
          <p:nvPr/>
        </p:nvSpPr>
        <p:spPr>
          <a:xfrm>
            <a:off x="8476076" y="4632083"/>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67472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sp>
        <p:nvSpPr>
          <p:cNvPr id="3" name="Rectangle 2">
            <a:extLst>
              <a:ext uri="{FF2B5EF4-FFF2-40B4-BE49-F238E27FC236}">
                <a16:creationId xmlns:a16="http://schemas.microsoft.com/office/drawing/2014/main" id="{E8905309-DCB1-D903-FC9F-7223B0212ADF}"/>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Measure distance of a point with 3 new centroids and reassign</a:t>
            </a:r>
            <a:endParaRPr lang="en-IN" dirty="0"/>
          </a:p>
        </p:txBody>
      </p:sp>
      <p:cxnSp>
        <p:nvCxnSpPr>
          <p:cNvPr id="4" name="Straight Arrow Connector 3">
            <a:extLst>
              <a:ext uri="{FF2B5EF4-FFF2-40B4-BE49-F238E27FC236}">
                <a16:creationId xmlns:a16="http://schemas.microsoft.com/office/drawing/2014/main" id="{2F7C7EFC-AA31-1BB1-FFF1-4D2EE17EB5D9}"/>
              </a:ext>
            </a:extLst>
          </p:cNvPr>
          <p:cNvCxnSpPr/>
          <p:nvPr/>
        </p:nvCxnSpPr>
        <p:spPr>
          <a:xfrm>
            <a:off x="737826" y="3708991"/>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195FB006-2D84-85AC-93AA-6D73C1A43E87}"/>
              </a:ext>
            </a:extLst>
          </p:cNvPr>
          <p:cNvSpPr/>
          <p:nvPr/>
        </p:nvSpPr>
        <p:spPr>
          <a:xfrm>
            <a:off x="1464618" y="358444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7" name="Oval 6">
            <a:extLst>
              <a:ext uri="{FF2B5EF4-FFF2-40B4-BE49-F238E27FC236}">
                <a16:creationId xmlns:a16="http://schemas.microsoft.com/office/drawing/2014/main" id="{DD0956A8-D212-CD59-0F19-ED0A19E3D609}"/>
              </a:ext>
            </a:extLst>
          </p:cNvPr>
          <p:cNvSpPr/>
          <p:nvPr/>
        </p:nvSpPr>
        <p:spPr>
          <a:xfrm>
            <a:off x="1899746" y="358444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BF62254-5B41-CC56-E79F-A768FD55D90B}"/>
              </a:ext>
            </a:extLst>
          </p:cNvPr>
          <p:cNvSpPr/>
          <p:nvPr/>
        </p:nvSpPr>
        <p:spPr>
          <a:xfrm>
            <a:off x="2933964" y="358444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D5B2638-4A21-62A0-9B60-DA7246EEAF0B}"/>
              </a:ext>
            </a:extLst>
          </p:cNvPr>
          <p:cNvSpPr/>
          <p:nvPr/>
        </p:nvSpPr>
        <p:spPr>
          <a:xfrm>
            <a:off x="4554660" y="358444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9B6F0B4-001B-4F20-56B4-A91549E4E15D}"/>
              </a:ext>
            </a:extLst>
          </p:cNvPr>
          <p:cNvSpPr/>
          <p:nvPr/>
        </p:nvSpPr>
        <p:spPr>
          <a:xfrm>
            <a:off x="5017381" y="358444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Oval 10">
            <a:extLst>
              <a:ext uri="{FF2B5EF4-FFF2-40B4-BE49-F238E27FC236}">
                <a16:creationId xmlns:a16="http://schemas.microsoft.com/office/drawing/2014/main" id="{1EE988DB-E01E-09ED-2C58-91108F4581D1}"/>
              </a:ext>
            </a:extLst>
          </p:cNvPr>
          <p:cNvSpPr/>
          <p:nvPr/>
        </p:nvSpPr>
        <p:spPr>
          <a:xfrm>
            <a:off x="5678779" y="358444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F425A64-FC09-0BCB-C78C-CCD2CDA1E005}"/>
              </a:ext>
            </a:extLst>
          </p:cNvPr>
          <p:cNvSpPr/>
          <p:nvPr/>
        </p:nvSpPr>
        <p:spPr>
          <a:xfrm>
            <a:off x="6091087" y="358444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59BE952-B87C-AB90-A30B-F14EA1AF9C95}"/>
              </a:ext>
            </a:extLst>
          </p:cNvPr>
          <p:cNvSpPr/>
          <p:nvPr/>
        </p:nvSpPr>
        <p:spPr>
          <a:xfrm>
            <a:off x="7636880" y="3584446"/>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D18BC0A-9A2F-F991-EB16-AC06E7F34055}"/>
              </a:ext>
            </a:extLst>
          </p:cNvPr>
          <p:cNvSpPr/>
          <p:nvPr/>
        </p:nvSpPr>
        <p:spPr>
          <a:xfrm>
            <a:off x="8028855" y="358444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AD168D0-4FAD-6DD9-4D45-B454CB869E8F}"/>
              </a:ext>
            </a:extLst>
          </p:cNvPr>
          <p:cNvSpPr/>
          <p:nvPr/>
        </p:nvSpPr>
        <p:spPr>
          <a:xfrm>
            <a:off x="8296285" y="358444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BE0EC3F-0BD4-217F-D1E8-AF543348DCD8}"/>
              </a:ext>
            </a:extLst>
          </p:cNvPr>
          <p:cNvSpPr/>
          <p:nvPr/>
        </p:nvSpPr>
        <p:spPr>
          <a:xfrm>
            <a:off x="8674657" y="358444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83A30FE-DFE7-0D52-70CD-7CDA081C31B5}"/>
              </a:ext>
            </a:extLst>
          </p:cNvPr>
          <p:cNvSpPr/>
          <p:nvPr/>
        </p:nvSpPr>
        <p:spPr>
          <a:xfrm>
            <a:off x="9258036" y="358444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E801840C-471F-0CAC-4E70-8F7D85B78133}"/>
              </a:ext>
            </a:extLst>
          </p:cNvPr>
          <p:cNvSpPr/>
          <p:nvPr/>
        </p:nvSpPr>
        <p:spPr>
          <a:xfrm>
            <a:off x="2274190" y="3282557"/>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7CADA653-6492-6169-973B-01137BC3D0E4}"/>
              </a:ext>
            </a:extLst>
          </p:cNvPr>
          <p:cNvSpPr/>
          <p:nvPr/>
        </p:nvSpPr>
        <p:spPr>
          <a:xfrm>
            <a:off x="5380142" y="3282557"/>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A050D7B2-CCE7-111F-964D-F4C02084F166}"/>
              </a:ext>
            </a:extLst>
          </p:cNvPr>
          <p:cNvSpPr/>
          <p:nvPr/>
        </p:nvSpPr>
        <p:spPr>
          <a:xfrm>
            <a:off x="8476076" y="3282557"/>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2215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sp>
        <p:nvSpPr>
          <p:cNvPr id="3" name="Rectangle 2">
            <a:extLst>
              <a:ext uri="{FF2B5EF4-FFF2-40B4-BE49-F238E27FC236}">
                <a16:creationId xmlns:a16="http://schemas.microsoft.com/office/drawing/2014/main" id="{E8905309-DCB1-D903-FC9F-7223B0212ADF}"/>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IN" dirty="0"/>
              <a:t>If no changes, STOP</a:t>
            </a:r>
          </a:p>
        </p:txBody>
      </p:sp>
      <p:cxnSp>
        <p:nvCxnSpPr>
          <p:cNvPr id="4" name="Straight Arrow Connector 3">
            <a:extLst>
              <a:ext uri="{FF2B5EF4-FFF2-40B4-BE49-F238E27FC236}">
                <a16:creationId xmlns:a16="http://schemas.microsoft.com/office/drawing/2014/main" id="{2F7C7EFC-AA31-1BB1-FFF1-4D2EE17EB5D9}"/>
              </a:ext>
            </a:extLst>
          </p:cNvPr>
          <p:cNvCxnSpPr/>
          <p:nvPr/>
        </p:nvCxnSpPr>
        <p:spPr>
          <a:xfrm>
            <a:off x="737826" y="3708991"/>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195FB006-2D84-85AC-93AA-6D73C1A43E87}"/>
              </a:ext>
            </a:extLst>
          </p:cNvPr>
          <p:cNvSpPr/>
          <p:nvPr/>
        </p:nvSpPr>
        <p:spPr>
          <a:xfrm>
            <a:off x="1464618" y="358444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7" name="Oval 6">
            <a:extLst>
              <a:ext uri="{FF2B5EF4-FFF2-40B4-BE49-F238E27FC236}">
                <a16:creationId xmlns:a16="http://schemas.microsoft.com/office/drawing/2014/main" id="{DD0956A8-D212-CD59-0F19-ED0A19E3D609}"/>
              </a:ext>
            </a:extLst>
          </p:cNvPr>
          <p:cNvSpPr/>
          <p:nvPr/>
        </p:nvSpPr>
        <p:spPr>
          <a:xfrm>
            <a:off x="1899746" y="358444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BF62254-5B41-CC56-E79F-A768FD55D90B}"/>
              </a:ext>
            </a:extLst>
          </p:cNvPr>
          <p:cNvSpPr/>
          <p:nvPr/>
        </p:nvSpPr>
        <p:spPr>
          <a:xfrm>
            <a:off x="2933964" y="3584446"/>
            <a:ext cx="249090" cy="249090"/>
          </a:xfrm>
          <a:prstGeom prst="ellipse">
            <a:avLst/>
          </a:prstGeom>
          <a:solidFill>
            <a:srgbClr val="FF0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D5B2638-4A21-62A0-9B60-DA7246EEAF0B}"/>
              </a:ext>
            </a:extLst>
          </p:cNvPr>
          <p:cNvSpPr/>
          <p:nvPr/>
        </p:nvSpPr>
        <p:spPr>
          <a:xfrm>
            <a:off x="4554660" y="358444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9B6F0B4-001B-4F20-56B4-A91549E4E15D}"/>
              </a:ext>
            </a:extLst>
          </p:cNvPr>
          <p:cNvSpPr/>
          <p:nvPr/>
        </p:nvSpPr>
        <p:spPr>
          <a:xfrm>
            <a:off x="5017381" y="358444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Oval 10">
            <a:extLst>
              <a:ext uri="{FF2B5EF4-FFF2-40B4-BE49-F238E27FC236}">
                <a16:creationId xmlns:a16="http://schemas.microsoft.com/office/drawing/2014/main" id="{1EE988DB-E01E-09ED-2C58-91108F4581D1}"/>
              </a:ext>
            </a:extLst>
          </p:cNvPr>
          <p:cNvSpPr/>
          <p:nvPr/>
        </p:nvSpPr>
        <p:spPr>
          <a:xfrm>
            <a:off x="5678779" y="358444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F425A64-FC09-0BCB-C78C-CCD2CDA1E005}"/>
              </a:ext>
            </a:extLst>
          </p:cNvPr>
          <p:cNvSpPr/>
          <p:nvPr/>
        </p:nvSpPr>
        <p:spPr>
          <a:xfrm>
            <a:off x="6091087" y="3584446"/>
            <a:ext cx="249090" cy="249090"/>
          </a:xfrm>
          <a:prstGeom prst="ellipse">
            <a:avLst/>
          </a:prstGeom>
          <a:solidFill>
            <a:srgbClr val="00B0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59BE952-B87C-AB90-A30B-F14EA1AF9C95}"/>
              </a:ext>
            </a:extLst>
          </p:cNvPr>
          <p:cNvSpPr/>
          <p:nvPr/>
        </p:nvSpPr>
        <p:spPr>
          <a:xfrm>
            <a:off x="7636880" y="3584446"/>
            <a:ext cx="249090" cy="2490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D18BC0A-9A2F-F991-EB16-AC06E7F34055}"/>
              </a:ext>
            </a:extLst>
          </p:cNvPr>
          <p:cNvSpPr/>
          <p:nvPr/>
        </p:nvSpPr>
        <p:spPr>
          <a:xfrm>
            <a:off x="8028855" y="358444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AD168D0-4FAD-6DD9-4D45-B454CB869E8F}"/>
              </a:ext>
            </a:extLst>
          </p:cNvPr>
          <p:cNvSpPr/>
          <p:nvPr/>
        </p:nvSpPr>
        <p:spPr>
          <a:xfrm>
            <a:off x="8296285" y="358444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BE0EC3F-0BD4-217F-D1E8-AF543348DCD8}"/>
              </a:ext>
            </a:extLst>
          </p:cNvPr>
          <p:cNvSpPr/>
          <p:nvPr/>
        </p:nvSpPr>
        <p:spPr>
          <a:xfrm>
            <a:off x="8674657" y="358444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83A30FE-DFE7-0D52-70CD-7CDA081C31B5}"/>
              </a:ext>
            </a:extLst>
          </p:cNvPr>
          <p:cNvSpPr/>
          <p:nvPr/>
        </p:nvSpPr>
        <p:spPr>
          <a:xfrm>
            <a:off x="9258036" y="3584446"/>
            <a:ext cx="249090" cy="249090"/>
          </a:xfrm>
          <a:prstGeom prst="ellipse">
            <a:avLst/>
          </a:prstGeom>
          <a:solidFill>
            <a:srgbClr val="0070C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E801840C-471F-0CAC-4E70-8F7D85B78133}"/>
              </a:ext>
            </a:extLst>
          </p:cNvPr>
          <p:cNvSpPr/>
          <p:nvPr/>
        </p:nvSpPr>
        <p:spPr>
          <a:xfrm>
            <a:off x="2274190" y="3282557"/>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7CADA653-6492-6169-973B-01137BC3D0E4}"/>
              </a:ext>
            </a:extLst>
          </p:cNvPr>
          <p:cNvSpPr/>
          <p:nvPr/>
        </p:nvSpPr>
        <p:spPr>
          <a:xfrm>
            <a:off x="5380142" y="3282557"/>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A050D7B2-CCE7-111F-964D-F4C02084F166}"/>
              </a:ext>
            </a:extLst>
          </p:cNvPr>
          <p:cNvSpPr/>
          <p:nvPr/>
        </p:nvSpPr>
        <p:spPr>
          <a:xfrm>
            <a:off x="8476076" y="3282557"/>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712A60C-D4D1-B1FB-084F-8853B8E2B224}"/>
              </a:ext>
            </a:extLst>
          </p:cNvPr>
          <p:cNvSpPr txBox="1"/>
          <p:nvPr/>
        </p:nvSpPr>
        <p:spPr>
          <a:xfrm>
            <a:off x="4554660" y="3958081"/>
            <a:ext cx="1923394" cy="369332"/>
          </a:xfrm>
          <a:prstGeom prst="rect">
            <a:avLst/>
          </a:prstGeom>
          <a:noFill/>
        </p:spPr>
        <p:txBody>
          <a:bodyPr wrap="square" rtlCol="0">
            <a:spAutoFit/>
          </a:bodyPr>
          <a:lstStyle/>
          <a:p>
            <a:pPr algn="ctr"/>
            <a:r>
              <a:rPr lang="en-IN" dirty="0"/>
              <a:t>Cluster 2</a:t>
            </a:r>
            <a:endParaRPr lang="en-US" dirty="0"/>
          </a:p>
        </p:txBody>
      </p:sp>
      <p:sp>
        <p:nvSpPr>
          <p:cNvPr id="21" name="TextBox 20">
            <a:extLst>
              <a:ext uri="{FF2B5EF4-FFF2-40B4-BE49-F238E27FC236}">
                <a16:creationId xmlns:a16="http://schemas.microsoft.com/office/drawing/2014/main" id="{931B9C92-11B6-B425-8747-45DB74989941}"/>
              </a:ext>
            </a:extLst>
          </p:cNvPr>
          <p:cNvSpPr txBox="1"/>
          <p:nvPr/>
        </p:nvSpPr>
        <p:spPr>
          <a:xfrm>
            <a:off x="1259660" y="4007738"/>
            <a:ext cx="1923394" cy="369332"/>
          </a:xfrm>
          <a:prstGeom prst="rect">
            <a:avLst/>
          </a:prstGeom>
          <a:noFill/>
        </p:spPr>
        <p:txBody>
          <a:bodyPr wrap="square" rtlCol="0">
            <a:spAutoFit/>
          </a:bodyPr>
          <a:lstStyle/>
          <a:p>
            <a:pPr algn="ctr"/>
            <a:r>
              <a:rPr lang="en-IN" dirty="0"/>
              <a:t>Cluster 1</a:t>
            </a:r>
            <a:endParaRPr lang="en-US" dirty="0"/>
          </a:p>
        </p:txBody>
      </p:sp>
      <p:sp>
        <p:nvSpPr>
          <p:cNvPr id="22" name="TextBox 21">
            <a:extLst>
              <a:ext uri="{FF2B5EF4-FFF2-40B4-BE49-F238E27FC236}">
                <a16:creationId xmlns:a16="http://schemas.microsoft.com/office/drawing/2014/main" id="{83E47533-F2B5-E1CB-6F65-73FE59B2758A}"/>
              </a:ext>
            </a:extLst>
          </p:cNvPr>
          <p:cNvSpPr txBox="1"/>
          <p:nvPr/>
        </p:nvSpPr>
        <p:spPr>
          <a:xfrm>
            <a:off x="7618415" y="4007738"/>
            <a:ext cx="1923394" cy="369332"/>
          </a:xfrm>
          <a:prstGeom prst="rect">
            <a:avLst/>
          </a:prstGeom>
          <a:noFill/>
        </p:spPr>
        <p:txBody>
          <a:bodyPr wrap="square" rtlCol="0">
            <a:spAutoFit/>
          </a:bodyPr>
          <a:lstStyle/>
          <a:p>
            <a:pPr algn="ctr"/>
            <a:r>
              <a:rPr lang="en-IN" dirty="0"/>
              <a:t>Cluster 3</a:t>
            </a:r>
            <a:endParaRPr lang="en-US" dirty="0"/>
          </a:p>
        </p:txBody>
      </p:sp>
    </p:spTree>
    <p:extLst>
      <p:ext uri="{BB962C8B-B14F-4D97-AF65-F5344CB8AC3E}">
        <p14:creationId xmlns:p14="http://schemas.microsoft.com/office/powerpoint/2010/main" val="428591549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 Mean Clustering</a:t>
            </a: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cxnSp>
        <p:nvCxnSpPr>
          <p:cNvPr id="5" name="Straight Arrow Connector 4">
            <a:extLst>
              <a:ext uri="{FF2B5EF4-FFF2-40B4-BE49-F238E27FC236}">
                <a16:creationId xmlns:a16="http://schemas.microsoft.com/office/drawing/2014/main" id="{9BEA274E-C3DF-2DFA-0478-D2F993EAC147}"/>
              </a:ext>
            </a:extLst>
          </p:cNvPr>
          <p:cNvCxnSpPr/>
          <p:nvPr/>
        </p:nvCxnSpPr>
        <p:spPr>
          <a:xfrm>
            <a:off x="737826" y="3440036"/>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Oval 6">
            <a:extLst>
              <a:ext uri="{FF2B5EF4-FFF2-40B4-BE49-F238E27FC236}">
                <a16:creationId xmlns:a16="http://schemas.microsoft.com/office/drawing/2014/main" id="{04B0BB5E-FBB5-F9AB-3D1F-C3BCF9E7FC85}"/>
              </a:ext>
            </a:extLst>
          </p:cNvPr>
          <p:cNvSpPr/>
          <p:nvPr/>
        </p:nvSpPr>
        <p:spPr>
          <a:xfrm>
            <a:off x="1464618"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4D69F12-B671-EF6B-DCF6-0FD888AB06B3}"/>
              </a:ext>
            </a:extLst>
          </p:cNvPr>
          <p:cNvSpPr/>
          <p:nvPr/>
        </p:nvSpPr>
        <p:spPr>
          <a:xfrm>
            <a:off x="1899746"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1AFCAF-2162-BFD1-4C6B-E201879EE5BE}"/>
              </a:ext>
            </a:extLst>
          </p:cNvPr>
          <p:cNvSpPr/>
          <p:nvPr/>
        </p:nvSpPr>
        <p:spPr>
          <a:xfrm>
            <a:off x="2933964"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6B9A59-9E1E-3D2A-01F0-0528AB25455D}"/>
              </a:ext>
            </a:extLst>
          </p:cNvPr>
          <p:cNvSpPr/>
          <p:nvPr/>
        </p:nvSpPr>
        <p:spPr>
          <a:xfrm>
            <a:off x="4554660"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1F144-6604-16CB-F32C-968870311F6C}"/>
              </a:ext>
            </a:extLst>
          </p:cNvPr>
          <p:cNvSpPr/>
          <p:nvPr/>
        </p:nvSpPr>
        <p:spPr>
          <a:xfrm>
            <a:off x="5017381"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F63634-CFB2-CAFF-183C-C29020C6A3FC}"/>
              </a:ext>
            </a:extLst>
          </p:cNvPr>
          <p:cNvSpPr/>
          <p:nvPr/>
        </p:nvSpPr>
        <p:spPr>
          <a:xfrm>
            <a:off x="5678779"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63BCBD-4724-7994-3A70-6C139E20B976}"/>
              </a:ext>
            </a:extLst>
          </p:cNvPr>
          <p:cNvSpPr/>
          <p:nvPr/>
        </p:nvSpPr>
        <p:spPr>
          <a:xfrm>
            <a:off x="6091087"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F6A37C6-384C-904F-A42C-4E64FEAA552E}"/>
              </a:ext>
            </a:extLst>
          </p:cNvPr>
          <p:cNvSpPr/>
          <p:nvPr/>
        </p:nvSpPr>
        <p:spPr>
          <a:xfrm>
            <a:off x="7636880"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9EE701E-C21A-A9A5-819F-595BB0E27BCB}"/>
              </a:ext>
            </a:extLst>
          </p:cNvPr>
          <p:cNvSpPr/>
          <p:nvPr/>
        </p:nvSpPr>
        <p:spPr>
          <a:xfrm>
            <a:off x="8028855"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FD842A-B65A-07CF-69D9-99AFEFF93FB3}"/>
              </a:ext>
            </a:extLst>
          </p:cNvPr>
          <p:cNvSpPr/>
          <p:nvPr/>
        </p:nvSpPr>
        <p:spPr>
          <a:xfrm>
            <a:off x="8296285"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7A0DCD-E699-914A-9D2C-032B30439095}"/>
              </a:ext>
            </a:extLst>
          </p:cNvPr>
          <p:cNvSpPr/>
          <p:nvPr/>
        </p:nvSpPr>
        <p:spPr>
          <a:xfrm>
            <a:off x="8674657"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F044E6-2430-F5E4-BFA6-CD2EA0B56DBD}"/>
              </a:ext>
            </a:extLst>
          </p:cNvPr>
          <p:cNvSpPr/>
          <p:nvPr/>
        </p:nvSpPr>
        <p:spPr>
          <a:xfrm>
            <a:off x="9258036" y="3315491"/>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895821A-E0D8-4C47-6153-E9E76E0A18FD}"/>
              </a:ext>
            </a:extLst>
          </p:cNvPr>
          <p:cNvSpPr/>
          <p:nvPr/>
        </p:nvSpPr>
        <p:spPr>
          <a:xfrm>
            <a:off x="4998463" y="3013602"/>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59BFE3-E55A-C501-F997-47DF050FA3A3}"/>
              </a:ext>
            </a:extLst>
          </p:cNvPr>
          <p:cNvSpPr/>
          <p:nvPr/>
        </p:nvSpPr>
        <p:spPr>
          <a:xfrm>
            <a:off x="6073821" y="3013602"/>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97835D2-0F20-7524-37FC-B06D1C0D1CEE}"/>
              </a:ext>
            </a:extLst>
          </p:cNvPr>
          <p:cNvSpPr/>
          <p:nvPr/>
        </p:nvSpPr>
        <p:spPr>
          <a:xfrm>
            <a:off x="9258036" y="3013602"/>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AB2B852-D6A5-D6E0-E8B0-8B949504DA30}"/>
              </a:ext>
            </a:extLst>
          </p:cNvPr>
          <p:cNvSpPr/>
          <p:nvPr/>
        </p:nvSpPr>
        <p:spPr>
          <a:xfrm>
            <a:off x="2976081" y="1510398"/>
            <a:ext cx="6073773" cy="369332"/>
          </a:xfrm>
          <a:prstGeom prst="rect">
            <a:avLst/>
          </a:prstGeom>
          <a:ln>
            <a:solidFill>
              <a:schemeClr val="tx1"/>
            </a:solidFill>
          </a:ln>
        </p:spPr>
        <p:txBody>
          <a:bodyPr wrap="square">
            <a:spAutoFit/>
          </a:bodyPr>
          <a:lstStyle/>
          <a:p>
            <a:pPr algn="ctr"/>
            <a:r>
              <a:rPr lang="en-US" dirty="0"/>
              <a:t>Randomness may result in different results</a:t>
            </a:r>
            <a:endParaRPr lang="en-IN" dirty="0">
              <a:latin typeface="+mj-lt"/>
            </a:endParaRPr>
          </a:p>
        </p:txBody>
      </p:sp>
      <p:cxnSp>
        <p:nvCxnSpPr>
          <p:cNvPr id="21" name="Straight Arrow Connector 20">
            <a:extLst>
              <a:ext uri="{FF2B5EF4-FFF2-40B4-BE49-F238E27FC236}">
                <a16:creationId xmlns:a16="http://schemas.microsoft.com/office/drawing/2014/main" id="{4BB64C50-620B-606A-DEA9-1EEE73E21F21}"/>
              </a:ext>
            </a:extLst>
          </p:cNvPr>
          <p:cNvCxnSpPr/>
          <p:nvPr/>
        </p:nvCxnSpPr>
        <p:spPr>
          <a:xfrm>
            <a:off x="737826" y="5056845"/>
            <a:ext cx="10550284" cy="0"/>
          </a:xfrm>
          <a:prstGeom prst="straightConnector1">
            <a:avLst/>
          </a:prstGeom>
          <a:ln w="38100" cap="flat" cmpd="sng" algn="ctr">
            <a:solidFill>
              <a:srgbClr val="FFC00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2" name="Oval 21">
            <a:extLst>
              <a:ext uri="{FF2B5EF4-FFF2-40B4-BE49-F238E27FC236}">
                <a16:creationId xmlns:a16="http://schemas.microsoft.com/office/drawing/2014/main" id="{3199E898-C8C0-6BC5-4E9B-ECC4977C0E68}"/>
              </a:ext>
            </a:extLst>
          </p:cNvPr>
          <p:cNvSpPr/>
          <p:nvPr/>
        </p:nvSpPr>
        <p:spPr>
          <a:xfrm>
            <a:off x="1464618"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5381584-D196-FB8B-4BE3-156DC56745F9}"/>
              </a:ext>
            </a:extLst>
          </p:cNvPr>
          <p:cNvSpPr/>
          <p:nvPr/>
        </p:nvSpPr>
        <p:spPr>
          <a:xfrm>
            <a:off x="1899746"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47CCE41-550F-3BF8-BDF8-E1D5A1262B30}"/>
              </a:ext>
            </a:extLst>
          </p:cNvPr>
          <p:cNvSpPr/>
          <p:nvPr/>
        </p:nvSpPr>
        <p:spPr>
          <a:xfrm>
            <a:off x="2933964"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F351EFB-A821-D942-925F-EA9EC31C7E4B}"/>
              </a:ext>
            </a:extLst>
          </p:cNvPr>
          <p:cNvSpPr/>
          <p:nvPr/>
        </p:nvSpPr>
        <p:spPr>
          <a:xfrm>
            <a:off x="4554660"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F2F0985-D54F-722E-BBCA-56023D89DD71}"/>
              </a:ext>
            </a:extLst>
          </p:cNvPr>
          <p:cNvSpPr/>
          <p:nvPr/>
        </p:nvSpPr>
        <p:spPr>
          <a:xfrm>
            <a:off x="5017381"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D0B3AF0-6A27-975F-EB69-CDE95329FCB5}"/>
              </a:ext>
            </a:extLst>
          </p:cNvPr>
          <p:cNvSpPr/>
          <p:nvPr/>
        </p:nvSpPr>
        <p:spPr>
          <a:xfrm>
            <a:off x="5678779"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8B0158A-278D-4192-5DD7-C6852B3C195F}"/>
              </a:ext>
            </a:extLst>
          </p:cNvPr>
          <p:cNvSpPr/>
          <p:nvPr/>
        </p:nvSpPr>
        <p:spPr>
          <a:xfrm>
            <a:off x="6091087"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5B4B109-BCD6-84E8-80A5-7BCB174C25C7}"/>
              </a:ext>
            </a:extLst>
          </p:cNvPr>
          <p:cNvSpPr/>
          <p:nvPr/>
        </p:nvSpPr>
        <p:spPr>
          <a:xfrm>
            <a:off x="7636880"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B51D3F09-F7F4-71A0-7F8A-C6ACDA25C424}"/>
              </a:ext>
            </a:extLst>
          </p:cNvPr>
          <p:cNvSpPr/>
          <p:nvPr/>
        </p:nvSpPr>
        <p:spPr>
          <a:xfrm>
            <a:off x="8028855"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83B3656E-CDCC-8DCB-861D-841F3747C218}"/>
              </a:ext>
            </a:extLst>
          </p:cNvPr>
          <p:cNvSpPr/>
          <p:nvPr/>
        </p:nvSpPr>
        <p:spPr>
          <a:xfrm>
            <a:off x="8296285"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5192C6-4853-7E92-F282-2841D66F1D9E}"/>
              </a:ext>
            </a:extLst>
          </p:cNvPr>
          <p:cNvSpPr/>
          <p:nvPr/>
        </p:nvSpPr>
        <p:spPr>
          <a:xfrm>
            <a:off x="8674657"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887A10B-D188-FE32-AC51-73C76D4CA31B}"/>
              </a:ext>
            </a:extLst>
          </p:cNvPr>
          <p:cNvSpPr/>
          <p:nvPr/>
        </p:nvSpPr>
        <p:spPr>
          <a:xfrm>
            <a:off x="9258036" y="4932300"/>
            <a:ext cx="249090" cy="249090"/>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56A44894-3754-D06B-BC21-FBD9077E6FB3}"/>
              </a:ext>
            </a:extLst>
          </p:cNvPr>
          <p:cNvSpPr/>
          <p:nvPr/>
        </p:nvSpPr>
        <p:spPr>
          <a:xfrm>
            <a:off x="2194303" y="4630411"/>
            <a:ext cx="285274" cy="24592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1B2748F8-F16E-69D6-D21F-FD7E085DEA74}"/>
              </a:ext>
            </a:extLst>
          </p:cNvPr>
          <p:cNvSpPr/>
          <p:nvPr/>
        </p:nvSpPr>
        <p:spPr>
          <a:xfrm>
            <a:off x="8542701" y="4630411"/>
            <a:ext cx="285274" cy="24592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F2702274-88F8-36CB-4C1D-69E17681344F}"/>
              </a:ext>
            </a:extLst>
          </p:cNvPr>
          <p:cNvSpPr/>
          <p:nvPr/>
        </p:nvSpPr>
        <p:spPr>
          <a:xfrm>
            <a:off x="9258036" y="4630411"/>
            <a:ext cx="285274" cy="24592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21483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 Jim</a:t>
            </a:r>
          </a:p>
        </p:txBody>
      </p:sp>
      <p:sp>
        <p:nvSpPr>
          <p:cNvPr id="11" name="TextBox 10"/>
          <p:cNvSpPr txBox="1"/>
          <p:nvPr/>
        </p:nvSpPr>
        <p:spPr>
          <a:xfrm>
            <a:off x="3218447" y="1117311"/>
            <a:ext cx="8783975" cy="479945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3600" b="1" dirty="0">
                <a:solidFill>
                  <a:prstClr val="black"/>
                </a:solidFill>
                <a:latin typeface="Ubuntu" panose="020B0504030602030204" pitchFamily="34" charset="0"/>
              </a:rPr>
              <a:t>J</a:t>
            </a:r>
            <a:r>
              <a:rPr kumimoji="0" lang="en-US" sz="3600" b="1" i="0" u="none" strike="noStrike" kern="1200" cap="none" spc="0" normalizeH="0" baseline="0" noProof="0" dirty="0" err="1">
                <a:ln>
                  <a:noFill/>
                </a:ln>
                <a:solidFill>
                  <a:prstClr val="black"/>
                </a:solidFill>
                <a:effectLst/>
                <a:uLnTx/>
                <a:uFillTx/>
                <a:latin typeface="Ubuntu" panose="020B0504030602030204" pitchFamily="34" charset="0"/>
                <a:ea typeface="+mn-ea"/>
                <a:cs typeface="+mn-cs"/>
              </a:rPr>
              <a:t>im</a:t>
            </a:r>
            <a:endParaRPr kumimoji="0" lang="en-US" sz="3600" b="1"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sz="2400" b="1" dirty="0">
                <a:solidFill>
                  <a:prstClr val="black"/>
                </a:solidFill>
                <a:latin typeface="Calibri" panose="020F0502020204030204"/>
              </a:rPr>
              <a:t>Customer</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Analytics Manager at </a:t>
            </a:r>
            <a:r>
              <a:rPr lang="en-US" sz="2400" b="1" dirty="0">
                <a:solidFill>
                  <a:prstClr val="black"/>
                </a:solidFill>
                <a:latin typeface="Calibri" panose="020F0502020204030204"/>
              </a:rPr>
              <a:t>STA Star Mall</a:t>
            </a:r>
          </a:p>
          <a:p>
            <a:pPr lvl="0">
              <a:lnSpc>
                <a:spcPct val="130000"/>
              </a:lnSpc>
              <a:defRPr/>
            </a:pPr>
            <a:r>
              <a:rPr lang="en-US" sz="2400" dirty="0"/>
              <a:t>Jim has been tasked with designing effective marketing strategies for customers at STA Mall. He believes that he can use a K-means clustering model to group customers based on their spending score and annual income. After identifying these groups, he thinks that STA Mall can enhance sales results by tailoring advertisements and discounts to meet the specific needs of each customer segment, ultimately improving customer satisfaction and driving sales.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3"/>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rPr>
              <a:t>Start-Tech Academy</a:t>
            </a:r>
            <a:endParaRPr lang="en-US" sz="1400" dirty="0">
              <a:solidFill>
                <a:schemeClr val="bg1"/>
              </a:solidFill>
            </a:endParaRPr>
          </a:p>
        </p:txBody>
      </p:sp>
      <p:pic>
        <p:nvPicPr>
          <p:cNvPr id="5" name="Picture 4" descr="Businessman hand on chin">
            <a:extLst>
              <a:ext uri="{FF2B5EF4-FFF2-40B4-BE49-F238E27FC236}">
                <a16:creationId xmlns:a16="http://schemas.microsoft.com/office/drawing/2014/main" id="{4F410DC4-2562-292C-96A1-65AD671A4B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97465" y="1481424"/>
            <a:ext cx="1256593" cy="4711404"/>
          </a:xfrm>
          <a:prstGeom prst="rect">
            <a:avLst/>
          </a:prstGeom>
        </p:spPr>
      </p:pic>
    </p:spTree>
    <p:extLst>
      <p:ext uri="{BB962C8B-B14F-4D97-AF65-F5344CB8AC3E}">
        <p14:creationId xmlns:p14="http://schemas.microsoft.com/office/powerpoint/2010/main" val="1995426523"/>
      </p:ext>
    </p:extLst>
  </p:cSld>
  <p:clrMapOvr>
    <a:masterClrMapping/>
  </p:clrMapOvr>
  <p:transition spd="med">
    <p:pull/>
  </p:transition>
</p:sld>
</file>

<file path=ppt/theme/theme1.xml><?xml version="1.0" encoding="utf-8"?>
<a:theme xmlns:a="http://schemas.openxmlformats.org/drawingml/2006/main" name="Templat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roduction" id="{0DFD968B-AA01-406C-A47F-E9FDBCCC2B96}" vid="{98E5E3AF-DFD5-4439-A20E-53DB0E246083}"/>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roduction" id="{0DFD968B-AA01-406C-A47F-E9FDBCCC2B96}" vid="{65C77357-C672-4542-A3FE-FD6AB35C422B}"/>
    </a:ext>
  </a:extLst>
</a:theme>
</file>

<file path=ppt/theme/theme3.xml><?xml version="1.0" encoding="utf-8"?>
<a:theme xmlns:a="http://schemas.openxmlformats.org/drawingml/2006/main" name="1_Templat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roduction" id="{0DFD968B-AA01-406C-A47F-E9FDBCCC2B96}" vid="{98E5E3AF-DFD5-4439-A20E-53DB0E24608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525" row="5">
    <wetp:webextensionref xmlns:r="http://schemas.openxmlformats.org/officeDocument/2006/relationships" r:id="rId1"/>
  </wetp:taskpane>
  <wetp:taskpane dockstate="right" visibility="0" width="525" row="6">
    <wetp:webextensionref xmlns:r="http://schemas.openxmlformats.org/officeDocument/2006/relationships" r:id="rId2"/>
  </wetp:taskpane>
  <wetp:taskpane dockstate="right" visibility="0" width="525" row="7">
    <wetp:webextensionref xmlns:r="http://schemas.openxmlformats.org/officeDocument/2006/relationships" r:id="rId3"/>
  </wetp:taskpane>
  <wetp:taskpane dockstate="right" visibility="0" width="438" row="5">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6F8B6824-63D6-4C33-A8C7-E97A9853C200}">
  <we:reference id="wa104379279" version="2.1.0.0" store="en-US" storeType="OMEX"/>
  <we:alternateReferences>
    <we:reference id="wa104379279" version="2.1.0.0" store="wa104379279"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430616F-A82C-41F5-91A3-83FF1C989820}">
  <we:reference id="wa104381063" version="1.0.0.1" store="en-US" storeType="OMEX"/>
  <we:alternateReferences>
    <we:reference id="WA104381063" version="1.0.0.1"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0C051B2-672C-44FC-A123-85897C88ECA5}">
  <we:reference id="wa104381411" version="1.0.0.0" store="en-US" storeType="OMEX"/>
  <we:alternateReferences>
    <we:reference id="WA104381411" version="1.0.0.0" store=""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9B93A8A1-11B8-4062-8E8A-2747653D15A7}">
  <we:reference id="wa104380907" version="3.0.0.1" store="en-US" storeType="OMEX"/>
  <we:alternateReferences>
    <we:reference id="wa104380907" version="3.0.0.1" store="wa104380907"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Template_v01</Template>
  <TotalTime>32212</TotalTime>
  <Words>2013</Words>
  <Application>Microsoft Office PowerPoint</Application>
  <PresentationFormat>Widescreen</PresentationFormat>
  <Paragraphs>400</Paragraphs>
  <Slides>65</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65</vt:i4>
      </vt:variant>
    </vt:vector>
  </HeadingPairs>
  <TitlesOfParts>
    <vt:vector size="76" baseType="lpstr">
      <vt:lpstr>Calibri</vt:lpstr>
      <vt:lpstr>Century Gothic</vt:lpstr>
      <vt:lpstr>Aptos</vt:lpstr>
      <vt:lpstr>Cambria Math</vt:lpstr>
      <vt:lpstr>Calibri Light</vt:lpstr>
      <vt:lpstr>Arial</vt:lpstr>
      <vt:lpstr>Ubuntu</vt:lpstr>
      <vt:lpstr>Georgia</vt:lpstr>
      <vt:lpstr>Template</vt:lpstr>
      <vt:lpstr>Custom Design</vt:lpstr>
      <vt:lpstr>1_Template</vt:lpstr>
      <vt:lpstr>What is Customer Analytics</vt:lpstr>
      <vt:lpstr>The Four Stages of Data Analytics</vt:lpstr>
      <vt:lpstr>Descriptive Analytics</vt:lpstr>
      <vt:lpstr>Diagnostic Analytics</vt:lpstr>
      <vt:lpstr>Predictive Analytics</vt:lpstr>
      <vt:lpstr>Predictive Analytics</vt:lpstr>
      <vt:lpstr>Prescriptive Analytics</vt:lpstr>
      <vt:lpstr>Pyramid of Data analytics</vt:lpstr>
      <vt:lpstr>Machine Learning</vt:lpstr>
      <vt:lpstr>Machine Learning</vt:lpstr>
      <vt:lpstr>Machine Learning</vt:lpstr>
      <vt:lpstr>Machine Learning</vt:lpstr>
      <vt:lpstr>Regression</vt:lpstr>
      <vt:lpstr>Classification</vt:lpstr>
      <vt:lpstr>Forecasting</vt:lpstr>
      <vt:lpstr>Clustering</vt:lpstr>
      <vt:lpstr>Machine Learning</vt:lpstr>
      <vt:lpstr>Machine Learning</vt:lpstr>
      <vt:lpstr>Machine Learning</vt:lpstr>
      <vt:lpstr>Machine Learning Model</vt:lpstr>
      <vt:lpstr>Machine Learning Model</vt:lpstr>
      <vt:lpstr>Machine Learning Model</vt:lpstr>
      <vt:lpstr>Machine Learning Model</vt:lpstr>
      <vt:lpstr>Machine Learning Model</vt:lpstr>
      <vt:lpstr>Machine Learning Model</vt:lpstr>
      <vt:lpstr>Machine Learning Model</vt:lpstr>
      <vt:lpstr>Machine Learning Model</vt:lpstr>
      <vt:lpstr>Introduction to forecasting</vt:lpstr>
      <vt:lpstr>Workforce  Forecasting</vt:lpstr>
      <vt:lpstr>Workforce Forecasting</vt:lpstr>
      <vt:lpstr>Help John</vt:lpstr>
      <vt:lpstr>Linear Regression</vt:lpstr>
      <vt:lpstr>Linear Regression</vt:lpstr>
      <vt:lpstr>Linear Regression</vt:lpstr>
      <vt:lpstr>Linear Regression</vt:lpstr>
      <vt:lpstr>Retention</vt:lpstr>
      <vt:lpstr>Logistic Regression</vt:lpstr>
      <vt:lpstr>Logistic Regression</vt:lpstr>
      <vt:lpstr>Logistic Regression</vt:lpstr>
      <vt:lpstr>Help Tim</vt:lpstr>
      <vt:lpstr>Introduction to Clustering</vt:lpstr>
      <vt:lpstr>Introduction to Clustering</vt:lpstr>
      <vt:lpstr>Example</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K Mean Clustering</vt:lpstr>
      <vt:lpstr>Help Jim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pukhraj10@gmail.com</dc:creator>
  <cp:lastModifiedBy>MOHD  NADEEM</cp:lastModifiedBy>
  <cp:revision>819</cp:revision>
  <dcterms:created xsi:type="dcterms:W3CDTF">2018-09-26T08:50:40Z</dcterms:created>
  <dcterms:modified xsi:type="dcterms:W3CDTF">2024-10-16T11:22:34Z</dcterms:modified>
</cp:coreProperties>
</file>